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8"/>
  </p:notesMasterIdLst>
  <p:sldIdLst>
    <p:sldId id="263" r:id="rId2"/>
    <p:sldId id="288" r:id="rId3"/>
    <p:sldId id="285" r:id="rId4"/>
    <p:sldId id="278" r:id="rId5"/>
    <p:sldId id="280" r:id="rId6"/>
    <p:sldId id="284" r:id="rId7"/>
    <p:sldId id="286" r:id="rId8"/>
    <p:sldId id="279" r:id="rId9"/>
    <p:sldId id="276" r:id="rId10"/>
    <p:sldId id="268" r:id="rId11"/>
    <p:sldId id="281" r:id="rId12"/>
    <p:sldId id="282" r:id="rId13"/>
    <p:sldId id="270" r:id="rId14"/>
    <p:sldId id="291" r:id="rId15"/>
    <p:sldId id="293" r:id="rId16"/>
    <p:sldId id="274" r:id="rId17"/>
    <p:sldId id="300" r:id="rId18"/>
    <p:sldId id="298" r:id="rId19"/>
    <p:sldId id="299" r:id="rId20"/>
    <p:sldId id="302" r:id="rId21"/>
    <p:sldId id="289" r:id="rId22"/>
    <p:sldId id="301" r:id="rId23"/>
    <p:sldId id="303" r:id="rId24"/>
    <p:sldId id="294" r:id="rId25"/>
    <p:sldId id="305" r:id="rId26"/>
    <p:sldId id="306" r:id="rId2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7" autoAdjust="0"/>
    <p:restoredTop sz="94660"/>
  </p:normalViewPr>
  <p:slideViewPr>
    <p:cSldViewPr>
      <p:cViewPr varScale="1">
        <p:scale>
          <a:sx n="65" d="100"/>
          <a:sy n="65" d="100"/>
        </p:scale>
        <p:origin x="-153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D2E6B-0961-45EB-845D-1A29D461CCC6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54AA8-B835-4A03-9FA5-77CFE0DB38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13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54AA8-B835-4A03-9FA5-77CFE0DB381C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427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54AA8-B835-4A03-9FA5-77CFE0DB381C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6086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54AA8-B835-4A03-9FA5-77CFE0DB381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399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54AA8-B835-4A03-9FA5-77CFE0DB381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28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54AA8-B835-4A03-9FA5-77CFE0DB381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16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14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332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405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06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93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94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82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14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3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1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42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65A2C-0368-4FA6-9A4C-60B06CF69A7D}" type="datetimeFigureOut">
              <a:rPr lang="pt-BR" smtClean="0"/>
              <a:t>25/04/2018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64039-5F11-4738-8FA5-34B67C876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14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Resultado de imagem para MistÃ©rio Pascal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7"/>
            <a:ext cx="8568952" cy="56497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tângulo 2"/>
          <p:cNvSpPr/>
          <p:nvPr/>
        </p:nvSpPr>
        <p:spPr>
          <a:xfrm>
            <a:off x="1941631" y="5910371"/>
            <a:ext cx="511672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800" b="1" dirty="0">
                <a:solidFill>
                  <a:srgbClr val="FF0000"/>
                </a:solidFill>
              </a:rPr>
              <a:t>“Fazei isto em memória de mim</a:t>
            </a:r>
            <a:r>
              <a:rPr lang="pt-BR" sz="2800" b="1" dirty="0" smtClean="0">
                <a:solidFill>
                  <a:srgbClr val="FF0000"/>
                </a:solidFill>
              </a:rPr>
              <a:t>”.</a:t>
            </a:r>
            <a:r>
              <a:rPr lang="pt-BR" sz="2800" dirty="0" smtClean="0"/>
              <a:t/>
            </a:r>
            <a:br>
              <a:rPr lang="pt-BR" sz="2800" dirty="0" smtClean="0"/>
            </a:br>
            <a:endParaRPr lang="pt-B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71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2636912"/>
            <a:ext cx="8568952" cy="1776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14000"/>
              </a:lnSpc>
            </a:pPr>
            <a:r>
              <a:rPr lang="pt-BR" sz="3200" b="1" dirty="0">
                <a:solidFill>
                  <a:srgbClr val="FF0000"/>
                </a:solidFill>
              </a:rPr>
              <a:t>“Se conhecêssemos o valor do Santo Sacrifício da Missa que zelo não teríamos em assistir a ela.” </a:t>
            </a:r>
          </a:p>
          <a:p>
            <a:pPr algn="just" fontAlgn="base">
              <a:lnSpc>
                <a:spcPct val="114000"/>
              </a:lnSpc>
            </a:pPr>
            <a:r>
              <a:rPr lang="pt-BR" sz="3200" b="1" dirty="0">
                <a:solidFill>
                  <a:srgbClr val="FF0000"/>
                </a:solidFill>
              </a:rPr>
              <a:t>                  </a:t>
            </a:r>
            <a:r>
              <a:rPr lang="pt-BR" sz="3200" b="1" dirty="0" smtClean="0">
                <a:solidFill>
                  <a:srgbClr val="FF0000"/>
                </a:solidFill>
              </a:rPr>
              <a:t>              </a:t>
            </a:r>
            <a:r>
              <a:rPr lang="pt-BR" sz="3200" b="1" dirty="0">
                <a:solidFill>
                  <a:srgbClr val="FF0000"/>
                </a:solidFill>
              </a:rPr>
              <a:t>(Cura d’</a:t>
            </a:r>
            <a:r>
              <a:rPr lang="pt-BR" sz="3200" b="1" dirty="0" err="1">
                <a:solidFill>
                  <a:srgbClr val="FF0000"/>
                </a:solidFill>
              </a:rPr>
              <a:t>Ars</a:t>
            </a:r>
            <a:r>
              <a:rPr lang="pt-BR" sz="3200" b="1" dirty="0">
                <a:solidFill>
                  <a:srgbClr val="FF000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7694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059832" y="548680"/>
            <a:ext cx="3072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FF0000"/>
                </a:solidFill>
              </a:rPr>
              <a:t>TEXTOS EUCARÍSTICOS</a:t>
            </a:r>
            <a:endParaRPr lang="pt-BR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031860"/>
              </p:ext>
            </p:extLst>
          </p:nvPr>
        </p:nvGraphicFramePr>
        <p:xfrm>
          <a:off x="179513" y="1124744"/>
          <a:ext cx="8856984" cy="52581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32981"/>
                <a:gridCol w="1870993"/>
                <a:gridCol w="2953010"/>
              </a:tblGrid>
              <a:tr h="2907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TRECHO BÍBLICO</a:t>
                      </a:r>
                      <a:endParaRPr lang="pt-BR" sz="24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TRADIÇÃO</a:t>
                      </a:r>
                      <a:endParaRPr lang="pt-BR" sz="24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ASPECTO</a:t>
                      </a:r>
                      <a:endParaRPr lang="pt-BR" sz="24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2436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Mateus 26,26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b="0" dirty="0">
                          <a:solidFill>
                            <a:schemeClr val="tx1"/>
                          </a:solidFill>
                          <a:effectLst/>
                        </a:rPr>
                        <a:t>“Jesus tomou o pão, 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  <a:effectLst/>
                        </a:rPr>
                        <a:t>benzeu-o.”</a:t>
                      </a:r>
                      <a:endParaRPr lang="pt-B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6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smtClean="0">
                          <a:solidFill>
                            <a:srgbClr val="FF0000"/>
                          </a:solidFill>
                          <a:effectLst/>
                        </a:rPr>
                        <a:t>Marcos 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14,22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b="0" dirty="0">
                          <a:solidFill>
                            <a:schemeClr val="tx1"/>
                          </a:solidFill>
                          <a:effectLst/>
                        </a:rPr>
                        <a:t>“... Depois de o benzer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  <a:effectLst/>
                        </a:rPr>
                        <a:t>...”</a:t>
                      </a:r>
                      <a:endParaRPr lang="pt-B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Jerusalém </a:t>
                      </a:r>
                      <a:endParaRPr lang="pt-BR" sz="24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2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Acontecimento </a:t>
                      </a:r>
                      <a:r>
                        <a:rPr lang="pt-BR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histórico</a:t>
                      </a:r>
                      <a:endParaRPr lang="pt-BR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Banquete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“</a:t>
                      </a:r>
                      <a:r>
                        <a:rPr lang="pt-BR" sz="2400" dirty="0" err="1">
                          <a:effectLst/>
                        </a:rPr>
                        <a:t>Euloguein</a:t>
                      </a:r>
                      <a:r>
                        <a:rPr lang="pt-BR" sz="2400" dirty="0">
                          <a:effectLst/>
                        </a:rPr>
                        <a:t>” (grego) Bênção </a:t>
                      </a:r>
                      <a:r>
                        <a:rPr lang="pt-BR" sz="2400" dirty="0" smtClean="0">
                          <a:effectLst/>
                        </a:rPr>
                        <a:t>dada</a:t>
                      </a:r>
                      <a:endParaRPr lang="pt-BR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4529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Lucas 22, 19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b="0" dirty="0">
                          <a:solidFill>
                            <a:schemeClr val="tx1"/>
                          </a:solidFill>
                          <a:effectLst/>
                        </a:rPr>
                        <a:t>“tomando o pão deu graças... façam isto em memória de mim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  <a:effectLst/>
                        </a:rPr>
                        <a:t>.”</a:t>
                      </a:r>
                      <a:endParaRPr lang="pt-B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4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smtClean="0">
                          <a:solidFill>
                            <a:srgbClr val="FF0000"/>
                          </a:solidFill>
                          <a:effectLst/>
                        </a:rPr>
                        <a:t>1 </a:t>
                      </a:r>
                      <a:r>
                        <a:rPr lang="pt-BR" sz="2400" dirty="0">
                          <a:solidFill>
                            <a:srgbClr val="FF0000"/>
                          </a:solidFill>
                          <a:effectLst/>
                        </a:rPr>
                        <a:t>Coríntios 11, 24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b="0" dirty="0">
                          <a:solidFill>
                            <a:schemeClr val="tx1"/>
                          </a:solidFill>
                          <a:effectLst/>
                        </a:rPr>
                        <a:t>“E tendo dado graças </a:t>
                      </a:r>
                      <a:r>
                        <a:rPr lang="pt-BR" sz="2400" b="0" dirty="0" smtClean="0">
                          <a:solidFill>
                            <a:schemeClr val="tx1"/>
                          </a:solidFill>
                          <a:effectLst/>
                        </a:rPr>
                        <a:t>...”</a:t>
                      </a:r>
                      <a:endParaRPr lang="pt-BR" sz="2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err="1" smtClean="0">
                          <a:effectLst/>
                        </a:rPr>
                        <a:t>Antioquena</a:t>
                      </a:r>
                      <a:endParaRPr lang="pt-BR" sz="2400" dirty="0" smtClean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Memorial</a:t>
                      </a:r>
                      <a:endParaRPr lang="pt-BR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Sacrifício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“</a:t>
                      </a:r>
                      <a:r>
                        <a:rPr lang="pt-BR" sz="2400" dirty="0" err="1">
                          <a:effectLst/>
                        </a:rPr>
                        <a:t>Eucharistein</a:t>
                      </a:r>
                      <a:r>
                        <a:rPr lang="pt-BR" sz="2400" dirty="0">
                          <a:effectLst/>
                        </a:rPr>
                        <a:t>”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Ação de Graças a Deus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 </a:t>
                      </a:r>
                      <a:endParaRPr lang="pt-BR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37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95536" y="620688"/>
            <a:ext cx="8352928" cy="5846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pt-BR" sz="2800" dirty="0" smtClean="0"/>
              <a:t>“Na última ceia, na noite em que foi entregue, nosso Salvador instituiu o Sacrifício Eucarístico de seu Corpo e Sangue. Por ele, perpetua pelos séculos, até que volte, o sacrifício da cruz, confiando destarte à Igreja, sua dileta esposa, o memorial de sua morte e ressurreição: sacramento da piedade, sinal da unidade, vínculo da caridade, banquete pascal em que Cristo é recebido como alimento, o espírito é cumulado de graça e nos é dado o penhor da glória futura.” </a:t>
            </a:r>
          </a:p>
          <a:p>
            <a:pPr algn="just">
              <a:lnSpc>
                <a:spcPct val="114000"/>
              </a:lnSpc>
            </a:pPr>
            <a:endParaRPr lang="pt-BR" sz="2800" dirty="0" smtClean="0"/>
          </a:p>
          <a:p>
            <a:pPr algn="ctr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CIC 1323</a:t>
            </a:r>
            <a:endParaRPr lang="pt-BR" sz="2400" b="1" dirty="0">
              <a:solidFill>
                <a:srgbClr val="FF0000"/>
              </a:solidFill>
            </a:endParaRPr>
          </a:p>
          <a:p>
            <a:pPr algn="ctr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(SACROSANCTUM CONCILIUM 47). </a:t>
            </a:r>
            <a:endParaRPr lang="pt-B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7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81814" y="980728"/>
            <a:ext cx="8640960" cy="2653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	</a:t>
            </a:r>
            <a:r>
              <a:rPr lang="pt-BR" sz="2600" b="1" dirty="0" smtClean="0">
                <a:solidFill>
                  <a:srgbClr val="FF0000"/>
                </a:solidFill>
              </a:rPr>
              <a:t>Banquete: </a:t>
            </a:r>
            <a:r>
              <a:rPr lang="pt-BR" sz="2600" dirty="0" smtClean="0"/>
              <a:t>em que Cristo se dá em alimento. </a:t>
            </a:r>
            <a:r>
              <a:rPr lang="pt-BR" sz="2600" b="1" dirty="0">
                <a:solidFill>
                  <a:srgbClr val="FF0000"/>
                </a:solidFill>
              </a:rPr>
              <a:t> </a:t>
            </a:r>
            <a:endParaRPr lang="pt-BR" sz="26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dirty="0" smtClean="0"/>
              <a:t>               </a:t>
            </a:r>
            <a:endParaRPr lang="pt-BR" sz="2400" dirty="0"/>
          </a:p>
          <a:p>
            <a:pPr algn="just">
              <a:lnSpc>
                <a:spcPct val="114000"/>
              </a:lnSpc>
            </a:pPr>
            <a:endParaRPr lang="pt-BR" sz="24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endParaRPr lang="pt-BR" sz="2400" dirty="0" smtClean="0"/>
          </a:p>
          <a:p>
            <a:pPr algn="just">
              <a:lnSpc>
                <a:spcPct val="114000"/>
              </a:lnSpc>
            </a:pPr>
            <a:r>
              <a:rPr lang="pt-BR" sz="2400" dirty="0" smtClean="0"/>
              <a:t> </a:t>
            </a:r>
          </a:p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 </a:t>
            </a:r>
            <a:endParaRPr lang="pt-BR" sz="2400" dirty="0"/>
          </a:p>
        </p:txBody>
      </p:sp>
      <p:sp>
        <p:nvSpPr>
          <p:cNvPr id="3" name="Retângulo 2"/>
          <p:cNvSpPr/>
          <p:nvPr/>
        </p:nvSpPr>
        <p:spPr>
          <a:xfrm>
            <a:off x="2483768" y="404664"/>
            <a:ext cx="475271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600" b="1" dirty="0">
                <a:solidFill>
                  <a:srgbClr val="FF0000"/>
                </a:solidFill>
              </a:rPr>
              <a:t>A CELEBRAÇÃO EUCARÍSTICA É ...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81814" y="1556792"/>
            <a:ext cx="864096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400" b="1" i="1" dirty="0">
              <a:solidFill>
                <a:srgbClr val="FF0000"/>
              </a:solidFill>
            </a:endParaRPr>
          </a:p>
          <a:p>
            <a:pPr algn="just"/>
            <a:r>
              <a:rPr lang="pt-BR" sz="2600" b="1" dirty="0">
                <a:solidFill>
                  <a:srgbClr val="FF0000"/>
                </a:solidFill>
              </a:rPr>
              <a:t>CIC: </a:t>
            </a:r>
            <a:r>
              <a:rPr lang="pt-BR" sz="2600" b="1" dirty="0" smtClean="0">
                <a:solidFill>
                  <a:srgbClr val="FF0000"/>
                </a:solidFill>
              </a:rPr>
              <a:t>1329 - Ceia </a:t>
            </a:r>
            <a:r>
              <a:rPr lang="pt-BR" sz="2600" b="1" dirty="0">
                <a:solidFill>
                  <a:srgbClr val="FF0000"/>
                </a:solidFill>
              </a:rPr>
              <a:t>do </a:t>
            </a:r>
            <a:r>
              <a:rPr lang="pt-BR" sz="2600" b="1" dirty="0" smtClean="0">
                <a:solidFill>
                  <a:srgbClr val="FF0000"/>
                </a:solidFill>
              </a:rPr>
              <a:t>Senhor</a:t>
            </a:r>
            <a:r>
              <a:rPr lang="pt-BR" sz="2600" b="1" dirty="0">
                <a:solidFill>
                  <a:srgbClr val="FF0000"/>
                </a:solidFill>
              </a:rPr>
              <a:t>:</a:t>
            </a:r>
            <a:r>
              <a:rPr lang="pt-BR" sz="2600" dirty="0" smtClean="0"/>
              <a:t> Ceia</a:t>
            </a:r>
            <a:r>
              <a:rPr lang="pt-BR" sz="2600" dirty="0"/>
              <a:t> que o Senhor comeu com os discípulos na véspera da sua paixão e da antecipação do banquete nupcial do Cordeiro </a:t>
            </a:r>
            <a:r>
              <a:rPr lang="pt-BR" sz="2600" dirty="0" smtClean="0"/>
              <a:t> </a:t>
            </a:r>
            <a:r>
              <a:rPr lang="pt-BR" sz="2600" dirty="0"/>
              <a:t>na Jerusalém celeste</a:t>
            </a:r>
            <a:r>
              <a:rPr lang="pt-BR" sz="2600" dirty="0" smtClean="0"/>
              <a:t>.</a:t>
            </a:r>
          </a:p>
          <a:p>
            <a:pPr algn="just"/>
            <a:endParaRPr lang="pt-BR" sz="800" dirty="0" smtClean="0"/>
          </a:p>
          <a:p>
            <a:pPr algn="just"/>
            <a:endParaRPr lang="pt-BR" sz="400" dirty="0" smtClean="0"/>
          </a:p>
          <a:p>
            <a:pPr algn="just"/>
            <a:r>
              <a:rPr lang="pt-BR" sz="2600" b="1" dirty="0" smtClean="0">
                <a:solidFill>
                  <a:srgbClr val="FF0000"/>
                </a:solidFill>
              </a:rPr>
              <a:t>Fração </a:t>
            </a:r>
            <a:r>
              <a:rPr lang="pt-BR" sz="2600" b="1" dirty="0">
                <a:solidFill>
                  <a:srgbClr val="FF0000"/>
                </a:solidFill>
              </a:rPr>
              <a:t>do </a:t>
            </a:r>
            <a:r>
              <a:rPr lang="pt-BR" sz="2600" b="1" dirty="0" smtClean="0">
                <a:solidFill>
                  <a:srgbClr val="FF0000"/>
                </a:solidFill>
              </a:rPr>
              <a:t>Pão:</a:t>
            </a:r>
            <a:r>
              <a:rPr lang="pt-BR" sz="2600" i="1" dirty="0"/>
              <a:t> </a:t>
            </a:r>
            <a:r>
              <a:rPr lang="pt-BR" sz="2600" dirty="0" smtClean="0"/>
              <a:t>rito</a:t>
            </a:r>
            <a:r>
              <a:rPr lang="pt-BR" sz="2600" dirty="0"/>
              <a:t>, próprio da refeição dos judeus, </a:t>
            </a:r>
            <a:r>
              <a:rPr lang="pt-BR" sz="2600" dirty="0" smtClean="0"/>
              <a:t>utilizado </a:t>
            </a:r>
            <a:r>
              <a:rPr lang="pt-BR" sz="2600" dirty="0"/>
              <a:t>por Jesus quando abençoava e distribuía o pão como chefe de </a:t>
            </a:r>
            <a:r>
              <a:rPr lang="pt-BR" sz="2600" dirty="0" smtClean="0"/>
              <a:t>família, </a:t>
            </a:r>
            <a:r>
              <a:rPr lang="pt-BR" sz="2600" dirty="0"/>
              <a:t>sobretudo </a:t>
            </a:r>
            <a:r>
              <a:rPr lang="pt-BR" sz="2600" dirty="0" smtClean="0"/>
              <a:t>por ocasião </a:t>
            </a:r>
            <a:r>
              <a:rPr lang="pt-BR" sz="2600" dirty="0"/>
              <a:t>da última </a:t>
            </a:r>
            <a:r>
              <a:rPr lang="pt-BR" sz="2600" dirty="0" smtClean="0"/>
              <a:t>ceia.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pt-BR" sz="2600" dirty="0"/>
              <a:t>G</a:t>
            </a:r>
            <a:r>
              <a:rPr lang="pt-BR" sz="2600" dirty="0" smtClean="0"/>
              <a:t>esto </a:t>
            </a:r>
            <a:r>
              <a:rPr lang="pt-BR" sz="2600" dirty="0"/>
              <a:t>que </a:t>
            </a:r>
            <a:r>
              <a:rPr lang="pt-BR" sz="2600" dirty="0" smtClean="0"/>
              <a:t>O fará reconhecido </a:t>
            </a:r>
            <a:r>
              <a:rPr lang="pt-BR" sz="2600" dirty="0"/>
              <a:t>depois da sua </a:t>
            </a:r>
            <a:r>
              <a:rPr lang="pt-BR" sz="2600" dirty="0" smtClean="0"/>
              <a:t>ressurreição;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pt-BR" sz="2600" dirty="0"/>
              <a:t>E</a:t>
            </a:r>
            <a:r>
              <a:rPr lang="pt-BR" sz="2600" dirty="0" smtClean="0"/>
              <a:t>xpressão </a:t>
            </a:r>
            <a:r>
              <a:rPr lang="pt-BR" sz="2600" dirty="0"/>
              <a:t>que </a:t>
            </a:r>
            <a:r>
              <a:rPr lang="pt-BR" sz="2600" dirty="0" smtClean="0"/>
              <a:t>designará as </a:t>
            </a:r>
            <a:r>
              <a:rPr lang="pt-BR" sz="2600" dirty="0"/>
              <a:t>assembleias </a:t>
            </a:r>
            <a:r>
              <a:rPr lang="pt-BR" sz="2600" dirty="0" smtClean="0"/>
              <a:t>eucarísticas dos primeiros cristãos. 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pt-BR" sz="2600" dirty="0"/>
              <a:t>O</a:t>
            </a:r>
            <a:r>
              <a:rPr lang="pt-BR" sz="2600" dirty="0" smtClean="0"/>
              <a:t>s </a:t>
            </a:r>
            <a:r>
              <a:rPr lang="pt-BR" sz="2600" dirty="0"/>
              <a:t>que comem do único pão partido, Cristo, entram em comunhão com Ele e formam um só corpo </a:t>
            </a:r>
            <a:r>
              <a:rPr lang="pt-BR" sz="2600" dirty="0" smtClean="0"/>
              <a:t>n'Ele.</a:t>
            </a:r>
            <a:endParaRPr lang="pt-BR" sz="2600" dirty="0"/>
          </a:p>
          <a:p>
            <a:pPr algn="just"/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418311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467544" y="153177"/>
            <a:ext cx="7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pt-BR" i="1" dirty="0" smtClean="0"/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555776" y="548680"/>
            <a:ext cx="475271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600" b="1" dirty="0">
                <a:solidFill>
                  <a:srgbClr val="FF0000"/>
                </a:solidFill>
              </a:rPr>
              <a:t>A CELEBRAÇÃO EUCARÍSTICA É ...</a:t>
            </a:r>
          </a:p>
        </p:txBody>
      </p:sp>
      <p:sp>
        <p:nvSpPr>
          <p:cNvPr id="6" name="Retângulo 5"/>
          <p:cNvSpPr/>
          <p:nvPr/>
        </p:nvSpPr>
        <p:spPr>
          <a:xfrm>
            <a:off x="539552" y="1268760"/>
            <a:ext cx="8208912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600" b="1" dirty="0" err="1" smtClean="0">
                <a:solidFill>
                  <a:srgbClr val="FF0000"/>
                </a:solidFill>
              </a:rPr>
              <a:t>Ação</a:t>
            </a:r>
            <a:r>
              <a:rPr lang="es-AR" sz="2600" b="1" dirty="0" smtClean="0">
                <a:solidFill>
                  <a:srgbClr val="FF0000"/>
                </a:solidFill>
              </a:rPr>
              <a:t> de </a:t>
            </a:r>
            <a:r>
              <a:rPr lang="es-AR" sz="2600" b="1" dirty="0" err="1" smtClean="0">
                <a:solidFill>
                  <a:srgbClr val="FF0000"/>
                </a:solidFill>
              </a:rPr>
              <a:t>graças</a:t>
            </a:r>
            <a:r>
              <a:rPr lang="es-AR" sz="2600" b="1" dirty="0" smtClean="0">
                <a:solidFill>
                  <a:srgbClr val="FF0000"/>
                </a:solidFill>
              </a:rPr>
              <a:t>: </a:t>
            </a:r>
            <a:r>
              <a:rPr lang="es-AR" sz="2600" dirty="0" smtClean="0"/>
              <a:t>«</a:t>
            </a:r>
            <a:r>
              <a:rPr lang="es-AR" sz="2600" dirty="0" err="1" smtClean="0"/>
              <a:t>berakah</a:t>
            </a:r>
            <a:r>
              <a:rPr lang="es-AR" sz="2600" dirty="0" smtClean="0"/>
              <a:t>»</a:t>
            </a:r>
            <a:r>
              <a:rPr lang="es-AR" sz="2600" dirty="0"/>
              <a:t> </a:t>
            </a:r>
            <a:r>
              <a:rPr lang="es-AR" sz="2600" dirty="0" err="1"/>
              <a:t>em</a:t>
            </a:r>
            <a:r>
              <a:rPr lang="es-AR" sz="2600" dirty="0"/>
              <a:t> hebraico, </a:t>
            </a:r>
            <a:r>
              <a:rPr lang="es-AR" sz="2600" dirty="0" err="1" smtClean="0"/>
              <a:t>traduzido</a:t>
            </a:r>
            <a:r>
              <a:rPr lang="es-AR" sz="2600" dirty="0" smtClean="0"/>
              <a:t> para </a:t>
            </a:r>
            <a:r>
              <a:rPr lang="es-AR" sz="2600" dirty="0"/>
              <a:t>o </a:t>
            </a:r>
            <a:r>
              <a:rPr lang="es-AR" sz="2600" dirty="0" err="1"/>
              <a:t>grego</a:t>
            </a:r>
            <a:r>
              <a:rPr lang="es-AR" sz="2600" dirty="0"/>
              <a:t> </a:t>
            </a:r>
            <a:r>
              <a:rPr lang="es-AR" sz="2600" dirty="0" err="1"/>
              <a:t>originou</a:t>
            </a:r>
            <a:r>
              <a:rPr lang="es-AR" sz="2600" dirty="0"/>
              <a:t> </a:t>
            </a:r>
            <a:r>
              <a:rPr lang="es-AR" sz="2600" dirty="0" err="1"/>
              <a:t>três</a:t>
            </a:r>
            <a:r>
              <a:rPr lang="es-AR" sz="2600" dirty="0"/>
              <a:t> </a:t>
            </a:r>
            <a:r>
              <a:rPr lang="es-AR" sz="2600" dirty="0" err="1"/>
              <a:t>outras</a:t>
            </a:r>
            <a:r>
              <a:rPr lang="es-AR" sz="2600" dirty="0"/>
              <a:t> </a:t>
            </a:r>
            <a:r>
              <a:rPr lang="es-AR" sz="2600" dirty="0" err="1"/>
              <a:t>palavras</a:t>
            </a:r>
            <a:r>
              <a:rPr lang="es-AR" sz="2600" dirty="0"/>
              <a:t>: </a:t>
            </a:r>
            <a:endParaRPr lang="es-AR" sz="2600" dirty="0" smtClean="0"/>
          </a:p>
          <a:p>
            <a:pPr marL="914400" lvl="1" indent="-457200" algn="just">
              <a:buBlip>
                <a:blip r:embed="rId2"/>
              </a:buBlip>
            </a:pPr>
            <a:r>
              <a:rPr lang="es-AR" sz="2600" dirty="0" err="1" smtClean="0"/>
              <a:t>Euloguia</a:t>
            </a:r>
            <a:r>
              <a:rPr lang="es-AR" sz="2600" dirty="0" smtClean="0"/>
              <a:t>: </a:t>
            </a:r>
            <a:r>
              <a:rPr lang="es-AR" sz="2600" dirty="0" err="1" smtClean="0"/>
              <a:t>louvar</a:t>
            </a:r>
            <a:r>
              <a:rPr lang="es-AR" sz="2600" dirty="0" smtClean="0"/>
              <a:t>, enaltecer, </a:t>
            </a:r>
            <a:r>
              <a:rPr lang="es-AR" sz="2600" dirty="0" err="1" smtClean="0"/>
              <a:t>bendizer</a:t>
            </a:r>
            <a:r>
              <a:rPr lang="es-AR" sz="2600" dirty="0"/>
              <a:t>; </a:t>
            </a:r>
            <a:endParaRPr lang="es-AR" sz="2600" dirty="0" smtClean="0"/>
          </a:p>
          <a:p>
            <a:pPr marL="914400" lvl="1" indent="-457200" algn="just">
              <a:buBlip>
                <a:blip r:embed="rId2"/>
              </a:buBlip>
            </a:pPr>
            <a:r>
              <a:rPr lang="es-AR" sz="2600" dirty="0" err="1" smtClean="0"/>
              <a:t>Eucharistia</a:t>
            </a:r>
            <a:r>
              <a:rPr lang="es-AR" sz="2600" dirty="0" smtClean="0"/>
              <a:t>: </a:t>
            </a:r>
            <a:r>
              <a:rPr lang="es-AR" sz="2600" dirty="0" err="1" smtClean="0"/>
              <a:t>gratidão</a:t>
            </a:r>
            <a:r>
              <a:rPr lang="es-AR" sz="2600" dirty="0" smtClean="0"/>
              <a:t> </a:t>
            </a:r>
            <a:r>
              <a:rPr lang="es-AR" sz="2600" dirty="0"/>
              <a:t>pelo </a:t>
            </a:r>
            <a:r>
              <a:rPr lang="es-AR" sz="2600" dirty="0" err="1"/>
              <a:t>dom</a:t>
            </a:r>
            <a:r>
              <a:rPr lang="es-AR" sz="2600" dirty="0"/>
              <a:t> </a:t>
            </a:r>
            <a:r>
              <a:rPr lang="es-AR" sz="2600" dirty="0" err="1"/>
              <a:t>recebido</a:t>
            </a:r>
            <a:r>
              <a:rPr lang="es-AR" sz="2600" dirty="0"/>
              <a:t> de </a:t>
            </a:r>
            <a:r>
              <a:rPr lang="es-AR" sz="2600" dirty="0" err="1"/>
              <a:t>graça</a:t>
            </a:r>
            <a:r>
              <a:rPr lang="es-AR" sz="2600" dirty="0"/>
              <a:t>; </a:t>
            </a:r>
          </a:p>
          <a:p>
            <a:pPr marL="914400" lvl="1" indent="-457200" algn="just">
              <a:buBlip>
                <a:blip r:embed="rId2"/>
              </a:buBlip>
            </a:pPr>
            <a:r>
              <a:rPr lang="es-AR" sz="2600" dirty="0" err="1" smtClean="0"/>
              <a:t>Exomologuia</a:t>
            </a:r>
            <a:r>
              <a:rPr lang="es-AR" sz="2600" dirty="0" smtClean="0"/>
              <a:t>: </a:t>
            </a:r>
            <a:r>
              <a:rPr lang="es-AR" sz="2600" dirty="0" err="1" smtClean="0"/>
              <a:t>reconhecimento</a:t>
            </a:r>
            <a:r>
              <a:rPr lang="es-AR" sz="2600" dirty="0" smtClean="0"/>
              <a:t> </a:t>
            </a:r>
            <a:r>
              <a:rPr lang="es-AR" sz="2600" dirty="0" err="1"/>
              <a:t>ou</a:t>
            </a:r>
            <a:r>
              <a:rPr lang="es-AR" sz="2600" dirty="0"/>
              <a:t> </a:t>
            </a:r>
            <a:r>
              <a:rPr lang="es-AR" sz="2600" dirty="0" err="1" smtClean="0"/>
              <a:t>confissão</a:t>
            </a:r>
            <a:r>
              <a:rPr lang="es-AR" sz="2600" dirty="0" smtClean="0"/>
              <a:t> da </a:t>
            </a:r>
            <a:r>
              <a:rPr lang="es-AR" sz="2600" dirty="0" err="1" smtClean="0"/>
              <a:t>fé</a:t>
            </a:r>
            <a:r>
              <a:rPr lang="es-AR" sz="2600" dirty="0" smtClean="0"/>
              <a:t>.</a:t>
            </a:r>
          </a:p>
          <a:p>
            <a:pPr algn="just"/>
            <a:endParaRPr lang="pt-BR" sz="2600" b="1" dirty="0" smtClean="0">
              <a:solidFill>
                <a:srgbClr val="FF0000"/>
              </a:solidFill>
            </a:endParaRPr>
          </a:p>
          <a:p>
            <a:pPr algn="just"/>
            <a:r>
              <a:rPr lang="pt-BR" sz="2600" b="1" dirty="0" smtClean="0">
                <a:solidFill>
                  <a:srgbClr val="FF0000"/>
                </a:solidFill>
              </a:rPr>
              <a:t>CIC </a:t>
            </a:r>
            <a:r>
              <a:rPr lang="pt-BR" sz="2600" b="1" dirty="0">
                <a:solidFill>
                  <a:srgbClr val="FF0000"/>
                </a:solidFill>
              </a:rPr>
              <a:t>1328: </a:t>
            </a:r>
            <a:r>
              <a:rPr lang="pt-BR" sz="2600" dirty="0"/>
              <a:t>Ação de graças a Deus. </a:t>
            </a:r>
            <a:endParaRPr lang="pt-BR" sz="2600" dirty="0" smtClean="0"/>
          </a:p>
          <a:p>
            <a:pPr algn="just"/>
            <a:r>
              <a:rPr lang="pt-BR" sz="2600" dirty="0" smtClean="0"/>
              <a:t>As </a:t>
            </a:r>
            <a:r>
              <a:rPr lang="pt-BR" sz="2600" dirty="0"/>
              <a:t>palavras «</a:t>
            </a:r>
            <a:r>
              <a:rPr lang="pt-BR" sz="2600" dirty="0" err="1"/>
              <a:t>eucharistein</a:t>
            </a:r>
            <a:r>
              <a:rPr lang="pt-BR" sz="2600" dirty="0"/>
              <a:t>» (</a:t>
            </a:r>
            <a:r>
              <a:rPr lang="pt-BR" sz="2600" dirty="0" err="1"/>
              <a:t>Lc</a:t>
            </a:r>
            <a:r>
              <a:rPr lang="pt-BR" sz="2600" dirty="0"/>
              <a:t> 22, 19; 1 Cor 11, 24) e «</a:t>
            </a:r>
            <a:r>
              <a:rPr lang="pt-BR" sz="2600" dirty="0" err="1"/>
              <a:t>eulogein</a:t>
            </a:r>
            <a:r>
              <a:rPr lang="pt-BR" sz="2600" dirty="0"/>
              <a:t>» (</a:t>
            </a:r>
            <a:r>
              <a:rPr lang="pt-BR" sz="2600" dirty="0" err="1"/>
              <a:t>Mt</a:t>
            </a:r>
            <a:r>
              <a:rPr lang="pt-BR" sz="2600" dirty="0"/>
              <a:t> 26, 26; Mc 14, 22) lembram as bênçãos judaicas que proclamam – sobretudo durante a refeição – as obras de Deus: a criação, a redenção e a santificação.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137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51520" y="620688"/>
            <a:ext cx="8712968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b="1" dirty="0" smtClean="0">
                <a:solidFill>
                  <a:srgbClr val="FF0000"/>
                </a:solidFill>
              </a:rPr>
              <a:t>CIC 1330</a:t>
            </a:r>
            <a:r>
              <a:rPr lang="pt-BR" sz="2600" b="1" dirty="0">
                <a:solidFill>
                  <a:srgbClr val="FF0000"/>
                </a:solidFill>
              </a:rPr>
              <a:t>.</a:t>
            </a:r>
            <a:r>
              <a:rPr lang="pt-BR" sz="2600" dirty="0">
                <a:solidFill>
                  <a:srgbClr val="FF0000"/>
                </a:solidFill>
              </a:rPr>
              <a:t> </a:t>
            </a:r>
            <a:r>
              <a:rPr lang="pt-BR" sz="2600" b="1" dirty="0">
                <a:solidFill>
                  <a:srgbClr val="FF0000"/>
                </a:solidFill>
              </a:rPr>
              <a:t>Memorial da paixão e ressurreição do Senhor.</a:t>
            </a:r>
          </a:p>
          <a:p>
            <a:pPr algn="just"/>
            <a:r>
              <a:rPr lang="pt-BR" sz="2600" b="1" dirty="0"/>
              <a:t>Santo Sacrifício</a:t>
            </a:r>
            <a:r>
              <a:rPr lang="pt-BR" sz="2600" dirty="0"/>
              <a:t>, porque </a:t>
            </a:r>
            <a:r>
              <a:rPr lang="pt-BR" sz="2600" dirty="0" smtClean="0"/>
              <a:t>atualiza </a:t>
            </a:r>
            <a:r>
              <a:rPr lang="pt-BR" sz="2600" dirty="0"/>
              <a:t>o único sacrifício de Cristo Salvador e inclui a oferenda da Igreja; ou ainda santo Sacrifício da Missa, «Sacrifício de louvor» (</a:t>
            </a:r>
            <a:r>
              <a:rPr lang="pt-BR" sz="2600" dirty="0" err="1"/>
              <a:t>Heb</a:t>
            </a:r>
            <a:r>
              <a:rPr lang="pt-BR" sz="2600" dirty="0"/>
              <a:t> </a:t>
            </a:r>
            <a:r>
              <a:rPr lang="pt-BR" sz="2600" dirty="0" smtClean="0"/>
              <a:t>13, 15), Sacrifício espiritual, Sacrifício puro</a:t>
            </a:r>
            <a:r>
              <a:rPr lang="pt-BR" sz="2600" dirty="0"/>
              <a:t> </a:t>
            </a:r>
            <a:r>
              <a:rPr lang="pt-BR" sz="2600" dirty="0" smtClean="0"/>
              <a:t>e </a:t>
            </a:r>
            <a:r>
              <a:rPr lang="pt-BR" sz="2600" dirty="0"/>
              <a:t>santo, pois completa e ultrapassa todos os sacrifícios da Antiga Aliança</a:t>
            </a:r>
            <a:r>
              <a:rPr lang="pt-BR" sz="2600" dirty="0" smtClean="0"/>
              <a:t>.</a:t>
            </a:r>
          </a:p>
          <a:p>
            <a:pPr algn="just"/>
            <a:endParaRPr lang="pt-BR" sz="800" dirty="0"/>
          </a:p>
          <a:p>
            <a:pPr marL="457200" indent="-457200" algn="just">
              <a:buBlip>
                <a:blip r:embed="rId2"/>
              </a:buBlip>
            </a:pPr>
            <a:r>
              <a:rPr lang="pt-BR" sz="2800" dirty="0" smtClean="0"/>
              <a:t>Sacrifício tem a mesma raiz de Sacerdote.</a:t>
            </a:r>
          </a:p>
          <a:p>
            <a:pPr algn="just"/>
            <a:endParaRPr lang="pt-BR" sz="800" dirty="0" smtClean="0"/>
          </a:p>
          <a:p>
            <a:pPr marL="457200" indent="-457200" algn="just">
              <a:buBlip>
                <a:blip r:embed="rId2"/>
              </a:buBlip>
            </a:pPr>
            <a:r>
              <a:rPr lang="pt-BR" sz="2800" dirty="0" smtClean="0"/>
              <a:t>do </a:t>
            </a:r>
            <a:r>
              <a:rPr lang="pt-BR" sz="2800" dirty="0"/>
              <a:t>Latim </a:t>
            </a:r>
            <a:r>
              <a:rPr lang="pt-BR" sz="2800" dirty="0" smtClean="0"/>
              <a:t>SACERDOS, aquele </a:t>
            </a:r>
            <a:r>
              <a:rPr lang="pt-BR" sz="2800" dirty="0"/>
              <a:t>que oferece </a:t>
            </a:r>
            <a:r>
              <a:rPr lang="pt-BR" sz="2800" dirty="0" smtClean="0"/>
              <a:t>”</a:t>
            </a:r>
            <a:r>
              <a:rPr lang="pt-BR" sz="2800" b="1" dirty="0" smtClean="0"/>
              <a:t>sacrifícios</a:t>
            </a:r>
            <a:r>
              <a:rPr lang="pt-BR" sz="2800" dirty="0" smtClean="0"/>
              <a:t>“;</a:t>
            </a:r>
            <a:r>
              <a:rPr lang="pt-BR" sz="2800" dirty="0"/>
              <a:t> </a:t>
            </a:r>
            <a:r>
              <a:rPr lang="pt-BR" sz="2800" dirty="0" smtClean="0"/>
              <a:t>SACER</a:t>
            </a:r>
            <a:r>
              <a:rPr lang="pt-BR" sz="2800" dirty="0"/>
              <a:t>, "sagrado", mais a raiz </a:t>
            </a:r>
            <a:r>
              <a:rPr lang="pt-BR" sz="2800" b="1" dirty="0"/>
              <a:t>de</a:t>
            </a:r>
            <a:r>
              <a:rPr lang="pt-BR" sz="2800" dirty="0"/>
              <a:t> DARE, "dar, oferecer". </a:t>
            </a:r>
            <a:endParaRPr lang="pt-BR" sz="2800" dirty="0" smtClean="0"/>
          </a:p>
          <a:p>
            <a:pPr algn="just"/>
            <a:endParaRPr lang="pt-BR" sz="800" dirty="0" smtClean="0"/>
          </a:p>
          <a:p>
            <a:pPr marL="457200" indent="-457200" algn="just">
              <a:buBlip>
                <a:blip r:embed="rId2"/>
              </a:buBlip>
            </a:pPr>
            <a:r>
              <a:rPr lang="pt-BR" sz="2800" dirty="0" smtClean="0"/>
              <a:t>A morte </a:t>
            </a:r>
            <a:r>
              <a:rPr lang="pt-BR" sz="2800" dirty="0"/>
              <a:t>na cruz dá a chance aos homens e às mulheres de novamente orientarem suas vidas ao Pai assumindo assim sua condição de sacerdotes e sacerdotisas.</a:t>
            </a:r>
            <a:br>
              <a:rPr lang="pt-BR" sz="2800" dirty="0"/>
            </a:b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409672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504" y="188640"/>
            <a:ext cx="8856984" cy="8582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endParaRPr lang="pt-BR" sz="28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endParaRPr lang="pt-BR" sz="4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400" b="1" dirty="0" smtClean="0">
                <a:solidFill>
                  <a:srgbClr val="FF0000"/>
                </a:solidFill>
              </a:rPr>
              <a:t>	</a:t>
            </a:r>
            <a:r>
              <a:rPr lang="pt-BR" sz="2400" b="1" dirty="0" smtClean="0">
                <a:solidFill>
                  <a:srgbClr val="FF0000"/>
                </a:solidFill>
              </a:rPr>
              <a:t>Sacrifício:</a:t>
            </a:r>
            <a:r>
              <a:rPr lang="pt-BR" sz="2400" dirty="0" smtClean="0"/>
              <a:t> realiza-se </a:t>
            </a:r>
            <a:r>
              <a:rPr lang="pt-BR" sz="2400" dirty="0"/>
              <a:t>sobre um altar, que é o lugar próprio onde se imolam as </a:t>
            </a:r>
            <a:r>
              <a:rPr lang="pt-BR" sz="2400" dirty="0" smtClean="0"/>
              <a:t>vítimas;</a:t>
            </a:r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marL="914400" lvl="1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"a noite em que foi entregue", quer dizer, em que foi traído, julgado, flagelado e, finalmente, sacrificado;</a:t>
            </a:r>
          </a:p>
          <a:p>
            <a:pPr lvl="1" algn="just">
              <a:lnSpc>
                <a:spcPct val="114000"/>
              </a:lnSpc>
            </a:pPr>
            <a:endParaRPr lang="pt-BR" sz="400" dirty="0" smtClean="0"/>
          </a:p>
          <a:p>
            <a:pPr marL="914400" lvl="1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instituição do "sacrifício eucarístico de seu corpo e de seu sangue", desse corpo que será entregue e desse sangue que será derramado como sacrifício propiciatório para o perdão dos pecados;</a:t>
            </a:r>
          </a:p>
          <a:p>
            <a:pPr lvl="1" algn="just">
              <a:lnSpc>
                <a:spcPct val="114000"/>
              </a:lnSpc>
            </a:pPr>
            <a:endParaRPr lang="pt-BR" sz="400" dirty="0" smtClean="0"/>
          </a:p>
          <a:p>
            <a:pPr marL="914400" lvl="1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instituição da celebração para "perpetuar o sacrifício da cruz", ou seja, a imolação de sua Pessoa que se entregou à morte;</a:t>
            </a:r>
          </a:p>
          <a:p>
            <a:pPr lvl="1" algn="just">
              <a:lnSpc>
                <a:spcPct val="114000"/>
              </a:lnSpc>
            </a:pPr>
            <a:endParaRPr lang="pt-BR" sz="400" dirty="0" smtClean="0"/>
          </a:p>
          <a:p>
            <a:pPr marL="914400" lvl="1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instituído para "confiar a sua Igreja o memorial de sua morte e ressurreição“; para fazer presente em todo tempo, o mistério pascal: morte e ressurreição de Cristo.</a:t>
            </a:r>
          </a:p>
          <a:p>
            <a:pPr algn="just">
              <a:lnSpc>
                <a:spcPct val="114000"/>
              </a:lnSpc>
            </a:pPr>
            <a:endParaRPr lang="pt-BR" sz="2400" dirty="0" smtClean="0"/>
          </a:p>
          <a:p>
            <a:pPr marL="285750" indent="-285750" algn="just">
              <a:lnSpc>
                <a:spcPct val="114000"/>
              </a:lnSpc>
              <a:buBlip>
                <a:blip r:embed="rId2"/>
              </a:buBlip>
            </a:pPr>
            <a:endParaRPr lang="pt-BR" sz="2400" dirty="0"/>
          </a:p>
          <a:p>
            <a:pPr marL="285750" indent="-285750" algn="just">
              <a:lnSpc>
                <a:spcPct val="114000"/>
              </a:lnSpc>
              <a:buBlip>
                <a:blip r:embed="rId2"/>
              </a:buBlip>
            </a:pPr>
            <a:endParaRPr lang="pt-BR" sz="2400" dirty="0" smtClean="0"/>
          </a:p>
          <a:p>
            <a:pPr marL="285750" indent="-285750" algn="just">
              <a:lnSpc>
                <a:spcPct val="114000"/>
              </a:lnSpc>
              <a:buBlip>
                <a:blip r:embed="rId2"/>
              </a:buBlip>
            </a:pPr>
            <a:endParaRPr lang="pt-BR" sz="2400" dirty="0"/>
          </a:p>
          <a:p>
            <a:pPr algn="just">
              <a:lnSpc>
                <a:spcPct val="114000"/>
              </a:lnSpc>
            </a:pPr>
            <a:endParaRPr lang="pt-BR" sz="2400" dirty="0" smtClean="0"/>
          </a:p>
        </p:txBody>
      </p:sp>
      <p:sp>
        <p:nvSpPr>
          <p:cNvPr id="3" name="Retângulo 2"/>
          <p:cNvSpPr/>
          <p:nvPr/>
        </p:nvSpPr>
        <p:spPr>
          <a:xfrm>
            <a:off x="2267744" y="188640"/>
            <a:ext cx="4400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</a:rPr>
              <a:t>A CELEBRAÇÃO EUCARÍSTICA É ...</a:t>
            </a:r>
            <a:endParaRPr lang="pt-B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20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3528" y="260648"/>
            <a:ext cx="864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Todo culto religioso comporta um sacrifício ou </a:t>
            </a:r>
            <a:r>
              <a:rPr lang="pt-BR" sz="2400" b="1" dirty="0" smtClean="0">
                <a:solidFill>
                  <a:srgbClr val="FF0000"/>
                </a:solidFill>
              </a:rPr>
              <a:t>oblação</a:t>
            </a:r>
            <a:endParaRPr lang="pt-BR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190904"/>
              </p:ext>
            </p:extLst>
          </p:nvPr>
        </p:nvGraphicFramePr>
        <p:xfrm>
          <a:off x="144875" y="836712"/>
          <a:ext cx="8891621" cy="56959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42011"/>
                <a:gridCol w="3540482"/>
                <a:gridCol w="3409128"/>
              </a:tblGrid>
              <a:tr h="59397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 smtClean="0">
                          <a:solidFill>
                            <a:srgbClr val="FF0000"/>
                          </a:solidFill>
                          <a:effectLst/>
                        </a:rPr>
                        <a:t>Culto oferecido</a:t>
                      </a:r>
                      <a:endParaRPr lang="pt-BR" sz="2300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>
                          <a:effectLst/>
                        </a:rPr>
                        <a:t> </a:t>
                      </a:r>
                      <a:endParaRPr lang="pt-BR" sz="2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>
                          <a:solidFill>
                            <a:srgbClr val="FF0000"/>
                          </a:solidFill>
                          <a:effectLst/>
                        </a:rPr>
                        <a:t>AT</a:t>
                      </a:r>
                      <a:endParaRPr lang="pt-BR" sz="2300" b="1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>
                          <a:solidFill>
                            <a:srgbClr val="FF0000"/>
                          </a:solidFill>
                          <a:effectLst/>
                        </a:rPr>
                        <a:t>NT</a:t>
                      </a:r>
                      <a:endParaRPr lang="pt-BR" sz="2300" b="1" dirty="0">
                        <a:solidFill>
                          <a:srgbClr val="FF000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26415">
                <a:tc>
                  <a:txBody>
                    <a:bodyPr/>
                    <a:lstStyle/>
                    <a:p>
                      <a:endParaRPr lang="pt-BR" dirty="0" smtClean="0"/>
                    </a:p>
                    <a:p>
                      <a:r>
                        <a:rPr lang="pt-BR" sz="2300" dirty="0" smtClean="0">
                          <a:solidFill>
                            <a:srgbClr val="FF0000"/>
                          </a:solidFill>
                        </a:rPr>
                        <a:t>Características</a:t>
                      </a:r>
                      <a:endParaRPr lang="pt-BR" sz="23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 smtClean="0">
                          <a:solidFill>
                            <a:schemeClr val="tx1"/>
                          </a:solidFill>
                        </a:rPr>
                        <a:t>Oferecimento externo;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 smtClean="0">
                          <a:solidFill>
                            <a:schemeClr val="tx1"/>
                          </a:solidFill>
                        </a:rPr>
                        <a:t>Repetição;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 smtClean="0">
                          <a:solidFill>
                            <a:schemeClr val="tx1"/>
                          </a:solidFill>
                        </a:rPr>
                        <a:t>Libertação da escravidão no Egito;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dirty="0" smtClean="0">
                          <a:solidFill>
                            <a:schemeClr val="tx1"/>
                          </a:solidFill>
                        </a:rPr>
                        <a:t>A vítima era destruída.</a:t>
                      </a: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Oferecimento de </a:t>
                      </a:r>
                      <a:r>
                        <a:rPr lang="pt-BR" sz="2300" dirty="0" smtClean="0">
                          <a:solidFill>
                            <a:schemeClr val="tx1"/>
                          </a:solidFill>
                          <a:effectLst/>
                        </a:rPr>
                        <a:t>Si;</a:t>
                      </a:r>
                      <a:endParaRPr lang="pt-BR" sz="23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Ato único, </a:t>
                      </a:r>
                      <a:r>
                        <a:rPr lang="pt-BR" sz="2300" dirty="0" err="1">
                          <a:solidFill>
                            <a:schemeClr val="tx1"/>
                          </a:solidFill>
                          <a:effectLst/>
                        </a:rPr>
                        <a:t>irrepetível</a:t>
                      </a:r>
                      <a:r>
                        <a:rPr lang="pt-BR" sz="2300" dirty="0" smtClean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 smtClean="0"/>
                        <a:t>Cristo é a verdadeira e definitiva libertação;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 smtClean="0"/>
                        <a:t>Vivo e ressuscitado.</a:t>
                      </a:r>
                      <a:endParaRPr lang="pt-BR" sz="23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400" dirty="0" smtClean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400" dirty="0" smtClean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400" dirty="0" smtClean="0">
                          <a:solidFill>
                            <a:srgbClr val="FF0000"/>
                          </a:solidFill>
                          <a:effectLst/>
                        </a:rPr>
                        <a:t>Elementos</a:t>
                      </a:r>
                      <a:r>
                        <a:rPr lang="pt-BR" sz="24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Deus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>
                          <a:solidFill>
                            <a:schemeClr val="tx1"/>
                          </a:solidFill>
                          <a:effectLst/>
                        </a:rPr>
                        <a:t>Sacerdote: </a:t>
                      </a: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Tribo de Levi, de Pai para Filho;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>
                          <a:solidFill>
                            <a:schemeClr val="tx1"/>
                          </a:solidFill>
                          <a:effectLst/>
                        </a:rPr>
                        <a:t>Vítima:</a:t>
                      </a: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 animais perfeitos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Povo</a:t>
                      </a:r>
                      <a:endParaRPr lang="pt-BR" sz="23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Deus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>
                          <a:solidFill>
                            <a:schemeClr val="tx1"/>
                          </a:solidFill>
                          <a:effectLst/>
                        </a:rPr>
                        <a:t>Sacerdote:</a:t>
                      </a: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 Jesus Cristo;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 smtClean="0">
                          <a:solidFill>
                            <a:schemeClr val="tx1"/>
                          </a:solidFill>
                          <a:effectLst/>
                        </a:rPr>
                        <a:t>Templo:</a:t>
                      </a:r>
                      <a:r>
                        <a:rPr lang="pt-BR" sz="2300" dirty="0" smtClean="0">
                          <a:solidFill>
                            <a:schemeClr val="tx1"/>
                          </a:solidFill>
                          <a:effectLst/>
                        </a:rPr>
                        <a:t> Jesus Cristo</a:t>
                      </a:r>
                      <a:endParaRPr lang="pt-BR" sz="2300" b="1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b="1" dirty="0" smtClean="0">
                          <a:solidFill>
                            <a:schemeClr val="tx1"/>
                          </a:solidFill>
                          <a:effectLst/>
                        </a:rPr>
                        <a:t>Vítima</a:t>
                      </a:r>
                      <a:r>
                        <a:rPr lang="pt-BR" sz="2300" b="1" dirty="0">
                          <a:solidFill>
                            <a:schemeClr val="tx1"/>
                          </a:solidFill>
                          <a:effectLst/>
                        </a:rPr>
                        <a:t>:</a:t>
                      </a: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 Jesus Cristo</a:t>
                      </a:r>
                      <a:r>
                        <a:rPr lang="pt-BR" sz="2300" dirty="0" smtClean="0">
                          <a:solidFill>
                            <a:schemeClr val="tx1"/>
                          </a:solidFill>
                          <a:effectLst/>
                        </a:rPr>
                        <a:t>;</a:t>
                      </a:r>
                      <a:endParaRPr lang="pt-BR" sz="23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>
                          <a:solidFill>
                            <a:schemeClr val="tx1"/>
                          </a:solidFill>
                          <a:effectLst/>
                        </a:rPr>
                        <a:t>Povo</a:t>
                      </a:r>
                      <a:endParaRPr lang="pt-BR" sz="23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2300" dirty="0" smtClean="0">
                          <a:solidFill>
                            <a:srgbClr val="FF0000"/>
                          </a:solidFill>
                          <a:effectLst/>
                        </a:rPr>
                        <a:t>AT:</a:t>
                      </a:r>
                      <a:r>
                        <a:rPr lang="pt-BR" sz="2300" baseline="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2300" b="0" dirty="0" smtClean="0">
                          <a:solidFill>
                            <a:schemeClr val="tx1"/>
                          </a:solidFill>
                        </a:rPr>
                        <a:t>os israelitas ofereciam sacrifícios para expiar os pecados;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300" b="1" dirty="0" smtClean="0">
                          <a:solidFill>
                            <a:srgbClr val="FF0000"/>
                          </a:solidFill>
                        </a:rPr>
                        <a:t>NT:</a:t>
                      </a:r>
                      <a:r>
                        <a:rPr lang="pt-BR" sz="2300" b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2300" b="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2300" b="0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pt-BR" sz="2300" b="0" dirty="0" smtClean="0">
                          <a:solidFill>
                            <a:schemeClr val="tx1"/>
                          </a:solidFill>
                        </a:rPr>
                        <a:t>risto se tornou o sacrifício</a:t>
                      </a:r>
                      <a:r>
                        <a:rPr lang="pt-BR" sz="23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2300" b="0" dirty="0" smtClean="0">
                          <a:solidFill>
                            <a:schemeClr val="tx1"/>
                          </a:solidFill>
                        </a:rPr>
                        <a:t>suficiente, é oferecido numa oblação pura, do nascer ao pôr</a:t>
                      </a:r>
                      <a:r>
                        <a:rPr lang="pt-BR" sz="2300" b="0" baseline="0" dirty="0" smtClean="0">
                          <a:solidFill>
                            <a:schemeClr val="tx1"/>
                          </a:solidFill>
                        </a:rPr>
                        <a:t> do sol. </a:t>
                      </a:r>
                      <a:r>
                        <a:rPr lang="pt-BR" sz="2300" b="0" dirty="0" err="1" smtClean="0">
                          <a:solidFill>
                            <a:schemeClr val="tx1"/>
                          </a:solidFill>
                        </a:rPr>
                        <a:t>Hb</a:t>
                      </a:r>
                      <a:r>
                        <a:rPr lang="pt-BR" sz="2300" b="0" dirty="0" smtClean="0">
                          <a:solidFill>
                            <a:schemeClr val="tx1"/>
                          </a:solidFill>
                        </a:rPr>
                        <a:t> 9,13-14; </a:t>
                      </a:r>
                      <a:r>
                        <a:rPr lang="pt-BR" sz="2300" b="0" dirty="0" err="1" smtClean="0">
                          <a:solidFill>
                            <a:schemeClr val="tx1"/>
                          </a:solidFill>
                        </a:rPr>
                        <a:t>Hb</a:t>
                      </a:r>
                      <a:r>
                        <a:rPr lang="pt-BR" sz="2300" b="0" dirty="0" smtClean="0">
                          <a:solidFill>
                            <a:schemeClr val="tx1"/>
                          </a:solidFill>
                        </a:rPr>
                        <a:t> 10,10</a:t>
                      </a:r>
                      <a:endParaRPr lang="pt-BR" sz="2300" b="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24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74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548680"/>
            <a:ext cx="8496944" cy="6056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14000"/>
              </a:lnSpc>
            </a:pPr>
            <a:r>
              <a:rPr lang="pt-BR" sz="2400" dirty="0" smtClean="0"/>
              <a:t>	</a:t>
            </a:r>
            <a:r>
              <a:rPr lang="pt-BR" sz="2300" dirty="0" smtClean="0"/>
              <a:t>"</a:t>
            </a:r>
            <a:r>
              <a:rPr lang="pt-BR" sz="2300" dirty="0"/>
              <a:t>O augusto sacrifício do altar não é (...) uma pura e simples comemoração da paixão e morte de Jesus Cristo, mas é um verdadeiro e próprio sacrifício, no qual, imolando-se </a:t>
            </a:r>
            <a:r>
              <a:rPr lang="pt-BR" sz="2300" dirty="0" err="1"/>
              <a:t>incruentamente</a:t>
            </a:r>
            <a:r>
              <a:rPr lang="pt-BR" sz="2300" dirty="0"/>
              <a:t>, o sumo Sacerdote faz aquilo que fez uma vez sobre a cruz, oferecendo-se todo ao Pai, vítima agradabilíssima</a:t>
            </a:r>
            <a:r>
              <a:rPr lang="pt-BR" sz="2300" dirty="0" smtClean="0"/>
              <a:t>". </a:t>
            </a:r>
          </a:p>
          <a:p>
            <a:pPr algn="ctr">
              <a:lnSpc>
                <a:spcPct val="114000"/>
              </a:lnSpc>
            </a:pPr>
            <a:r>
              <a:rPr lang="pt-BR" sz="2300" dirty="0" smtClean="0"/>
              <a:t>Encíclica </a:t>
            </a:r>
            <a:r>
              <a:rPr lang="pt-BR" sz="2300" dirty="0" err="1" smtClean="0"/>
              <a:t>Mediator</a:t>
            </a:r>
            <a:r>
              <a:rPr lang="pt-BR" sz="2300" dirty="0" smtClean="0"/>
              <a:t> Dei, nº 61</a:t>
            </a:r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O sacrifício </a:t>
            </a:r>
            <a:r>
              <a:rPr lang="pt-BR" sz="2400" dirty="0"/>
              <a:t>do Calvário e o </a:t>
            </a:r>
            <a:r>
              <a:rPr lang="pt-BR" sz="2400" dirty="0" smtClean="0"/>
              <a:t>eucarístico </a:t>
            </a:r>
            <a:r>
              <a:rPr lang="pt-BR" sz="2400" dirty="0"/>
              <a:t>são o mesmo </a:t>
            </a:r>
            <a:r>
              <a:rPr lang="pt-BR" sz="2400" dirty="0" smtClean="0"/>
              <a:t>sacrifício.</a:t>
            </a:r>
            <a:endParaRPr lang="pt-BR" sz="2400" dirty="0"/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Na Santa Missa, o sacerdote  </a:t>
            </a:r>
            <a:r>
              <a:rPr lang="pt-BR" sz="2400" dirty="0"/>
              <a:t>está fazendo </a:t>
            </a:r>
            <a:r>
              <a:rPr lang="pt-BR" sz="2400" dirty="0" smtClean="0"/>
              <a:t>a </a:t>
            </a:r>
            <a:r>
              <a:rPr lang="pt-BR" sz="2400" dirty="0"/>
              <a:t>mesma coisa que Jesus fez naquela ceia </a:t>
            </a:r>
            <a:r>
              <a:rPr lang="pt-BR" sz="2400" dirty="0" smtClean="0"/>
              <a:t>derradeira, </a:t>
            </a:r>
            <a:r>
              <a:rPr lang="pt-BR" sz="2400" dirty="0"/>
              <a:t>mas também aquele ato de entrega realizada no madeiro da Cruz. </a:t>
            </a:r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No </a:t>
            </a:r>
            <a:r>
              <a:rPr lang="pt-BR" sz="2400" dirty="0"/>
              <a:t>Calvário Jesus se entregou de modo </a:t>
            </a:r>
            <a:r>
              <a:rPr lang="pt-BR" sz="2400" dirty="0" smtClean="0"/>
              <a:t>cruento; </a:t>
            </a:r>
          </a:p>
          <a:p>
            <a:pPr algn="just">
              <a:lnSpc>
                <a:spcPct val="114000"/>
              </a:lnSpc>
            </a:pPr>
            <a:endParaRPr lang="pt-BR" sz="800" dirty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Na </a:t>
            </a:r>
            <a:r>
              <a:rPr lang="pt-BR" sz="2400" dirty="0"/>
              <a:t>última ceia e nos </a:t>
            </a:r>
            <a:r>
              <a:rPr lang="pt-BR" sz="2400" dirty="0" smtClean="0"/>
              <a:t>altares o sacrifício </a:t>
            </a:r>
            <a:r>
              <a:rPr lang="pt-BR" sz="2400" dirty="0"/>
              <a:t>é oferecido sem derramamento de sangue ("</a:t>
            </a:r>
            <a:r>
              <a:rPr lang="pt-BR" sz="2400" dirty="0" err="1"/>
              <a:t>incruentamente</a:t>
            </a:r>
            <a:r>
              <a:rPr lang="pt-BR" sz="2400" dirty="0"/>
              <a:t>"). </a:t>
            </a:r>
          </a:p>
        </p:txBody>
      </p:sp>
    </p:spTree>
    <p:extLst>
      <p:ext uri="{BB962C8B-B14F-4D97-AF65-F5344CB8AC3E}">
        <p14:creationId xmlns:p14="http://schemas.microsoft.com/office/powerpoint/2010/main" val="311911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179512" y="620688"/>
            <a:ext cx="8856984" cy="6225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300" b="1" dirty="0" smtClean="0">
                <a:solidFill>
                  <a:srgbClr val="FF0000"/>
                </a:solidFill>
              </a:rPr>
              <a:t>Centro:</a:t>
            </a:r>
            <a:r>
              <a:rPr lang="pt-BR" sz="2300" dirty="0" smtClean="0"/>
              <a:t> </a:t>
            </a:r>
            <a:r>
              <a:rPr lang="pt-BR" sz="2300" dirty="0"/>
              <a:t>Jesus Cristo</a:t>
            </a:r>
            <a:r>
              <a:rPr lang="pt-BR" sz="2300" dirty="0" smtClean="0"/>
              <a:t>.</a:t>
            </a:r>
          </a:p>
          <a:p>
            <a:pPr algn="just"/>
            <a:endParaRPr lang="pt-BR" sz="400" dirty="0" smtClean="0"/>
          </a:p>
          <a:p>
            <a:pPr algn="just"/>
            <a:r>
              <a:rPr lang="pt-BR" sz="2300" dirty="0"/>
              <a:t>Todo o Mistério </a:t>
            </a:r>
            <a:r>
              <a:rPr lang="pt-BR" sz="2300" dirty="0" err="1"/>
              <a:t>Salvífico</a:t>
            </a:r>
            <a:r>
              <a:rPr lang="pt-BR" sz="2300" dirty="0"/>
              <a:t> se realiza no Mistério Pascal</a:t>
            </a:r>
            <a:r>
              <a:rPr lang="pt-BR" sz="2300" dirty="0" smtClean="0"/>
              <a:t>.</a:t>
            </a:r>
          </a:p>
          <a:p>
            <a:pPr algn="just"/>
            <a:endParaRPr lang="pt-BR" sz="800" dirty="0" smtClean="0"/>
          </a:p>
          <a:p>
            <a:pPr algn="just"/>
            <a:endParaRPr lang="pt-BR" sz="400" dirty="0"/>
          </a:p>
          <a:p>
            <a:pPr algn="just"/>
            <a:r>
              <a:rPr lang="pt-BR" sz="2300" dirty="0"/>
              <a:t>S</a:t>
            </a:r>
            <a:r>
              <a:rPr lang="pt-BR" sz="2300" dirty="0" smtClean="0"/>
              <a:t>em </a:t>
            </a:r>
            <a:r>
              <a:rPr lang="pt-BR" sz="2300" dirty="0"/>
              <a:t>o Mistério Pascal </a:t>
            </a:r>
            <a:r>
              <a:rPr lang="pt-BR" sz="2300" dirty="0" smtClean="0"/>
              <a:t>a última ceia continuaria </a:t>
            </a:r>
            <a:r>
              <a:rPr lang="pt-BR" sz="2300" dirty="0"/>
              <a:t>sendo uma ceia</a:t>
            </a:r>
            <a:r>
              <a:rPr lang="pt-BR" sz="2300" dirty="0" smtClean="0"/>
              <a:t>. </a:t>
            </a:r>
          </a:p>
          <a:p>
            <a:pPr algn="just"/>
            <a:endParaRPr lang="pt-BR" sz="800" dirty="0" smtClean="0"/>
          </a:p>
          <a:p>
            <a:pPr algn="just"/>
            <a:endParaRPr lang="pt-BR" sz="400" dirty="0" smtClean="0"/>
          </a:p>
          <a:p>
            <a:pPr algn="just"/>
            <a:r>
              <a:rPr lang="pt-BR" sz="2300" dirty="0" smtClean="0"/>
              <a:t>A </a:t>
            </a:r>
            <a:r>
              <a:rPr lang="pt-BR" sz="2300" dirty="0"/>
              <a:t>morte e ressurreição de Jesus aconteceram apenas uma </a:t>
            </a:r>
            <a:r>
              <a:rPr lang="pt-BR" sz="2300" dirty="0" smtClean="0"/>
              <a:t>vez, </a:t>
            </a:r>
            <a:r>
              <a:rPr lang="pt-BR" sz="2300" dirty="0"/>
              <a:t>mas Ele quis que todas as pessoas, das diversas épocas, participassem daquele sacrifício</a:t>
            </a:r>
            <a:r>
              <a:rPr lang="pt-BR" sz="2400" dirty="0" smtClean="0"/>
              <a:t>.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  <a:defRPr/>
            </a:pPr>
            <a:r>
              <a:rPr lang="pt-BR" sz="2200" dirty="0"/>
              <a:t>Nos identificamos com a Vítima (não mais animal, agora o Homem</a:t>
            </a:r>
            <a:r>
              <a:rPr lang="pt-BR" sz="2200" dirty="0" smtClean="0"/>
              <a:t>); </a:t>
            </a:r>
            <a:endParaRPr lang="pt-BR" sz="2200" dirty="0"/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  <a:defRPr/>
            </a:pPr>
            <a:r>
              <a:rPr lang="pt-BR" sz="2200" dirty="0"/>
              <a:t>os sacrifícios oferecidos pelos antigos "simplesmente devolviam a Deus as coisas que Ele </a:t>
            </a:r>
            <a:r>
              <a:rPr lang="pt-BR" sz="2200" dirty="0" smtClean="0"/>
              <a:t>havia </a:t>
            </a:r>
            <a:r>
              <a:rPr lang="pt-BR" sz="2200" dirty="0"/>
              <a:t>criado: touros, ovelhas, pão e </a:t>
            </a:r>
            <a:r>
              <a:rPr lang="pt-BR" sz="2200" dirty="0" smtClean="0"/>
              <a:t>vinho“; </a:t>
            </a:r>
            <a:endParaRPr lang="pt-BR" sz="2200" dirty="0"/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  <a:defRPr/>
            </a:pPr>
            <a:r>
              <a:rPr lang="pt-BR" sz="2200" dirty="0" smtClean="0"/>
              <a:t>Nós oferecemos a Deus </a:t>
            </a:r>
            <a:r>
              <a:rPr lang="pt-BR" sz="2200" dirty="0"/>
              <a:t>um dom digno </a:t>
            </a:r>
            <a:r>
              <a:rPr lang="pt-BR" sz="2200" dirty="0" err="1"/>
              <a:t>dEle</a:t>
            </a:r>
            <a:r>
              <a:rPr lang="pt-BR" sz="2200" dirty="0"/>
              <a:t>: o dom do seu próprio </a:t>
            </a:r>
            <a:r>
              <a:rPr lang="pt-BR" sz="2200" dirty="0" smtClean="0"/>
              <a:t>Filho.</a:t>
            </a:r>
            <a:endParaRPr lang="pt-BR" sz="2200" dirty="0"/>
          </a:p>
          <a:p>
            <a:pPr marL="171450" indent="-171450" algn="just">
              <a:buBlip>
                <a:blip r:embed="rId2"/>
              </a:buBlip>
            </a:pPr>
            <a:endParaRPr lang="pt-BR" sz="800" dirty="0" smtClean="0"/>
          </a:p>
          <a:p>
            <a:pPr algn="just"/>
            <a:r>
              <a:rPr lang="pt-BR" sz="2300" dirty="0" smtClean="0"/>
              <a:t>Não </a:t>
            </a:r>
            <a:r>
              <a:rPr lang="pt-BR" sz="2300" dirty="0"/>
              <a:t>estivemos presente na Última Ceia, mas vivemos as consequências desse Ato (Evento </a:t>
            </a:r>
            <a:r>
              <a:rPr lang="pt-BR" sz="2300" dirty="0" err="1"/>
              <a:t>Salvífico</a:t>
            </a:r>
            <a:r>
              <a:rPr lang="pt-BR" sz="2300" dirty="0" smtClean="0"/>
              <a:t>). Jesus dá sentido definitivo à pascoa Judaica.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  <a:defRPr/>
            </a:pPr>
            <a:r>
              <a:rPr lang="pt-BR" sz="2200" dirty="0" smtClean="0"/>
              <a:t>Necessidade união </a:t>
            </a:r>
            <a:r>
              <a:rPr lang="pt-BR" sz="2200" dirty="0"/>
              <a:t>espiritual para poder fazer </a:t>
            </a:r>
            <a:r>
              <a:rPr lang="pt-BR" sz="2200" dirty="0" smtClean="0"/>
              <a:t>comunhão</a:t>
            </a:r>
            <a:r>
              <a:rPr lang="pt-BR" sz="2200" dirty="0"/>
              <a:t>;</a:t>
            </a:r>
            <a:endParaRPr lang="pt-BR" sz="2200" dirty="0" smtClean="0"/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  <a:defRPr/>
            </a:pPr>
            <a:r>
              <a:rPr lang="pt-BR" sz="2200" dirty="0">
                <a:latin typeface="Calibri" pitchFamily="34" charset="0"/>
              </a:rPr>
              <a:t>mergulhar no mistério e não simplesmente fazer o </a:t>
            </a:r>
            <a:r>
              <a:rPr lang="pt-BR" sz="2200" dirty="0" smtClean="0">
                <a:latin typeface="Calibri" pitchFamily="34" charset="0"/>
              </a:rPr>
              <a:t>rito.</a:t>
            </a:r>
            <a:endParaRPr lang="pt-BR" sz="2200" dirty="0"/>
          </a:p>
        </p:txBody>
      </p:sp>
      <p:sp>
        <p:nvSpPr>
          <p:cNvPr id="2" name="Retângulo 1"/>
          <p:cNvSpPr/>
          <p:nvPr/>
        </p:nvSpPr>
        <p:spPr>
          <a:xfrm>
            <a:off x="2483768" y="260648"/>
            <a:ext cx="398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ESSÊNCIA DO CULTO CRISTÃO </a:t>
            </a:r>
            <a:endParaRPr lang="pt-B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9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67544" y="260649"/>
            <a:ext cx="8424936" cy="588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FF0000"/>
                </a:solidFill>
              </a:rPr>
              <a:t>OUTROS NOMES DADOS A SANTA MISSA: CIC 1328 -1332</a:t>
            </a:r>
          </a:p>
          <a:p>
            <a:endParaRPr lang="pt-BR" sz="600" b="1" dirty="0" smtClean="0"/>
          </a:p>
          <a:p>
            <a:pPr algn="just">
              <a:lnSpc>
                <a:spcPct val="114000"/>
              </a:lnSpc>
            </a:pPr>
            <a:endParaRPr lang="pt-BR" sz="8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>
                <a:solidFill>
                  <a:srgbClr val="FF0000"/>
                </a:solidFill>
              </a:rPr>
              <a:t>CIC </a:t>
            </a:r>
            <a:r>
              <a:rPr lang="pt-BR" sz="2400" b="1" dirty="0" smtClean="0">
                <a:solidFill>
                  <a:srgbClr val="FF0000"/>
                </a:solidFill>
              </a:rPr>
              <a:t>1329</a:t>
            </a:r>
            <a:endParaRPr lang="pt-BR" sz="24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 smtClean="0"/>
              <a:t>Assembleia </a:t>
            </a:r>
            <a:r>
              <a:rPr lang="pt-BR" sz="2400" b="1" dirty="0"/>
              <a:t>eucarística</a:t>
            </a:r>
            <a:r>
              <a:rPr lang="pt-BR" sz="2400" dirty="0"/>
              <a:t> (</a:t>
            </a:r>
            <a:r>
              <a:rPr lang="pt-BR" sz="2400" dirty="0" err="1"/>
              <a:t>synaxxis</a:t>
            </a:r>
            <a:r>
              <a:rPr lang="pt-BR" sz="2400" dirty="0"/>
              <a:t>, pronuncie “</a:t>
            </a:r>
            <a:r>
              <a:rPr lang="pt-BR" sz="2400" dirty="0" err="1"/>
              <a:t>sináxis</a:t>
            </a:r>
            <a:r>
              <a:rPr lang="pt-BR" sz="2400" dirty="0"/>
              <a:t>”), porque a Eucaristia é celebrada na </a:t>
            </a:r>
            <a:r>
              <a:rPr lang="pt-BR" sz="2400" dirty="0" smtClean="0"/>
              <a:t>assembleia </a:t>
            </a:r>
            <a:r>
              <a:rPr lang="pt-BR" sz="2400" dirty="0"/>
              <a:t>dos fiéis, expressão visível da </a:t>
            </a:r>
            <a:r>
              <a:rPr lang="pt-BR" sz="2400" dirty="0" smtClean="0"/>
              <a:t>Igreja.</a:t>
            </a:r>
            <a:endParaRPr lang="pt-BR" sz="24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endParaRPr lang="pt-BR" sz="8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CIC 1330</a:t>
            </a:r>
            <a:endParaRPr lang="pt-BR" sz="2400" b="1" dirty="0"/>
          </a:p>
          <a:p>
            <a:pPr algn="just">
              <a:lnSpc>
                <a:spcPct val="114000"/>
              </a:lnSpc>
            </a:pPr>
            <a:r>
              <a:rPr lang="pt-BR" sz="2400" b="1" dirty="0" smtClean="0"/>
              <a:t>Santa </a:t>
            </a:r>
            <a:r>
              <a:rPr lang="pt-BR" sz="2400" b="1" dirty="0"/>
              <a:t>e divina Liturgia</a:t>
            </a:r>
            <a:r>
              <a:rPr lang="pt-BR" sz="2400" dirty="0"/>
              <a:t>, porque toda a liturgia da Igreja encontra seu centro e sua expressão mais densa na celebração deste sacramento; é no mesmo sentido que se chama também celebração dos Santos Mistérios. Fala-se também do Santíssimo Sacramento, porque é o sacramento dos sacramentos. Com esta denominação designam-se as espécies eucarísticas guardadas no tabernáculo</a:t>
            </a:r>
            <a:r>
              <a:rPr lang="pt-BR" sz="2400" dirty="0" smtClean="0"/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2386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565627"/>
            <a:ext cx="8784976" cy="6269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OUTROS NOMES DADOS A SANTA MISSA: CIC 1328 -1332</a:t>
            </a:r>
          </a:p>
          <a:p>
            <a:pPr algn="just"/>
            <a:endParaRPr lang="pt-BR" sz="800" dirty="0"/>
          </a:p>
          <a:p>
            <a:pPr algn="just">
              <a:lnSpc>
                <a:spcPct val="114000"/>
              </a:lnSpc>
            </a:pPr>
            <a:r>
              <a:rPr lang="pt-BR" sz="2400" b="1" dirty="0">
                <a:solidFill>
                  <a:srgbClr val="FF0000"/>
                </a:solidFill>
              </a:rPr>
              <a:t>CIC 1331</a:t>
            </a:r>
            <a:r>
              <a:rPr lang="pt-BR" sz="2400" dirty="0"/>
              <a:t>     </a:t>
            </a:r>
          </a:p>
          <a:p>
            <a:pPr algn="just">
              <a:lnSpc>
                <a:spcPct val="114000"/>
              </a:lnSpc>
            </a:pPr>
            <a:r>
              <a:rPr lang="pt-BR" sz="2400" b="1" dirty="0"/>
              <a:t>Comunhão</a:t>
            </a:r>
            <a:r>
              <a:rPr lang="pt-BR" sz="2400" b="1" i="1" dirty="0"/>
              <a:t>,</a:t>
            </a:r>
            <a:r>
              <a:rPr lang="pt-BR" sz="2400" dirty="0"/>
              <a:t> porque é por este sacramento que nos unimos a Cristo, que nos toma participantes de seu Corpo e de seu Sangue para formarmos um só corpo; denomina-se ainda as “coisas santas” </a:t>
            </a:r>
            <a:r>
              <a:rPr lang="pt-BR" sz="2400" dirty="0" smtClean="0"/>
              <a:t>... </a:t>
            </a:r>
            <a:r>
              <a:rPr lang="pt-BR" sz="2400" dirty="0"/>
              <a:t>este é o sentido primeiro da “comunhão dos santos” de que fala o Símbolo dos Apóstolos pão dos anjos, pão do céu, remédio de imortalidade, viático</a:t>
            </a:r>
            <a:r>
              <a:rPr lang="pt-BR" sz="2400" dirty="0" smtClean="0"/>
              <a:t>...</a:t>
            </a:r>
          </a:p>
          <a:p>
            <a:pPr algn="just">
              <a:lnSpc>
                <a:spcPct val="114000"/>
              </a:lnSpc>
            </a:pPr>
            <a:endParaRPr lang="pt-BR" sz="800" dirty="0"/>
          </a:p>
          <a:p>
            <a:pPr algn="just"/>
            <a:endParaRPr lang="pt-BR" sz="8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CIC </a:t>
            </a:r>
            <a:r>
              <a:rPr lang="pt-BR" sz="2400" b="1" dirty="0">
                <a:solidFill>
                  <a:srgbClr val="FF0000"/>
                </a:solidFill>
              </a:rPr>
              <a:t>1332 </a:t>
            </a:r>
            <a:r>
              <a:rPr lang="pt-BR" sz="2400" dirty="0"/>
              <a:t>    </a:t>
            </a:r>
          </a:p>
          <a:p>
            <a:pPr algn="just">
              <a:lnSpc>
                <a:spcPct val="114000"/>
              </a:lnSpc>
            </a:pPr>
            <a:r>
              <a:rPr lang="pt-BR" sz="2400" b="1" dirty="0"/>
              <a:t>Santa Missa</a:t>
            </a:r>
            <a:r>
              <a:rPr lang="pt-BR" sz="2400" b="1" i="1" dirty="0"/>
              <a:t>,</a:t>
            </a:r>
            <a:r>
              <a:rPr lang="pt-BR" sz="2400" dirty="0"/>
              <a:t> porque a liturgia na qual se realizou o mistério da salvação termina com o envio dos fiéis (“</a:t>
            </a:r>
            <a:r>
              <a:rPr lang="pt-BR" sz="2400" dirty="0" err="1"/>
              <a:t>missio</a:t>
            </a:r>
            <a:r>
              <a:rPr lang="pt-BR" sz="2400" dirty="0"/>
              <a:t>”: missão, envio) para que cumpram a vontade de Deus em sua vida cotidiana.</a:t>
            </a:r>
          </a:p>
          <a:p>
            <a:pPr algn="just"/>
            <a:r>
              <a:rPr lang="pt-BR" sz="2400" dirty="0"/>
              <a:t> </a:t>
            </a:r>
          </a:p>
          <a:p>
            <a:pPr algn="just">
              <a:lnSpc>
                <a:spcPct val="114000"/>
              </a:lnSpc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6465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260648"/>
            <a:ext cx="8784976" cy="7241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/>
              <a:t>   </a:t>
            </a:r>
            <a:r>
              <a:rPr lang="pt-BR" sz="2600" b="1" dirty="0" smtClean="0">
                <a:solidFill>
                  <a:srgbClr val="FF0000"/>
                </a:solidFill>
              </a:rPr>
              <a:t> </a:t>
            </a:r>
            <a:r>
              <a:rPr lang="pt-BR" sz="2600" b="1" dirty="0">
                <a:solidFill>
                  <a:srgbClr val="FF0000"/>
                </a:solidFill>
              </a:rPr>
              <a:t>C</a:t>
            </a:r>
            <a:r>
              <a:rPr lang="pt-BR" sz="2600" b="1" dirty="0" smtClean="0">
                <a:solidFill>
                  <a:srgbClr val="FF0000"/>
                </a:solidFill>
              </a:rPr>
              <a:t>ONCLUINDO...</a:t>
            </a:r>
            <a:endParaRPr lang="pt-BR" sz="2400" dirty="0" smtClean="0"/>
          </a:p>
          <a:p>
            <a:pPr>
              <a:lnSpc>
                <a:spcPct val="114000"/>
              </a:lnSpc>
            </a:pPr>
            <a:r>
              <a:rPr lang="pt-BR" sz="2400" dirty="0" smtClean="0"/>
              <a:t>	A missa é o </a:t>
            </a:r>
            <a:r>
              <a:rPr lang="pt-BR" sz="2400" dirty="0"/>
              <a:t>banquete do Cordeiro Pascal que foi imolado, e que agora se dá em alimento para fortalecer a nossa fraqueza</a:t>
            </a:r>
            <a:r>
              <a:rPr lang="pt-BR" sz="2400" dirty="0" smtClean="0"/>
              <a:t>.</a:t>
            </a:r>
          </a:p>
          <a:p>
            <a:pPr>
              <a:lnSpc>
                <a:spcPct val="114000"/>
              </a:lnSpc>
            </a:pPr>
            <a:r>
              <a:rPr lang="pt-BR" sz="2400" dirty="0"/>
              <a:t>	</a:t>
            </a:r>
            <a:r>
              <a:rPr lang="pt-BR" sz="2400" dirty="0" smtClean="0"/>
              <a:t>Temos na celebração:</a:t>
            </a:r>
          </a:p>
          <a:p>
            <a:pPr marL="1257300" lvl="2" indent="-342900">
              <a:buBlip>
                <a:blip r:embed="rId3"/>
              </a:buBlip>
            </a:pPr>
            <a:r>
              <a:rPr lang="pt-BR" sz="2300" dirty="0" smtClean="0"/>
              <a:t>O ápice </a:t>
            </a:r>
            <a:r>
              <a:rPr lang="pt-BR" sz="2300" dirty="0"/>
              <a:t>da ação pela qual Deus </a:t>
            </a:r>
            <a:r>
              <a:rPr lang="pt-BR" sz="2300" dirty="0" smtClean="0"/>
              <a:t>santificou o </a:t>
            </a:r>
            <a:r>
              <a:rPr lang="pt-BR" sz="2300" dirty="0"/>
              <a:t>mundo em </a:t>
            </a:r>
            <a:r>
              <a:rPr lang="pt-BR" sz="2300" dirty="0" smtClean="0"/>
              <a:t>Cristo; </a:t>
            </a:r>
          </a:p>
          <a:p>
            <a:pPr marL="1257300" lvl="2" indent="-342900">
              <a:buBlip>
                <a:blip r:embed="rId3"/>
              </a:buBlip>
            </a:pPr>
            <a:r>
              <a:rPr lang="pt-BR" sz="2300" dirty="0" smtClean="0"/>
              <a:t>O culto </a:t>
            </a:r>
            <a:r>
              <a:rPr lang="pt-BR" sz="2300" dirty="0"/>
              <a:t>que os homens oferecem ao Pai, adorando-o pelo Cristo, Filho de Deus.</a:t>
            </a:r>
          </a:p>
          <a:p>
            <a:pPr>
              <a:lnSpc>
                <a:spcPct val="114000"/>
              </a:lnSpc>
            </a:pPr>
            <a:endParaRPr lang="pt-BR" sz="600" dirty="0"/>
          </a:p>
          <a:p>
            <a:pPr fontAlgn="base">
              <a:lnSpc>
                <a:spcPct val="114000"/>
              </a:lnSpc>
            </a:pPr>
            <a:r>
              <a:rPr lang="pt-BR" sz="2400" dirty="0" smtClean="0"/>
              <a:t>	Participando deste banquete: </a:t>
            </a:r>
          </a:p>
          <a:p>
            <a:pPr marL="1257300" lvl="2" indent="-342900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dirty="0" smtClean="0"/>
              <a:t>somos </a:t>
            </a:r>
            <a:r>
              <a:rPr lang="pt-BR" sz="2300" dirty="0"/>
              <a:t>alimentados pela Presença real de </a:t>
            </a:r>
            <a:r>
              <a:rPr lang="pt-BR" sz="2300" dirty="0" smtClean="0"/>
              <a:t>Cristo; </a:t>
            </a:r>
            <a:endParaRPr lang="pt-BR" sz="2300" dirty="0"/>
          </a:p>
          <a:p>
            <a:pPr marL="1257300" lvl="2" indent="-342900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dirty="0" smtClean="0"/>
              <a:t>nos unimos </a:t>
            </a:r>
            <a:r>
              <a:rPr lang="pt-BR" sz="2300" dirty="0"/>
              <a:t>a seu Sacrifício e </a:t>
            </a:r>
            <a:r>
              <a:rPr lang="pt-BR" sz="2300" dirty="0" smtClean="0"/>
              <a:t>a oferta </a:t>
            </a:r>
            <a:r>
              <a:rPr lang="pt-BR" sz="2300" dirty="0"/>
              <a:t>de sua Vida ao </a:t>
            </a:r>
            <a:r>
              <a:rPr lang="pt-BR" sz="2300" dirty="0" smtClean="0"/>
              <a:t>Pai.</a:t>
            </a:r>
          </a:p>
          <a:p>
            <a:pPr lvl="1" fontAlgn="base">
              <a:lnSpc>
                <a:spcPct val="114000"/>
              </a:lnSpc>
            </a:pPr>
            <a:endParaRPr lang="pt-BR" sz="600" dirty="0" smtClean="0"/>
          </a:p>
          <a:p>
            <a:pPr lvl="1" algn="just" fontAlgn="base">
              <a:lnSpc>
                <a:spcPct val="114000"/>
              </a:lnSpc>
            </a:pPr>
            <a:r>
              <a:rPr lang="pt-BR" sz="2400" i="1" dirty="0"/>
              <a:t>"Jesus é o verdadeiro Cordeiro pascal, que se ofereceu espontaneamente a si mesmo em sacrifício por nós, realizando assim a nova e eterna aliança. A Eucaristia contém nela essa novidade radical, que nos é oferecida em cada celebração." </a:t>
            </a:r>
            <a:endParaRPr lang="pt-BR" sz="2400" i="1" dirty="0" smtClean="0"/>
          </a:p>
          <a:p>
            <a:pPr lvl="1" algn="just" fontAlgn="base">
              <a:lnSpc>
                <a:spcPct val="114000"/>
              </a:lnSpc>
            </a:pPr>
            <a:r>
              <a:rPr lang="pt-BR" sz="2400" i="1" dirty="0" smtClean="0"/>
              <a:t>                 Bento XVI ( Sacramento </a:t>
            </a:r>
            <a:r>
              <a:rPr lang="pt-BR" sz="2400" i="1" dirty="0" err="1" smtClean="0"/>
              <a:t>Caritatis</a:t>
            </a:r>
            <a:r>
              <a:rPr lang="pt-BR" sz="2400" i="1" dirty="0" smtClean="0"/>
              <a:t> n.9</a:t>
            </a:r>
            <a:r>
              <a:rPr lang="pt-BR" sz="2400" i="1" dirty="0"/>
              <a:t>)</a:t>
            </a:r>
            <a:endParaRPr lang="pt-BR" sz="2400" dirty="0"/>
          </a:p>
          <a:p>
            <a:pPr marL="800100" lvl="1" indent="-342900" fontAlgn="base">
              <a:lnSpc>
                <a:spcPct val="114000"/>
              </a:lnSpc>
              <a:buBlip>
                <a:blip r:embed="rId3"/>
              </a:buBlip>
            </a:pPr>
            <a:endParaRPr lang="pt-BR" sz="2400" dirty="0" smtClean="0"/>
          </a:p>
          <a:p>
            <a:pPr lvl="1" fontAlgn="base">
              <a:lnSpc>
                <a:spcPct val="114000"/>
              </a:lnSpc>
            </a:pPr>
            <a:endParaRPr lang="pt-BR" sz="600" dirty="0"/>
          </a:p>
          <a:p>
            <a:pPr lvl="1" algn="just" fontAlgn="base"/>
            <a:endParaRPr lang="pt-BR" sz="23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19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504" y="476672"/>
            <a:ext cx="8856984" cy="5178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FF0000"/>
                </a:solidFill>
              </a:rPr>
              <a:t>FINALIDADES DA SANTA MISSA</a:t>
            </a:r>
          </a:p>
          <a:p>
            <a:endParaRPr lang="pt-BR" sz="600" dirty="0" smtClean="0"/>
          </a:p>
          <a:p>
            <a:pPr>
              <a:lnSpc>
                <a:spcPct val="114000"/>
              </a:lnSpc>
            </a:pPr>
            <a:r>
              <a:rPr lang="pt-BR" sz="2400" dirty="0" smtClean="0"/>
              <a:t>	A </a:t>
            </a:r>
            <a:r>
              <a:rPr lang="pt-BR" sz="2400" dirty="0"/>
              <a:t>Missa é simultaneamente sacrifício de louvor, de ação de graças, de propiciação e de satisfação. </a:t>
            </a:r>
            <a:r>
              <a:rPr lang="pt-BR" sz="2400" dirty="0" smtClean="0"/>
              <a:t>Têm o fim: </a:t>
            </a:r>
          </a:p>
          <a:p>
            <a:pPr marL="800100" lvl="1" indent="-342900" algn="just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b="1" dirty="0" err="1">
                <a:solidFill>
                  <a:srgbClr val="FF0000"/>
                </a:solidFill>
              </a:rPr>
              <a:t>L</a:t>
            </a:r>
            <a:r>
              <a:rPr lang="pt-BR" sz="2300" b="1" dirty="0" err="1" smtClean="0">
                <a:solidFill>
                  <a:srgbClr val="FF0000"/>
                </a:solidFill>
              </a:rPr>
              <a:t>atrêutico</a:t>
            </a:r>
            <a:r>
              <a:rPr lang="pt-BR" sz="2300" dirty="0"/>
              <a:t> </a:t>
            </a:r>
            <a:r>
              <a:rPr lang="pt-BR" sz="2300" b="1" dirty="0" smtClean="0">
                <a:solidFill>
                  <a:srgbClr val="FF0000"/>
                </a:solidFill>
              </a:rPr>
              <a:t>:</a:t>
            </a:r>
            <a:r>
              <a:rPr lang="pt-BR" sz="2300" dirty="0" smtClean="0"/>
              <a:t> </a:t>
            </a:r>
            <a:r>
              <a:rPr lang="pt-BR" sz="2300" dirty="0"/>
              <a:t>louvor a Deus </a:t>
            </a:r>
            <a:r>
              <a:rPr lang="pt-BR" sz="2300" dirty="0" smtClean="0"/>
              <a:t>em reconhecimento </a:t>
            </a:r>
            <a:r>
              <a:rPr lang="pt-BR" sz="2300" dirty="0"/>
              <a:t>da Sua Divindade; </a:t>
            </a:r>
          </a:p>
          <a:p>
            <a:pPr marL="800100" lvl="1" indent="-342900" algn="just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b="1" dirty="0" smtClean="0">
                <a:solidFill>
                  <a:srgbClr val="FF0000"/>
                </a:solidFill>
              </a:rPr>
              <a:t>Eucarístico:</a:t>
            </a:r>
            <a:r>
              <a:rPr lang="pt-BR" sz="2300" b="1" dirty="0" smtClean="0"/>
              <a:t> </a:t>
            </a:r>
            <a:r>
              <a:rPr lang="pt-BR" sz="2300" dirty="0" smtClean="0"/>
              <a:t>agradecer </a:t>
            </a:r>
            <a:r>
              <a:rPr lang="pt-BR" sz="2300" dirty="0"/>
              <a:t>a Deus por tudo o que recebemos dele – principalmente por recebermos a Ele próprio;</a:t>
            </a:r>
          </a:p>
          <a:p>
            <a:pPr marL="800100" lvl="1" indent="-342900" algn="just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b="1" dirty="0" smtClean="0">
                <a:solidFill>
                  <a:srgbClr val="FF0000"/>
                </a:solidFill>
              </a:rPr>
              <a:t>Propiciatório:</a:t>
            </a:r>
            <a:r>
              <a:rPr lang="pt-BR" sz="2300" b="1" dirty="0" smtClean="0"/>
              <a:t> </a:t>
            </a:r>
            <a:r>
              <a:rPr lang="pt-BR" sz="2300" dirty="0" smtClean="0"/>
              <a:t>reparar </a:t>
            </a:r>
            <a:r>
              <a:rPr lang="pt-BR" sz="2300" dirty="0"/>
              <a:t>o sofrimento que causamos a Deus quando, com nossos pecados, nos afastamos voluntariamente do Seu Amor;</a:t>
            </a:r>
            <a:endParaRPr lang="pt-BR" sz="2300" b="1" dirty="0"/>
          </a:p>
          <a:p>
            <a:pPr marL="800100" lvl="1" indent="-342900" algn="just" fontAlgn="base">
              <a:lnSpc>
                <a:spcPct val="114000"/>
              </a:lnSpc>
              <a:buBlip>
                <a:blip r:embed="rId3"/>
              </a:buBlip>
            </a:pPr>
            <a:r>
              <a:rPr lang="pt-BR" sz="2300" b="1" dirty="0" err="1" smtClean="0">
                <a:solidFill>
                  <a:srgbClr val="FF0000"/>
                </a:solidFill>
              </a:rPr>
              <a:t>Impetratório</a:t>
            </a:r>
            <a:r>
              <a:rPr lang="pt-BR" sz="2300" b="1" dirty="0" smtClean="0">
                <a:solidFill>
                  <a:srgbClr val="FF0000"/>
                </a:solidFill>
              </a:rPr>
              <a:t>: </a:t>
            </a:r>
            <a:r>
              <a:rPr lang="pt-BR" sz="2300" dirty="0"/>
              <a:t>unidos a Cristo e </a:t>
            </a:r>
            <a:r>
              <a:rPr lang="pt-BR" sz="2300" dirty="0" smtClean="0"/>
              <a:t>à </a:t>
            </a:r>
            <a:r>
              <a:rPr lang="pt-BR" sz="2300" dirty="0"/>
              <a:t>Igreja rogamos a Deus e lhe apresentamos as nossas súplicas e </a:t>
            </a:r>
            <a:r>
              <a:rPr lang="pt-BR" sz="2300" dirty="0" smtClean="0"/>
              <a:t>preces.</a:t>
            </a:r>
            <a:r>
              <a:rPr lang="pt-BR" sz="2300" dirty="0"/>
              <a:t> </a:t>
            </a:r>
          </a:p>
          <a:p>
            <a:endParaRPr lang="pt-BR" sz="2400" dirty="0"/>
          </a:p>
        </p:txBody>
      </p:sp>
      <p:sp>
        <p:nvSpPr>
          <p:cNvPr id="3" name="Retângulo 2"/>
          <p:cNvSpPr/>
          <p:nvPr/>
        </p:nvSpPr>
        <p:spPr>
          <a:xfrm>
            <a:off x="395536" y="5157192"/>
            <a:ext cx="8568952" cy="1888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pt-BR" sz="2300" b="1" dirty="0">
                <a:solidFill>
                  <a:srgbClr val="FF0000"/>
                </a:solidFill>
              </a:rPr>
              <a:t>“Nosso Senhor nos concede tudo o que lhe pedimos na Santa Missa: o que mais vale é que nos dá ainda o que nem se quer cogitamos pedir-lhe e que, entretanto, nos é necessário.” </a:t>
            </a:r>
          </a:p>
          <a:p>
            <a:pPr algn="just" fontAlgn="base"/>
            <a:r>
              <a:rPr lang="pt-BR" sz="2300" b="1" dirty="0">
                <a:solidFill>
                  <a:srgbClr val="FF0000"/>
                </a:solidFill>
              </a:rPr>
              <a:t>                     (S. Jerônimo).</a:t>
            </a:r>
          </a:p>
          <a:p>
            <a:pPr marL="800100" lvl="1" indent="-342900">
              <a:lnSpc>
                <a:spcPct val="114000"/>
              </a:lnSpc>
              <a:buBlip>
                <a:blip r:embed="rId3"/>
              </a:buBlip>
            </a:pPr>
            <a:endParaRPr lang="pt-BR" sz="23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7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-8188025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b="1" dirty="0" smtClean="0"/>
              <a:t>2</a:t>
            </a:r>
            <a:r>
              <a:rPr lang="pt-BR" b="1" dirty="0"/>
              <a:t>. A missa é sacrifício</a:t>
            </a:r>
            <a:endParaRPr lang="pt-BR" dirty="0"/>
          </a:p>
          <a:p>
            <a:pPr fontAlgn="base"/>
            <a:r>
              <a:rPr lang="pt-BR" dirty="0"/>
              <a:t>Sacrifício é uma palavra que possui a mesma raiz grega da palavra sacerdócio, que do latim temos </a:t>
            </a:r>
            <a:r>
              <a:rPr lang="pt-BR" dirty="0" err="1"/>
              <a:t>sacer</a:t>
            </a:r>
            <a:r>
              <a:rPr lang="pt-BR" dirty="0"/>
              <a:t>-dos, o dom sagrado. O dom sagrado do homem é a vida, pois esta vem de Deus. Por natureza o homem é um sacerdote. Perdeu esta condição por causa do pecado. Sacrifício, então, significa o que é feito sagrado. O homem torna sua vida sagrada quando reconhece que esta é dom de Deus. Jesus Cristo faz justamente isso: na condição de homem reconhece-se como criatura e se entrega totalmente ao Pai, não poupando nem sua própria vida. Jesus nesse momento está representando toda a humanidade. Através de sua morte na cruz dá a chance aos homens e às mulheres de novamente orientarem suas vidas ao Pai assumindo assim sua condição de sacerdotes e sacerdotisas.</a:t>
            </a:r>
            <a:br>
              <a:rPr lang="pt-BR" dirty="0"/>
            </a:br>
            <a:r>
              <a:rPr lang="pt-BR" dirty="0"/>
              <a:t>Com isso queremos tirar aquela visão negativa de que sacrifício é algo que representa a morte e a dor. Estas coisas são necessárias dentro do mistério da salvação, pois só assim o homem pode reconhecer sua fraqueza e sua condição de criatura.</a:t>
            </a:r>
          </a:p>
          <a:p>
            <a:pPr fontAlgn="base"/>
            <a:r>
              <a:rPr lang="pt-BR" b="1" dirty="0"/>
              <a:t>3. A Missa também é Páscoa</a:t>
            </a:r>
            <a:endParaRPr lang="pt-BR" dirty="0"/>
          </a:p>
          <a:p>
            <a:pPr fontAlgn="base"/>
            <a:r>
              <a:rPr lang="pt-BR" dirty="0"/>
              <a:t>A Páscoa foi a passagem da escravidão do Egito para a liberdade, bem como a aliança selada no monte Sinai entre Deus e o povo hebreu. E diante desses fatos o povo hebreu sempre celebrou essa passagem, através da Páscoa anual, das celebrações da Palavra aos sábados, na sinagoga e diariamente, antes de levantar-se e deitar-se, reconhecendo a experiência de Deus em suas vidas e louvando a Deus pelas experiências pascais vividas ao longo do dia. O povo judeu vivia em atitude de ação de graças, vivendo a todo instante a Páscoa em suas vidas.</a:t>
            </a:r>
          </a:p>
          <a:p>
            <a:endParaRPr lang="pt-BR" b="1" dirty="0"/>
          </a:p>
        </p:txBody>
      </p:sp>
      <p:sp>
        <p:nvSpPr>
          <p:cNvPr id="3" name="Retângulo 2"/>
          <p:cNvSpPr/>
          <p:nvPr/>
        </p:nvSpPr>
        <p:spPr>
          <a:xfrm>
            <a:off x="73742" y="1511493"/>
            <a:ext cx="878497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endParaRPr lang="pt-BR" sz="2800" dirty="0" smtClean="0"/>
          </a:p>
          <a:p>
            <a:pPr lvl="1" algn="just" fontAlgn="base"/>
            <a:endParaRPr lang="pt-BR" sz="2800" dirty="0" smtClean="0"/>
          </a:p>
          <a:p>
            <a:pPr lvl="1" algn="just" fontAlgn="base"/>
            <a:endParaRPr lang="pt-BR" sz="2800" dirty="0"/>
          </a:p>
          <a:p>
            <a:pPr lvl="1" algn="just" fontAlgn="base"/>
            <a:endParaRPr lang="pt-BR" sz="2800" dirty="0" smtClean="0"/>
          </a:p>
          <a:p>
            <a:pPr lvl="1" algn="just" fontAlgn="base"/>
            <a:endParaRPr lang="pt-BR" sz="2800" dirty="0"/>
          </a:p>
          <a:p>
            <a:pPr lvl="1" algn="just" fontAlgn="base"/>
            <a:endParaRPr lang="pt-BR" sz="2800" dirty="0" smtClean="0"/>
          </a:p>
          <a:p>
            <a:pPr lvl="1" algn="just" fontAlgn="base"/>
            <a:endParaRPr lang="pt-BR" sz="2800" dirty="0"/>
          </a:p>
          <a:p>
            <a:pPr lvl="1" algn="just" fontAlgn="base"/>
            <a:endParaRPr lang="pt-BR" sz="2800" dirty="0" smtClean="0"/>
          </a:p>
          <a:p>
            <a:pPr lvl="1" algn="ctr" fontAlgn="base"/>
            <a:r>
              <a:rPr lang="pt-BR" sz="2400" b="1" dirty="0" smtClean="0">
                <a:solidFill>
                  <a:srgbClr val="FF0000"/>
                </a:solidFill>
              </a:rPr>
              <a:t>“</a:t>
            </a:r>
            <a:r>
              <a:rPr lang="pt-BR" sz="2400" b="1" dirty="0">
                <a:solidFill>
                  <a:srgbClr val="FF0000"/>
                </a:solidFill>
              </a:rPr>
              <a:t>Fica sabendo, ó cristão, que mais merece ouvir devotamente uma só missa do que </a:t>
            </a:r>
            <a:r>
              <a:rPr lang="pt-BR" sz="2400" b="1" dirty="0" smtClean="0">
                <a:solidFill>
                  <a:srgbClr val="FF0000"/>
                </a:solidFill>
              </a:rPr>
              <a:t> </a:t>
            </a:r>
            <a:r>
              <a:rPr lang="pt-BR" sz="2400" b="1" dirty="0">
                <a:solidFill>
                  <a:srgbClr val="FF0000"/>
                </a:solidFill>
              </a:rPr>
              <a:t>distribuir todas as riquezas aos pobres e peregrinar toda a terra.” </a:t>
            </a:r>
            <a:endParaRPr lang="pt-BR" sz="2400" b="1" dirty="0" smtClean="0">
              <a:solidFill>
                <a:srgbClr val="FF0000"/>
              </a:solidFill>
            </a:endParaRPr>
          </a:p>
          <a:p>
            <a:pPr lvl="1" algn="ctr" fontAlgn="base"/>
            <a:r>
              <a:rPr lang="pt-BR" sz="2400" b="1" dirty="0" smtClean="0">
                <a:solidFill>
                  <a:srgbClr val="FF0000"/>
                </a:solidFill>
              </a:rPr>
              <a:t>                      (</a:t>
            </a:r>
            <a:r>
              <a:rPr lang="pt-BR" sz="2400" b="1" dirty="0">
                <a:solidFill>
                  <a:srgbClr val="FF0000"/>
                </a:solidFill>
              </a:rPr>
              <a:t>S. Bernardo</a:t>
            </a:r>
            <a:r>
              <a:rPr lang="pt-BR" sz="2400" b="1" dirty="0" smtClean="0">
                <a:solidFill>
                  <a:srgbClr val="FF0000"/>
                </a:solidFill>
              </a:rPr>
              <a:t>).</a:t>
            </a:r>
          </a:p>
          <a:p>
            <a:pPr lvl="1" algn="ctr" fontAlgn="base"/>
            <a:endParaRPr lang="pt-BR" sz="2400" b="1" dirty="0">
              <a:solidFill>
                <a:srgbClr val="FF0000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3742" y="188640"/>
            <a:ext cx="89627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</a:rPr>
              <a:t>A CELEBRAÇÃO LITÚRGICA DA EUCARISTIA</a:t>
            </a:r>
            <a:endParaRPr lang="pt-BR" sz="2800" dirty="0">
              <a:solidFill>
                <a:srgbClr val="FF0000"/>
              </a:solidFill>
            </a:endParaRPr>
          </a:p>
        </p:txBody>
      </p:sp>
      <p:pic>
        <p:nvPicPr>
          <p:cNvPr id="6" name="Imagem 5" descr="Resultado de imagem para MistÃ©rio Pascal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t="4190" r="3064" b="3835"/>
          <a:stretch/>
        </p:blipFill>
        <p:spPr bwMode="auto">
          <a:xfrm>
            <a:off x="1619672" y="692696"/>
            <a:ext cx="5760640" cy="4248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8249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404664"/>
            <a:ext cx="8280920" cy="6460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pt-BR" dirty="0" smtClean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	</a:t>
            </a:r>
            <a:r>
              <a:rPr lang="pt-BR" sz="2800" b="1" dirty="0" smtClean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O QUE CELEBRAMOS?</a:t>
            </a:r>
          </a:p>
          <a:p>
            <a:pPr algn="just">
              <a:lnSpc>
                <a:spcPct val="114000"/>
              </a:lnSpc>
            </a:pPr>
            <a:r>
              <a:rPr lang="pt-BR" sz="2800" b="1" dirty="0">
                <a:solidFill>
                  <a:srgbClr val="FF0000"/>
                </a:solidFill>
              </a:rPr>
              <a:t>CIC 1382.</a:t>
            </a:r>
            <a:r>
              <a:rPr lang="pt-BR" sz="2800" dirty="0">
                <a:solidFill>
                  <a:srgbClr val="FF0000"/>
                </a:solidFill>
              </a:rPr>
              <a:t> </a:t>
            </a:r>
            <a:r>
              <a:rPr lang="pt-BR" sz="2800" dirty="0"/>
              <a:t>A Missa é, ao mesmo tempo e inseparavelmente, o memorial sacrificial em que se perpetua o sacrifício da cruz e o banquete sagrado da comunhão do corpo e sangue do Senhor. </a:t>
            </a:r>
          </a:p>
          <a:p>
            <a:pPr algn="just">
              <a:lnSpc>
                <a:spcPct val="114000"/>
              </a:lnSpc>
            </a:pPr>
            <a:endParaRPr lang="pt-BR" sz="7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endParaRPr lang="pt-BR" sz="600" b="1" dirty="0" smtClean="0">
              <a:solidFill>
                <a:srgbClr val="FF0000"/>
              </a:solidFill>
              <a:latin typeface="Calibri" pitchFamily="34" charset="0"/>
              <a:ea typeface="Calibri" pitchFamily="34" charset="0"/>
              <a:cs typeface="Arial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800" dirty="0" smtClean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Celebramos </a:t>
            </a:r>
            <a:r>
              <a:rPr lang="pt-BR" sz="2800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o mistério da nossa fé e salvação em Cristo Jesus</a:t>
            </a:r>
            <a:r>
              <a:rPr lang="pt-BR" sz="2800" dirty="0" smtClean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pt-BR" sz="600" dirty="0" smtClean="0">
              <a:solidFill>
                <a:srgbClr val="000000"/>
              </a:solidFill>
              <a:latin typeface="Calibri" pitchFamily="34" charset="0"/>
              <a:ea typeface="Calibri" pitchFamily="34" charset="0"/>
              <a:cs typeface="Arial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800" dirty="0" smtClean="0">
                <a:latin typeface="Calibri" pitchFamily="34" charset="0"/>
              </a:rPr>
              <a:t>Encontro </a:t>
            </a:r>
            <a:r>
              <a:rPr lang="pt-BR" sz="2800" dirty="0">
                <a:latin typeface="Calibri" pitchFamily="34" charset="0"/>
              </a:rPr>
              <a:t>vivo de Deus com seu povo</a:t>
            </a:r>
            <a:r>
              <a:rPr lang="pt-BR" sz="2800" dirty="0" smtClean="0">
                <a:latin typeface="Calibri" pitchFamily="34" charset="0"/>
              </a:rPr>
              <a:t>;</a:t>
            </a:r>
          </a:p>
          <a:p>
            <a:pPr algn="just">
              <a:lnSpc>
                <a:spcPct val="114000"/>
              </a:lnSpc>
            </a:pPr>
            <a:endParaRPr lang="pt-BR" sz="600" dirty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Ação da Igreja, por meio da participação e da vocação missionária</a:t>
            </a:r>
            <a:r>
              <a:rPr lang="pt-BR" sz="2800" dirty="0" smtClean="0">
                <a:latin typeface="Calibri" pitchFamily="34" charset="0"/>
              </a:rPr>
              <a:t>;</a:t>
            </a:r>
          </a:p>
          <a:p>
            <a:pPr algn="just">
              <a:lnSpc>
                <a:spcPct val="114000"/>
              </a:lnSpc>
            </a:pPr>
            <a:endParaRPr lang="pt-BR" sz="600" dirty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Resposta da humanidade a Deus</a:t>
            </a:r>
            <a:r>
              <a:rPr lang="pt-BR" sz="2800" dirty="0" smtClean="0">
                <a:latin typeface="Calibri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pt-BR" sz="2400" dirty="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8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188640"/>
            <a:ext cx="8856984" cy="6337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pt-BR" sz="2800" b="1" dirty="0" smtClean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O QUE É MISTÉRIO?</a:t>
            </a:r>
            <a:endParaRPr lang="pt-BR" sz="2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Mistério não é problema a ser resolvido nem enigma a ser decifrado.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Mistério é uma realidade que nos seduz e que quanto mais conhecemos, mais somos atraído a conhecê-lo; exige mergulho sabendo que continuará sendo mistério.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Na liturgia se conhece escutando, dizendo, vendo, tocando.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Os sentidos são um caminho para o sentido.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pt-BR" sz="2400" dirty="0" smtClean="0">
                <a:latin typeface="Calibri" pitchFamily="34" charset="0"/>
              </a:rPr>
              <a:t>	O homem é um ser: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Corporal: necessita do visível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Espiritual: necessita de sentido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Social: necessita da relação com o outro</a:t>
            </a:r>
          </a:p>
          <a:p>
            <a:pPr lvl="1"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/>
              <a:t>Não há vida litúrgica sem o conhecimento do mistério </a:t>
            </a:r>
            <a:r>
              <a:rPr lang="pt-BR" sz="2400" dirty="0" smtClean="0"/>
              <a:t>celebrado.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4350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548680"/>
            <a:ext cx="8568952" cy="10382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b="1" dirty="0" smtClean="0">
                <a:solidFill>
                  <a:srgbClr val="FF0000"/>
                </a:solidFill>
                <a:latin typeface="Calibri" pitchFamily="34" charset="0"/>
              </a:rPr>
              <a:t>COMO CELEBRAMOS?</a:t>
            </a:r>
          </a:p>
          <a:p>
            <a:pPr algn="ctr"/>
            <a:endParaRPr lang="pt-BR" sz="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>
                <a:solidFill>
                  <a:srgbClr val="FF0000"/>
                </a:solidFill>
              </a:rPr>
              <a:t>1341.</a:t>
            </a:r>
            <a:r>
              <a:rPr lang="pt-BR" sz="2400" dirty="0"/>
              <a:t> Ao ordenar que repetissem os seus gestos e palavras, «até que Ele venha» (</a:t>
            </a:r>
            <a:r>
              <a:rPr lang="pt-BR" sz="2400" i="1" dirty="0"/>
              <a:t>1 Cor</a:t>
            </a:r>
            <a:r>
              <a:rPr lang="pt-BR" sz="2400" dirty="0"/>
              <a:t> 11, 26), Jesus não pede somente que se lembrem d'Ele e do que Ele fez. Tem em vista: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/>
              <a:t> a celebração litúrgica, pelos apóstolos e seus sucessores;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/>
              <a:t> do memorial de Cristo, da sua vida, morte, ressurreição;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/>
              <a:t> e da sua intercessão junto do Pai.</a:t>
            </a:r>
          </a:p>
          <a:p>
            <a:pPr lvl="1" algn="just">
              <a:lnSpc>
                <a:spcPct val="114000"/>
              </a:lnSpc>
            </a:pPr>
            <a:endParaRPr lang="pt-BR" sz="600" dirty="0"/>
          </a:p>
          <a:p>
            <a:pPr lvl="1" algn="just">
              <a:lnSpc>
                <a:spcPct val="114000"/>
              </a:lnSpc>
            </a:pPr>
            <a:endParaRPr lang="pt-BR" sz="600" dirty="0"/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A ação litúrgica fala mais do mistério nos gestos, nos ritos, nos símbolos, nas ações do que nas palavras.</a:t>
            </a:r>
          </a:p>
          <a:p>
            <a:pPr marL="171450" indent="-171450" algn="just">
              <a:lnSpc>
                <a:spcPct val="114000"/>
              </a:lnSpc>
              <a:buBlip>
                <a:blip r:embed="rId2"/>
              </a:buBlip>
            </a:pPr>
            <a:endParaRPr lang="pt-BR" sz="800" dirty="0" smtClean="0"/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/>
              <a:t>O mistério experimenta-se antes no silêncio da celebração do que na abundância de falas.</a:t>
            </a:r>
            <a:endParaRPr lang="pt-BR" sz="2400" dirty="0"/>
          </a:p>
          <a:p>
            <a:pPr algn="just">
              <a:lnSpc>
                <a:spcPct val="114000"/>
              </a:lnSpc>
            </a:pPr>
            <a:r>
              <a:rPr lang="pt-BR" sz="2400" dirty="0">
                <a:solidFill>
                  <a:srgbClr val="000000"/>
                </a:solidFill>
                <a:latin typeface="Calibri" pitchFamily="34" charset="0"/>
                <a:ea typeface="Calibri" pitchFamily="34" charset="0"/>
                <a:cs typeface="Arial" charset="0"/>
              </a:rPr>
              <a:t>	</a:t>
            </a:r>
            <a:endParaRPr lang="pt-BR" sz="2400" dirty="0"/>
          </a:p>
          <a:p>
            <a:pPr algn="ctr"/>
            <a:endParaRPr lang="pt-BR" sz="26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pt-BR" sz="26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algn="just"/>
            <a:endParaRPr lang="pt-BR" sz="26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>
              <a:buFont typeface="Wingdings" pitchFamily="2" charset="2"/>
              <a:buNone/>
            </a:pPr>
            <a:r>
              <a:rPr lang="pt-BR" dirty="0">
                <a:latin typeface="Calibri" pitchFamily="34" charset="0"/>
              </a:rPr>
              <a:t>D</a:t>
            </a:r>
            <a:r>
              <a:rPr lang="pt-BR" dirty="0" smtClean="0">
                <a:latin typeface="Calibri" pitchFamily="34" charset="0"/>
              </a:rPr>
              <a:t>imensões </a:t>
            </a:r>
            <a:r>
              <a:rPr lang="pt-BR" dirty="0">
                <a:latin typeface="Calibri" pitchFamily="34" charset="0"/>
              </a:rPr>
              <a:t>da celebração:</a:t>
            </a:r>
          </a:p>
          <a:p>
            <a:pPr marL="285750" indent="-285750">
              <a:buBlip>
                <a:blip r:embed="rId2"/>
              </a:buBlip>
            </a:pPr>
            <a:r>
              <a:rPr lang="pt-BR" dirty="0">
                <a:latin typeface="Calibri" pitchFamily="34" charset="0"/>
              </a:rPr>
              <a:t>Glorificação de Deus.</a:t>
            </a:r>
          </a:p>
          <a:p>
            <a:pPr marL="285750" indent="-285750">
              <a:buBlip>
                <a:blip r:embed="rId2"/>
              </a:buBlip>
            </a:pPr>
            <a:r>
              <a:rPr lang="pt-BR" dirty="0">
                <a:latin typeface="Calibri" pitchFamily="34" charset="0"/>
              </a:rPr>
              <a:t>Santificação dos homens.</a:t>
            </a:r>
          </a:p>
          <a:p>
            <a:r>
              <a:rPr lang="pt-BR" dirty="0">
                <a:latin typeface="Calibri" pitchFamily="34" charset="0"/>
              </a:rPr>
              <a:t>Nos comunicamos por meio dos ritos, palavras, silêncio, gestos, objetos</a:t>
            </a:r>
            <a:r>
              <a:rPr lang="pt-BR" dirty="0" smtClean="0">
                <a:latin typeface="Calibri" pitchFamily="34" charset="0"/>
              </a:rPr>
              <a:t>...</a:t>
            </a: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dirty="0">
                <a:latin typeface="Calibri" pitchFamily="34" charset="0"/>
              </a:rPr>
              <a:t>Conhecer Cristo através da Liturgia, para que o próprio Cristo seja o princípio do conhecimento e de interpretação da liturgia.</a:t>
            </a: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endParaRPr lang="pt-BR" dirty="0"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endParaRPr lang="pt-BR" sz="1600" dirty="0">
              <a:solidFill>
                <a:srgbClr val="000000"/>
              </a:solidFill>
              <a:latin typeface="Calibri" pitchFamily="34" charset="0"/>
              <a:ea typeface="Calibri" pitchFamily="34" charset="0"/>
              <a:cs typeface="Arial" charset="0"/>
            </a:endParaRPr>
          </a:p>
          <a:p>
            <a:endParaRPr lang="pt-BR" dirty="0">
              <a:latin typeface="Calibri" pitchFamily="34" charset="0"/>
            </a:endParaRPr>
          </a:p>
          <a:p>
            <a:endParaRPr lang="pt-BR" dirty="0">
              <a:latin typeface="Calibri" pitchFamily="34" charset="0"/>
            </a:endParaRPr>
          </a:p>
          <a:p>
            <a:pPr algn="just"/>
            <a:endParaRPr lang="pt-BR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0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67544" y="620688"/>
            <a:ext cx="8352928" cy="597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800" b="1" dirty="0" smtClean="0">
                <a:solidFill>
                  <a:srgbClr val="FF0000"/>
                </a:solidFill>
                <a:latin typeface="Calibri" pitchFamily="34" charset="0"/>
              </a:rPr>
              <a:t>O QUE SÃO SÍMBOLOS?</a:t>
            </a:r>
          </a:p>
          <a:p>
            <a:pPr algn="ctr"/>
            <a:endParaRPr lang="pt-BR" sz="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Sinal sensível que contém, oculta, revela e comunica ao mesmo tempo, o mistério;</a:t>
            </a:r>
          </a:p>
          <a:p>
            <a:pPr marL="1371600" lvl="2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Sinal aponta para uma realidade fora de si mesmo. </a:t>
            </a:r>
            <a:r>
              <a:rPr lang="pt-BR" sz="2400" dirty="0" err="1" smtClean="0">
                <a:latin typeface="Calibri" pitchFamily="34" charset="0"/>
              </a:rPr>
              <a:t>Ex</a:t>
            </a:r>
            <a:r>
              <a:rPr lang="pt-BR" sz="2400" dirty="0" smtClean="0">
                <a:latin typeface="Calibri" pitchFamily="34" charset="0"/>
              </a:rPr>
              <a:t>: FUMAÇA (FOGO)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É a linguagem ou a comunicação do mistério;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Presença </a:t>
            </a:r>
            <a:r>
              <a:rPr lang="pt-BR" sz="2400" dirty="0">
                <a:latin typeface="Calibri" pitchFamily="34" charset="0"/>
              </a:rPr>
              <a:t>da realidade em outra forma</a:t>
            </a:r>
            <a:r>
              <a:rPr lang="pt-BR" sz="2400" dirty="0" smtClean="0">
                <a:latin typeface="Calibri" pitchFamily="34" charset="0"/>
              </a:rPr>
              <a:t>;</a:t>
            </a:r>
          </a:p>
          <a:p>
            <a:pPr algn="just">
              <a:lnSpc>
                <a:spcPct val="114000"/>
              </a:lnSpc>
            </a:pPr>
            <a:endParaRPr lang="pt-BR" sz="800" dirty="0"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>
                <a:latin typeface="Calibri" pitchFamily="34" charset="0"/>
              </a:rPr>
              <a:t>Encontro de duas realidades numa só</a:t>
            </a:r>
            <a:r>
              <a:rPr lang="pt-BR" sz="2400" dirty="0" smtClean="0">
                <a:latin typeface="Calibri" pitchFamily="34" charset="0"/>
              </a:rPr>
              <a:t>;</a:t>
            </a:r>
          </a:p>
          <a:p>
            <a:pPr algn="just">
              <a:lnSpc>
                <a:spcPct val="114000"/>
              </a:lnSpc>
            </a:pPr>
            <a:endParaRPr lang="pt-BR" sz="800" dirty="0"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 Comunicam </a:t>
            </a:r>
            <a:r>
              <a:rPr lang="pt-BR" sz="2400" dirty="0">
                <a:latin typeface="Calibri" pitchFamily="34" charset="0"/>
              </a:rPr>
              <a:t>a realidade sempre de forma nova, do que está acontecendo em nós e por nós</a:t>
            </a:r>
            <a:r>
              <a:rPr lang="pt-BR" sz="2400" dirty="0" smtClean="0">
                <a:latin typeface="Calibri" pitchFamily="34" charset="0"/>
              </a:rPr>
              <a:t>.</a:t>
            </a:r>
          </a:p>
          <a:p>
            <a:pPr algn="just">
              <a:lnSpc>
                <a:spcPct val="114000"/>
              </a:lnSpc>
            </a:pPr>
            <a:endParaRPr lang="pt-BR" sz="800" dirty="0">
              <a:latin typeface="Calibri" pitchFamily="34" charset="0"/>
            </a:endParaRPr>
          </a:p>
          <a:p>
            <a:pPr marL="457200" indent="-4572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>
                <a:latin typeface="Calibri" pitchFamily="34" charset="0"/>
              </a:rPr>
              <a:t>Pode  ser um local, uma expressão corporal, um gesto, movimento, objeto...</a:t>
            </a:r>
          </a:p>
        </p:txBody>
      </p:sp>
    </p:spTree>
    <p:extLst>
      <p:ext uri="{BB962C8B-B14F-4D97-AF65-F5344CB8AC3E}">
        <p14:creationId xmlns:p14="http://schemas.microsoft.com/office/powerpoint/2010/main" val="360468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19887"/>
              </p:ext>
            </p:extLst>
          </p:nvPr>
        </p:nvGraphicFramePr>
        <p:xfrm>
          <a:off x="179512" y="322233"/>
          <a:ext cx="8784976" cy="6207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92488"/>
                <a:gridCol w="4392488"/>
              </a:tblGrid>
              <a:tr h="359769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200" b="1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OS SINAIS DO PÃO E DO VINHO</a:t>
                      </a:r>
                      <a:endParaRPr lang="pt-BR" sz="22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73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 gesto de </a:t>
                      </a:r>
                      <a:r>
                        <a:rPr lang="pt-BR" sz="2000" b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Melquisedec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prefiguração da própria oferta de Cristo.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98118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i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Melquisedec</a:t>
                      </a:r>
                      <a:r>
                        <a:rPr lang="pt-BR" sz="2000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oferece as primícias da terra</a:t>
                      </a:r>
                      <a:r>
                        <a:rPr lang="pt-BR" sz="2000" b="0" i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em</a:t>
                      </a:r>
                      <a:r>
                        <a:rPr lang="pt-BR" sz="2000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reconhecimento ao Criador.</a:t>
                      </a:r>
                      <a:r>
                        <a:rPr lang="pt-BR" sz="2000" b="0" i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</a:t>
                      </a:r>
                      <a:r>
                        <a:rPr lang="pt-BR" sz="2000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pt-BR" sz="2000" b="0" i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Gn</a:t>
                      </a:r>
                      <a:r>
                        <a:rPr lang="pt-BR" sz="2000" b="0" i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14,18)</a:t>
                      </a:r>
                      <a:endParaRPr lang="pt-BR" sz="20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effectLst/>
                          <a:latin typeface="+mn-lt"/>
                        </a:rPr>
                        <a:t>Jesus ao instituir a Eucaristia dá sentido novo e definitivo à bênção do Pão e do Cálice.</a:t>
                      </a:r>
                      <a:endParaRPr lang="pt-BR" sz="2000" dirty="0"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270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r>
                        <a:rPr lang="pt-BR" sz="2000" b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AT</a:t>
                      </a:r>
                      <a:endParaRPr lang="pt-BR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NT</a:t>
                      </a:r>
                      <a:endParaRPr lang="pt-BR" sz="20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bg1"/>
                    </a:solidFill>
                  </a:tcPr>
                </a:tc>
              </a:tr>
              <a:tr h="106997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 Maná: alimento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descido do céu, substituía todos os alimentos, tendo nele todos os sabores. </a:t>
                      </a:r>
                      <a:r>
                        <a:rPr lang="pt-BR" sz="2000" b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16,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4-36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0346" marR="6034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Multiplicação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dos Pães: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Superabundância do único pão de Sua Eucaristia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pt-BR" sz="2000" b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lang="pt-BR" sz="2000" b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6)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163531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 “Cálice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 bênção” (1Cor 10,16),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acrescenta à alegria festiva do vinho uma dimensão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escatológica:</a:t>
                      </a:r>
                      <a:r>
                        <a:rPr lang="pt-BR" sz="2000" b="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espera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messiânica do restabelecimento de Jerusalém.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    Água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transformada em Vinho: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Manifesta a realização da ceia das bodas no Reino do Pai, onde os fiéis beberão o vinho novo, transformado no Sangue de Cristo.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439078">
                <a:tc gridSpan="2">
                  <a:txBody>
                    <a:bodyPr/>
                    <a:lstStyle/>
                    <a:p>
                      <a:pPr marL="342900" indent="-342900" algn="just">
                        <a:spcAft>
                          <a:spcPts val="0"/>
                        </a:spcAft>
                        <a:buFontTx/>
                        <a:buBlip>
                          <a:blip r:embed="rId2"/>
                        </a:buBlip>
                      </a:pP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Eucaristia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é o pão por excelência: basta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para todas as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necessidades da alma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Tx/>
                        <a:buNone/>
                      </a:pPr>
                      <a:endParaRPr lang="pt-BR" sz="8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342900" indent="-342900" algn="just">
                        <a:spcAft>
                          <a:spcPts val="0"/>
                        </a:spcAft>
                        <a:buFontTx/>
                        <a:buBlip>
                          <a:blip r:embed="rId2"/>
                        </a:buBlip>
                      </a:pP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 maná durou até que os hebreus entrassem na terra prometida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</a:t>
                      </a:r>
                    </a:p>
                    <a:p>
                      <a:pPr marL="0" indent="0" algn="just">
                        <a:spcAft>
                          <a:spcPts val="0"/>
                        </a:spcAft>
                        <a:buFontTx/>
                        <a:buNone/>
                      </a:pPr>
                      <a:endParaRPr lang="pt-BR" sz="800" b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342900" indent="-342900" algn="just">
                        <a:spcAft>
                          <a:spcPts val="0"/>
                        </a:spcAft>
                        <a:buFontTx/>
                        <a:buBlip>
                          <a:blip r:embed="rId2"/>
                        </a:buBlip>
                      </a:pP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 Santa Eucaristia </a:t>
                      </a:r>
                      <a:r>
                        <a:rPr lang="pt-BR" sz="2000" b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até </a:t>
                      </a:r>
                      <a:r>
                        <a:rPr lang="pt-BR" sz="20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que entremos no céu, onde veremos face à face o Deus que recebemos, no Sacramento, sob o véu de pão.</a:t>
                      </a:r>
                      <a:endParaRPr lang="pt-BR" sz="20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/>
                      </a:endParaRPr>
                    </a:p>
                  </a:txBody>
                  <a:tcPr marL="60346" marR="60346"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309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79512" y="332656"/>
            <a:ext cx="8856984" cy="768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600" b="1" dirty="0" smtClean="0">
                <a:solidFill>
                  <a:srgbClr val="FF0000"/>
                </a:solidFill>
                <a:latin typeface="Calibri" pitchFamily="34" charset="0"/>
              </a:rPr>
              <a:t>O QUE SÃO RITOS?</a:t>
            </a:r>
          </a:p>
          <a:p>
            <a:pPr algn="ctr"/>
            <a:endParaRPr lang="pt-BR" sz="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São a expressão externa, sensível dos mistérios celebrados na fé;</a:t>
            </a:r>
          </a:p>
          <a:p>
            <a:pPr algn="ctr"/>
            <a:endParaRPr lang="pt-BR" sz="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Forma </a:t>
            </a:r>
            <a:r>
              <a:rPr lang="pt-BR" sz="2400" dirty="0">
                <a:latin typeface="Calibri" pitchFamily="34" charset="0"/>
              </a:rPr>
              <a:t>pelas quais a ação se desenvolve</a:t>
            </a:r>
            <a:r>
              <a:rPr lang="pt-BR" sz="2400" dirty="0" smtClean="0">
                <a:latin typeface="Calibri" pitchFamily="34" charset="0"/>
              </a:rPr>
              <a:t>;</a:t>
            </a:r>
          </a:p>
          <a:p>
            <a:pPr algn="just">
              <a:lnSpc>
                <a:spcPct val="114000"/>
              </a:lnSpc>
            </a:pPr>
            <a:endParaRPr lang="pt-BR" sz="800" dirty="0" smtClean="0">
              <a:latin typeface="Calibri" pitchFamily="34" charset="0"/>
            </a:endParaRPr>
          </a:p>
          <a:p>
            <a:pPr marL="342900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dirty="0" smtClean="0">
                <a:latin typeface="Calibri" pitchFamily="34" charset="0"/>
              </a:rPr>
              <a:t>Constituem-se como elemento componente da Liturgia terrena, que evocam o fato valorizado e, evocando-o na imitação do mesmo ato, tornam os eventos </a:t>
            </a:r>
            <a:r>
              <a:rPr lang="pt-BR" sz="2400" dirty="0" err="1" smtClean="0">
                <a:latin typeface="Calibri" pitchFamily="34" charset="0"/>
              </a:rPr>
              <a:t>salvíficos</a:t>
            </a:r>
            <a:r>
              <a:rPr lang="pt-BR" sz="2400" dirty="0" smtClean="0">
                <a:latin typeface="Calibri" pitchFamily="34" charset="0"/>
              </a:rPr>
              <a:t> de Cristo presentes no hoje da Igreja, na força do Espírito Santo.</a:t>
            </a:r>
            <a:endParaRPr lang="pt-BR" sz="24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endParaRPr lang="pt-BR" sz="800" b="1" dirty="0" smtClean="0">
              <a:solidFill>
                <a:srgbClr val="FF0000"/>
              </a:solidFill>
              <a:latin typeface="Calibri" pitchFamily="34" charset="0"/>
            </a:endParaRP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Fato valorizado: </a:t>
            </a:r>
            <a:r>
              <a:rPr lang="pt-BR" sz="2400" dirty="0" smtClean="0">
                <a:latin typeface="Calibri" pitchFamily="34" charset="0"/>
              </a:rPr>
              <a:t>Todo o mistério de Cristo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Expressão significativa, símbolo, rito essencial:</a:t>
            </a:r>
            <a:r>
              <a:rPr lang="pt-BR" sz="2400" dirty="0" smtClean="0">
                <a:latin typeface="Calibri" pitchFamily="34" charset="0"/>
              </a:rPr>
              <a:t> ceia como símbolo da vida e do amor fraterno que permanece para sempre;</a:t>
            </a:r>
          </a:p>
          <a:p>
            <a:pPr marL="800100" lvl="1" indent="-342900" algn="just">
              <a:lnSpc>
                <a:spcPct val="114000"/>
              </a:lnSpc>
              <a:buBlip>
                <a:blip r:embed="rId2"/>
              </a:buBlip>
            </a:pPr>
            <a:r>
              <a:rPr lang="pt-BR" sz="2400" b="1" dirty="0" smtClean="0">
                <a:solidFill>
                  <a:srgbClr val="FF0000"/>
                </a:solidFill>
                <a:latin typeface="Calibri" pitchFamily="34" charset="0"/>
              </a:rPr>
              <a:t>Mistério vivido: </a:t>
            </a:r>
            <a:r>
              <a:rPr lang="pt-BR" sz="2400" dirty="0" smtClean="0">
                <a:latin typeface="Calibri" pitchFamily="34" charset="0"/>
              </a:rPr>
              <a:t>comunhão sacramental de vida e de amor com Deus, com o próximo e toda a criação, por Cristo, com Cristo e em Cristo;</a:t>
            </a:r>
          </a:p>
          <a:p>
            <a:pPr lvl="1" algn="just">
              <a:lnSpc>
                <a:spcPct val="114000"/>
              </a:lnSpc>
            </a:pPr>
            <a:endParaRPr lang="pt-BR" sz="2300" dirty="0" smtClean="0"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endParaRPr lang="pt-BR" sz="2400" dirty="0">
              <a:latin typeface="Calibri" pitchFamily="34" charset="0"/>
            </a:endParaRPr>
          </a:p>
          <a:p>
            <a:pPr algn="just">
              <a:lnSpc>
                <a:spcPct val="114000"/>
              </a:lnSpc>
            </a:pPr>
            <a:endParaRPr lang="pt-BR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4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23528" y="548680"/>
            <a:ext cx="8712968" cy="5551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2400" b="1" dirty="0" smtClean="0">
                <a:solidFill>
                  <a:srgbClr val="FF0000"/>
                </a:solidFill>
                <a:latin typeface="Calibri" pitchFamily="34" charset="0"/>
              </a:rPr>
              <a:t>GESTOS E POSIÇÕES</a:t>
            </a:r>
          </a:p>
          <a:p>
            <a:pPr algn="ctr"/>
            <a:endParaRPr lang="pt-PT" sz="2400" b="1" dirty="0">
              <a:solidFill>
                <a:srgbClr val="FF0000"/>
              </a:solidFill>
              <a:latin typeface="Calibri" pitchFamily="34" charset="0"/>
            </a:endParaRPr>
          </a:p>
          <a:p>
            <a:pPr>
              <a:lnSpc>
                <a:spcPct val="114000"/>
              </a:lnSpc>
            </a:pPr>
            <a:r>
              <a:rPr lang="pt-BR" sz="2400" dirty="0" smtClean="0"/>
              <a:t>	Foi </a:t>
            </a:r>
            <a:r>
              <a:rPr lang="pt-BR" sz="2400" dirty="0"/>
              <a:t>durante a “fração do pão”, que os olhos dos discípulos se abriram e reconheceram Jesus. </a:t>
            </a:r>
            <a:endParaRPr lang="pt-PT" sz="2400" b="1" dirty="0" smtClean="0">
              <a:solidFill>
                <a:srgbClr val="FF0000"/>
              </a:solidFill>
            </a:endParaRPr>
          </a:p>
          <a:p>
            <a:pPr algn="ctr"/>
            <a:endParaRPr lang="pt-BR" sz="600" b="1" dirty="0" smtClean="0">
              <a:solidFill>
                <a:srgbClr val="FF0000"/>
              </a:solidFill>
            </a:endParaRPr>
          </a:p>
          <a:p>
            <a:pPr algn="ctr"/>
            <a:endParaRPr lang="pt-BR" sz="600" b="1" dirty="0" smtClean="0">
              <a:solidFill>
                <a:srgbClr val="FF0000"/>
              </a:solidFill>
            </a:endParaRPr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 smtClean="0"/>
              <a:t>Na </a:t>
            </a:r>
            <a:r>
              <a:rPr lang="pt-BR" sz="2400" dirty="0"/>
              <a:t>liturgia toda a pessoa é chamada a participar. Sentido, corpo, espírito</a:t>
            </a:r>
            <a:r>
              <a:rPr lang="pt-BR" sz="2400" dirty="0" smtClean="0"/>
              <a:t>.</a:t>
            </a:r>
          </a:p>
          <a:p>
            <a:pPr algn="just"/>
            <a:endParaRPr lang="pt-BR" sz="600" dirty="0" smtClean="0"/>
          </a:p>
          <a:p>
            <a:pPr algn="just"/>
            <a:endParaRPr lang="pt-BR" sz="600" dirty="0"/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/>
              <a:t> Os gestos corporais são também vivamente litúrgicos. </a:t>
            </a:r>
            <a:endParaRPr lang="pt-BR" sz="2400" dirty="0" smtClean="0"/>
          </a:p>
          <a:p>
            <a:pPr algn="just"/>
            <a:endParaRPr lang="pt-BR" sz="600" dirty="0" smtClean="0"/>
          </a:p>
          <a:p>
            <a:pPr algn="just"/>
            <a:endParaRPr lang="pt-BR" sz="600" dirty="0"/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/>
              <a:t>Na liturgia, cada gesto do corpo recebe um simbolismo próprio, a serviço de todo o ato </a:t>
            </a:r>
            <a:r>
              <a:rPr lang="pt-BR" sz="2400" dirty="0" err="1"/>
              <a:t>celebrativo</a:t>
            </a:r>
            <a:r>
              <a:rPr lang="pt-BR" sz="2400" dirty="0"/>
              <a:t>. </a:t>
            </a:r>
            <a:endParaRPr lang="pt-BR" sz="2400" dirty="0" smtClean="0"/>
          </a:p>
          <a:p>
            <a:pPr algn="just"/>
            <a:endParaRPr lang="pt-BR" sz="600" dirty="0" smtClean="0"/>
          </a:p>
          <a:p>
            <a:pPr algn="just"/>
            <a:endParaRPr lang="pt-BR" sz="600" dirty="0"/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/>
              <a:t>É importante que haja unidade. </a:t>
            </a:r>
            <a:endParaRPr lang="pt-BR" sz="2400" dirty="0" smtClean="0"/>
          </a:p>
          <a:p>
            <a:pPr algn="just"/>
            <a:endParaRPr lang="pt-BR" sz="600" dirty="0" smtClean="0"/>
          </a:p>
          <a:p>
            <a:pPr algn="just"/>
            <a:endParaRPr lang="pt-BR" sz="600" dirty="0"/>
          </a:p>
          <a:p>
            <a:pPr marL="342900" indent="-342900" algn="just">
              <a:buBlip>
                <a:blip r:embed="rId2"/>
              </a:buBlip>
            </a:pPr>
            <a:r>
              <a:rPr lang="pt-BR" sz="2400" dirty="0"/>
              <a:t>Exige espírito de  </a:t>
            </a:r>
            <a:r>
              <a:rPr lang="pt-BR" sz="2400" dirty="0" err="1"/>
              <a:t>despreendimento</a:t>
            </a:r>
            <a:r>
              <a:rPr lang="pt-BR" sz="2400" dirty="0"/>
              <a:t> e superação de gostos pessoais.</a:t>
            </a:r>
          </a:p>
        </p:txBody>
      </p:sp>
    </p:spTree>
    <p:extLst>
      <p:ext uri="{BB962C8B-B14F-4D97-AF65-F5344CB8AC3E}">
        <p14:creationId xmlns:p14="http://schemas.microsoft.com/office/powerpoint/2010/main" val="98757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07504" y="188640"/>
            <a:ext cx="8892480" cy="7698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pt-BR" sz="2400" dirty="0"/>
          </a:p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CIC 1342</a:t>
            </a:r>
            <a:r>
              <a:rPr lang="pt-BR" sz="2400" b="1" dirty="0">
                <a:solidFill>
                  <a:srgbClr val="FF0000"/>
                </a:solidFill>
              </a:rPr>
              <a:t>.</a:t>
            </a:r>
            <a:r>
              <a:rPr lang="pt-BR" sz="2400" dirty="0"/>
              <a:t> Desde o princípio, a Igreja foi fiel à ordem do Senhor. Da Igreja de Jerusalém está escrito:</a:t>
            </a:r>
          </a:p>
          <a:p>
            <a:pPr lvl="1" algn="just">
              <a:lnSpc>
                <a:spcPct val="114000"/>
              </a:lnSpc>
            </a:pPr>
            <a:r>
              <a:rPr lang="pt-BR" sz="2300" dirty="0"/>
              <a:t>«Eram assíduos ao ensino dos Apóstolos, à união fraterna, à fração do pão e às orações. [...] Todos os dias frequentavam o templo, como se tivessem uma só alma, e partiam o pão em suas casas; tomavam o alimento com alegria e simplicidade de coração» </a:t>
            </a:r>
            <a:r>
              <a:rPr lang="pt-BR" sz="2300" i="1" dirty="0"/>
              <a:t>(At </a:t>
            </a:r>
            <a:r>
              <a:rPr lang="pt-BR" sz="2300" dirty="0"/>
              <a:t>2, 42.46</a:t>
            </a:r>
            <a:r>
              <a:rPr lang="pt-BR" sz="2300" dirty="0" smtClean="0"/>
              <a:t>).</a:t>
            </a:r>
            <a:endParaRPr lang="pt-BR" sz="2400" b="1" dirty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endParaRPr lang="pt-BR" sz="2400" b="1" dirty="0" smtClean="0">
              <a:solidFill>
                <a:srgbClr val="FF0000"/>
              </a:solidFill>
            </a:endParaRPr>
          </a:p>
          <a:p>
            <a:pPr algn="just">
              <a:lnSpc>
                <a:spcPct val="114000"/>
              </a:lnSpc>
            </a:pPr>
            <a:r>
              <a:rPr lang="pt-BR" sz="2400" b="1" dirty="0" smtClean="0">
                <a:solidFill>
                  <a:srgbClr val="FF0000"/>
                </a:solidFill>
              </a:rPr>
              <a:t>CIC 1345</a:t>
            </a:r>
            <a:r>
              <a:rPr lang="pt-BR" sz="2400" b="1" dirty="0">
                <a:solidFill>
                  <a:srgbClr val="FF0000"/>
                </a:solidFill>
              </a:rPr>
              <a:t>.</a:t>
            </a:r>
            <a:r>
              <a:rPr lang="pt-BR" sz="2400" dirty="0"/>
              <a:t> Desde o século II, temos o testemunho de São Justino, mártir, sobre as grandes linhas do desenrolar da celebração </a:t>
            </a:r>
            <a:r>
              <a:rPr lang="pt-BR" sz="2400" dirty="0" smtClean="0"/>
              <a:t>eucarística ... </a:t>
            </a:r>
          </a:p>
          <a:p>
            <a:pPr algn="just">
              <a:lnSpc>
                <a:spcPct val="114000"/>
              </a:lnSpc>
            </a:pPr>
            <a:endParaRPr lang="pt-BR" sz="800" dirty="0" smtClean="0"/>
          </a:p>
          <a:p>
            <a:pPr lvl="1" algn="just">
              <a:lnSpc>
                <a:spcPct val="114000"/>
              </a:lnSpc>
            </a:pPr>
            <a:r>
              <a:rPr lang="pt-BR" sz="2300" dirty="0" smtClean="0"/>
              <a:t>“ No </a:t>
            </a:r>
            <a:r>
              <a:rPr lang="pt-BR" sz="2300" dirty="0"/>
              <a:t>dia que chamam Dia do Sol, realiza-se a reunião num mesmo lugar </a:t>
            </a:r>
            <a:r>
              <a:rPr lang="pt-BR" sz="2300" dirty="0" smtClean="0"/>
              <a:t>[...] </a:t>
            </a:r>
            <a:r>
              <a:rPr lang="pt-BR" sz="2300" dirty="0"/>
              <a:t>Depois de aquele que preside ter feito a </a:t>
            </a:r>
            <a:r>
              <a:rPr lang="pt-BR" sz="2300" dirty="0" smtClean="0"/>
              <a:t>ação </a:t>
            </a:r>
            <a:r>
              <a:rPr lang="pt-BR" sz="2300" dirty="0"/>
              <a:t>de graças </a:t>
            </a:r>
            <a:r>
              <a:rPr lang="pt-BR" sz="2300" dirty="0" smtClean="0"/>
              <a:t>[...] Diáconos </a:t>
            </a:r>
            <a:r>
              <a:rPr lang="pt-BR" sz="2300" dirty="0"/>
              <a:t>distribuem a todos os que estão presentes pão, vinho e água "</a:t>
            </a:r>
            <a:r>
              <a:rPr lang="pt-BR" sz="2300" dirty="0" err="1"/>
              <a:t>eucaristizados</a:t>
            </a:r>
            <a:r>
              <a:rPr lang="pt-BR" sz="2300" dirty="0"/>
              <a:t>" e também os levam aos ausentes»</a:t>
            </a:r>
          </a:p>
          <a:p>
            <a:endParaRPr lang="pt-BR" sz="2300" dirty="0" smtClean="0"/>
          </a:p>
          <a:p>
            <a:endParaRPr lang="pt-BR" sz="2300" dirty="0"/>
          </a:p>
          <a:p>
            <a:pPr algn="ctr"/>
            <a:endParaRPr lang="pt-BR" sz="23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80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1150938" y="404813"/>
            <a:ext cx="7793037" cy="14398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  <a:t/>
            </a:r>
            <a:br>
              <a:rPr lang="pt-BR" dirty="0" smtClean="0">
                <a:solidFill>
                  <a:srgbClr val="0070C0"/>
                </a:solidFill>
                <a:latin typeface="Calibri" pitchFamily="34" charset="0"/>
                <a:cs typeface="Times New Roman" pitchFamily="18" charset="0"/>
              </a:rPr>
            </a:br>
            <a:endParaRPr lang="pt-BR" sz="3400" b="1" dirty="0" smtClean="0">
              <a:solidFill>
                <a:srgbClr val="0070C0"/>
              </a:solidFill>
            </a:endParaRPr>
          </a:p>
        </p:txBody>
      </p:sp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225424" y="1340768"/>
            <a:ext cx="8955088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Blip>
                <a:blip r:embed="rId2"/>
              </a:buBlip>
              <a:defRPr/>
            </a:pPr>
            <a:r>
              <a:rPr lang="pt-BR" sz="3400" dirty="0" smtClean="0">
                <a:latin typeface="Calibri" pitchFamily="34" charset="0"/>
              </a:rPr>
              <a:t>... </a:t>
            </a:r>
            <a:r>
              <a:rPr lang="pt-BR" sz="3000" dirty="0" smtClean="0">
                <a:latin typeface="Calibri" pitchFamily="34" charset="0"/>
              </a:rPr>
              <a:t>Cristo está realmente presente;</a:t>
            </a:r>
          </a:p>
          <a:p>
            <a:pPr algn="just">
              <a:buBlip>
                <a:blip r:embed="rId2"/>
              </a:buBlip>
              <a:defRPr/>
            </a:pPr>
            <a:endParaRPr lang="pt-BR" sz="1200" dirty="0" smtClean="0">
              <a:latin typeface="Calibri" pitchFamily="34" charset="0"/>
            </a:endParaRPr>
          </a:p>
          <a:p>
            <a:pPr algn="just">
              <a:buBlip>
                <a:blip r:embed="rId2"/>
              </a:buBlip>
              <a:defRPr/>
            </a:pPr>
            <a:r>
              <a:rPr lang="pt-BR" sz="3000" dirty="0" smtClean="0">
                <a:latin typeface="Calibri" pitchFamily="34" charset="0"/>
              </a:rPr>
              <a:t> na própria assembleia congregada em seu nome;</a:t>
            </a:r>
          </a:p>
          <a:p>
            <a:pPr algn="just">
              <a:buBlip>
                <a:blip r:embed="rId2"/>
              </a:buBlip>
              <a:defRPr/>
            </a:pPr>
            <a:endParaRPr lang="pt-BR" sz="1200" dirty="0" smtClean="0">
              <a:latin typeface="Calibri" pitchFamily="34" charset="0"/>
            </a:endParaRPr>
          </a:p>
          <a:p>
            <a:pPr algn="just">
              <a:buBlip>
                <a:blip r:embed="rId2"/>
              </a:buBlip>
              <a:defRPr/>
            </a:pPr>
            <a:r>
              <a:rPr lang="pt-BR" sz="3000" dirty="0" smtClean="0">
                <a:latin typeface="Calibri" pitchFamily="34" charset="0"/>
              </a:rPr>
              <a:t>na pessoa do ministro;</a:t>
            </a:r>
          </a:p>
          <a:p>
            <a:pPr algn="just">
              <a:buBlip>
                <a:blip r:embed="rId2"/>
              </a:buBlip>
              <a:defRPr/>
            </a:pPr>
            <a:endParaRPr lang="pt-BR" sz="1200" dirty="0" smtClean="0">
              <a:latin typeface="Calibri" pitchFamily="34" charset="0"/>
            </a:endParaRPr>
          </a:p>
          <a:p>
            <a:pPr algn="just">
              <a:buBlip>
                <a:blip r:embed="rId2"/>
              </a:buBlip>
              <a:defRPr/>
            </a:pPr>
            <a:r>
              <a:rPr lang="pt-BR" sz="3000" dirty="0" smtClean="0">
                <a:latin typeface="Calibri" pitchFamily="34" charset="0"/>
              </a:rPr>
              <a:t> na sua Palavra;</a:t>
            </a:r>
          </a:p>
          <a:p>
            <a:pPr algn="just">
              <a:buBlip>
                <a:blip r:embed="rId2"/>
              </a:buBlip>
              <a:defRPr/>
            </a:pPr>
            <a:endParaRPr lang="pt-BR" sz="1200" dirty="0" smtClean="0">
              <a:latin typeface="Calibri" pitchFamily="34" charset="0"/>
            </a:endParaRPr>
          </a:p>
          <a:p>
            <a:pPr algn="just">
              <a:buBlip>
                <a:blip r:embed="rId2"/>
              </a:buBlip>
              <a:defRPr/>
            </a:pPr>
            <a:r>
              <a:rPr lang="pt-BR" sz="3000" dirty="0" smtClean="0">
                <a:latin typeface="Calibri" pitchFamily="34" charset="0"/>
              </a:rPr>
              <a:t>ainda, de uma forma substancial e permanente, sob as espécies eucarísticas. IGMR 7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pt-BR" sz="3600" dirty="0" smtClean="0">
              <a:latin typeface="Calibri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123728" y="548680"/>
            <a:ext cx="53110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b="1" dirty="0" smtClean="0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rPr>
              <a:t>NA CELEBRAÇÃO DA SANTA MISSA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13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339752" y="692696"/>
            <a:ext cx="46014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2800" b="1" dirty="0" smtClean="0">
                <a:solidFill>
                  <a:srgbClr val="FF0000"/>
                </a:solidFill>
                <a:latin typeface="Calibri" pitchFamily="34" charset="0"/>
              </a:rPr>
              <a:t>ESTRUTURA DA SANTA MISSA</a:t>
            </a:r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286000" y="1844824"/>
            <a:ext cx="4572000" cy="20292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Ritos Iniciais</a:t>
            </a:r>
          </a:p>
          <a:p>
            <a:pPr marL="457200" indent="-457200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Liturgia da Palavra</a:t>
            </a:r>
          </a:p>
          <a:p>
            <a:pPr marL="457200" indent="-457200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Liturgia Eucarística</a:t>
            </a:r>
          </a:p>
          <a:p>
            <a:pPr marL="457200" indent="-457200">
              <a:lnSpc>
                <a:spcPct val="114000"/>
              </a:lnSpc>
              <a:buBlip>
                <a:blip r:embed="rId2"/>
              </a:buBlip>
            </a:pPr>
            <a:r>
              <a:rPr lang="pt-BR" sz="2800" dirty="0">
                <a:latin typeface="Calibri" pitchFamily="34" charset="0"/>
              </a:rPr>
              <a:t>Ritos Finais</a:t>
            </a:r>
          </a:p>
        </p:txBody>
      </p:sp>
    </p:spTree>
    <p:extLst>
      <p:ext uri="{BB962C8B-B14F-4D97-AF65-F5344CB8AC3E}">
        <p14:creationId xmlns:p14="http://schemas.microsoft.com/office/powerpoint/2010/main" val="412719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2536</TotalTime>
  <Words>1371</Words>
  <Application>Microsoft Office PowerPoint</Application>
  <PresentationFormat>Apresentação na tela (4:3)</PresentationFormat>
  <Paragraphs>327</Paragraphs>
  <Slides>26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Cleide</dc:creator>
  <cp:lastModifiedBy>Cleide</cp:lastModifiedBy>
  <cp:revision>110</cp:revision>
  <dcterms:created xsi:type="dcterms:W3CDTF">2018-04-12T18:40:41Z</dcterms:created>
  <dcterms:modified xsi:type="dcterms:W3CDTF">2018-04-25T14:35:10Z</dcterms:modified>
</cp:coreProperties>
</file>