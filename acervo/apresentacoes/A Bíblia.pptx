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7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745A5-B269-4008-9ADF-1FD73AE6E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4BE1B6-2F73-45DB-B032-937FFE514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589333-D66D-4AC1-95DF-A553D5D7B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239A0D-FAC5-4901-9DB4-CF272CCC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06D0C4-2038-463A-AC87-B9ACAABE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53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96EFE-E5F3-4D93-B25D-EF5A62F3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F62772-D407-4203-BD02-A702399A6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E5D965-9494-48A1-BD04-AD6893FF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437849-50F2-4215-86F8-2A00D8A4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B6C917-2D52-46E0-B183-5D30002F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03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EC2B0-F362-44CD-836A-2A86FB61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4C9B34-6FFF-46E4-B138-53B7137EE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C0A095-709E-4A6D-8A68-D6DECDDC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DB8762-AE5C-4DED-BB30-C1DA2D33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523DD9-F2C1-461F-A6E9-4CE794C2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36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F6E3D-A74A-4E98-B43D-53B4A3D5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5D6A97-6356-4DAA-95B3-85538DB9E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21A6F9-7D6D-42FF-9092-DD168BC2F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21D2E7-3F3A-4730-B1C8-CF309496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B1FDB6-F6C8-4728-A0DF-EA7982E9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5034C3-E9BF-4C65-B4F0-9A56DCFB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05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D9BBB-7180-4B9D-97B1-DC8147EA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419019-EE7F-4567-9138-11D289BE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3BCC40-AB3F-40B8-A620-226F992BE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1D82F6-4983-45D6-9FE9-AB679F5B5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E086F99-E6A8-4EA3-86D6-96CA95356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73C1B6E-868B-4F95-815B-F53302C5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16EAE5-67B4-406F-92D4-C629DCD9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0C4DA5-62E9-4BD2-BF41-A4146BC5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66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FA07A-B582-4EE5-A996-AED01876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5A4465-A867-47BE-8EDD-DA7BB55B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EB62EB5-978B-45FC-A769-32AD080C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F691C4-2516-420E-8873-52F6BD76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07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2ED689-AF65-42E0-9652-FBC01B9E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EF390D-4979-49FE-A03C-3DFED043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3E924F-EB23-47B0-B286-73AABFFA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52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0294A-0DEF-4CA5-9137-BE2A8F07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45C7E9-D6C1-4B8D-9A89-A475E56BB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EA2CE0-A33B-41E6-8957-47DBE264E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F77BF5-6E93-42A8-9C1A-C02BF783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47D527-FE43-450F-A3CE-6AC17B42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AB9E01-CAC4-4148-AF0F-014E66BD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25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8411A-868F-410C-8AB7-D0A4F11C4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3462250-6884-4136-8963-661A9B22E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BA3F8F-F304-4B7F-ACA7-F9C837BB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679D5C-7745-4333-A9F5-14565E41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7C458A-692F-4085-BFA0-D5FCAF81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251E7E-8813-4043-B9AB-96E21FB5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69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74783-BDAF-4F16-8DCD-D32E7C7C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BCDB43-5C1A-4068-AB95-915D40C32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498725-48B6-48E8-B4E6-E47C3CEDC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0493FE-01E0-48E2-9329-2E6C6689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1DD10F-42B3-48E9-A4C6-F25A2084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50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49CCAD-354B-463B-B6E4-634EC7BF7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52BC84-178A-4489-8FEA-06C682B5C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4BC21-9A99-4DFF-9E74-1E4C5C89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AC59C3-6BE0-4628-970F-4CCE8C912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6CEAA9-1746-44A3-B2F2-D0A9188B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08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228230D-2B86-4FD7-B26C-CDF9FFB9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2ADDC6-138A-48CD-BD0C-509E4DAB8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4272A2-CDD8-43DF-A421-313F212A8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0DF8B-AF23-4383-99C8-C80F12F1C33A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7DF107-B94B-4CC4-BB8D-3AC001F8D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17F34B-7337-4F23-9EC1-45C7E078F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14C96-07F3-4E67-960E-E057253E6F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01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90C3ACE-4B80-4C39-AD75-5F7524D6F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0"/>
            <a:ext cx="12192000" cy="701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92F396-87A4-48D6-86D2-59E3598FF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196"/>
            <a:ext cx="9144000" cy="2387600"/>
          </a:xfrm>
        </p:spPr>
        <p:txBody>
          <a:bodyPr>
            <a:normAutofit/>
          </a:bodyPr>
          <a:lstStyle/>
          <a:p>
            <a:r>
              <a:rPr lang="en-US" sz="1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A </a:t>
            </a:r>
            <a:r>
              <a:rPr lang="en-US" sz="10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Bíblia</a:t>
            </a:r>
            <a:endParaRPr lang="pt-BR" sz="10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1E6763-9843-4D8D-816F-DF26E996F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7283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Uma </a:t>
            </a:r>
            <a:r>
              <a:rPr lang="en-US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coleção</a:t>
            </a: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 de </a:t>
            </a:r>
            <a:r>
              <a:rPr lang="en-US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livros</a:t>
            </a:r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1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8337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CONTEÚDO FORMAL DA BÍBLIA</a:t>
            </a:r>
            <a:b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CONTEÚDO MATERIAL DA BÍBLIA</a:t>
            </a:r>
            <a:b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POR QUE CRER NA BÍBLIA?</a:t>
            </a:r>
            <a:b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POR QUE NÃO CRER </a:t>
            </a:r>
            <a:r>
              <a:rPr lang="en-US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SOMENTE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 BÍBLIA?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5438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CONTEÚDO FORMAL DA BÍBLIA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>
            <a:off x="351692" y="1099844"/>
            <a:ext cx="5603631" cy="87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BÍBLIA = Conjunto de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livros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FDE998B-00A5-4F2E-A986-4E86D39874EE}"/>
              </a:ext>
            </a:extLst>
          </p:cNvPr>
          <p:cNvSpPr txBox="1">
            <a:spLocks/>
          </p:cNvSpPr>
          <p:nvPr/>
        </p:nvSpPr>
        <p:spPr>
          <a:xfrm>
            <a:off x="351692" y="2517811"/>
            <a:ext cx="5373859" cy="11081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Línguas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originais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Hebraico,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Aramaico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Grego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34FAB41-EACE-4AE4-A204-D16FBA126C50}"/>
              </a:ext>
            </a:extLst>
          </p:cNvPr>
          <p:cNvSpPr txBox="1">
            <a:spLocks/>
          </p:cNvSpPr>
          <p:nvPr/>
        </p:nvSpPr>
        <p:spPr>
          <a:xfrm>
            <a:off x="6271846" y="1963737"/>
            <a:ext cx="5373859" cy="11081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VULGATA: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tradução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o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Latim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São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Jerônimo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séc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IV e V)</a:t>
            </a:r>
          </a:p>
        </p:txBody>
      </p:sp>
    </p:spTree>
    <p:extLst>
      <p:ext uri="{BB962C8B-B14F-4D97-AF65-F5344CB8AC3E}">
        <p14:creationId xmlns:p14="http://schemas.microsoft.com/office/powerpoint/2010/main" val="50243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rgbClr val="C27E06"/>
            </a:gs>
            <a:gs pos="0">
              <a:schemeClr val="tx1"/>
            </a:gs>
            <a:gs pos="45000">
              <a:schemeClr val="accent2">
                <a:lumMod val="5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A335681-5505-4C10-9497-92C6F4914C17}"/>
              </a:ext>
            </a:extLst>
          </p:cNvPr>
          <p:cNvSpPr txBox="1">
            <a:spLocks/>
          </p:cNvSpPr>
          <p:nvPr/>
        </p:nvSpPr>
        <p:spPr>
          <a:xfrm>
            <a:off x="838200" y="-2257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CONTEÚDO FORMAL DA BÍBLIA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A6E974-755B-4B10-AD82-A62C57F58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710" y="1423987"/>
            <a:ext cx="144780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íblia Sagrada Tradução Oficial CNBB - Bege">
            <a:extLst>
              <a:ext uri="{FF2B5EF4-FFF2-40B4-BE49-F238E27FC236}">
                <a16:creationId xmlns:a16="http://schemas.microsoft.com/office/drawing/2014/main" id="{7B9EED7B-C5BE-427B-BC6F-FFF729DBF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97" y="1285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423C41D-C8DB-4365-812D-0BC8FDB6F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7598" y="1333499"/>
            <a:ext cx="139065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íblia do Peregrino | Amazon.com.br">
            <a:extLst>
              <a:ext uri="{FF2B5EF4-FFF2-40B4-BE49-F238E27FC236}">
                <a16:creationId xmlns:a16="http://schemas.microsoft.com/office/drawing/2014/main" id="{0BF9FCB3-F318-417B-ACAE-4AAF10AC8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148" y="4041604"/>
            <a:ext cx="172402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C59C2BE-0213-482C-84FC-C55162F44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677" y="4346403"/>
            <a:ext cx="1400175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ivro - Bíblia TEB - Popular - Capa dura - Livros de Religião - Magazine  Luiza">
            <a:extLst>
              <a:ext uri="{FF2B5EF4-FFF2-40B4-BE49-F238E27FC236}">
                <a16:creationId xmlns:a16="http://schemas.microsoft.com/office/drawing/2014/main" id="{7265BDD2-7D04-45C5-AB6C-F4E8977A0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2" y="4041604"/>
            <a:ext cx="180022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78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CONTEÚDO FORMAL DA BÍBLIA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>
            <a:off x="1885071" y="1912253"/>
            <a:ext cx="592015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Divisão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primária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</a:p>
          <a:p>
            <a:pPr>
              <a:lnSpc>
                <a:spcPct val="100000"/>
              </a:lnSpc>
            </a:pP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ANTIGO TESTAMENTO</a:t>
            </a:r>
          </a:p>
          <a:p>
            <a:pPr>
              <a:lnSpc>
                <a:spcPct val="100000"/>
              </a:lnSpc>
            </a:pP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Antes de Jesus</a:t>
            </a:r>
          </a:p>
          <a:p>
            <a:pPr>
              <a:lnSpc>
                <a:spcPct val="100000"/>
              </a:lnSpc>
            </a:pPr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NOVO TESTAMENTO</a:t>
            </a:r>
          </a:p>
          <a:p>
            <a:pPr>
              <a:lnSpc>
                <a:spcPct val="100000"/>
              </a:lnSpc>
            </a:pPr>
            <a:r>
              <a:rPr lang="pt-BR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Depois de Jesus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34FAB41-EACE-4AE4-A204-D16FBA126C50}"/>
              </a:ext>
            </a:extLst>
          </p:cNvPr>
          <p:cNvSpPr txBox="1">
            <a:spLocks/>
          </p:cNvSpPr>
          <p:nvPr/>
        </p:nvSpPr>
        <p:spPr>
          <a:xfrm>
            <a:off x="6778285" y="1963737"/>
            <a:ext cx="5373859" cy="11081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Divisão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secundária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>
              <a:lnSpc>
                <a:spcPct val="100000"/>
              </a:lnSpc>
            </a:pP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LIVROS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CAPÍTULOS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VERSÍCULOS</a:t>
            </a:r>
          </a:p>
        </p:txBody>
      </p:sp>
    </p:spTree>
    <p:extLst>
      <p:ext uri="{BB962C8B-B14F-4D97-AF65-F5344CB8AC3E}">
        <p14:creationId xmlns:p14="http://schemas.microsoft.com/office/powerpoint/2010/main" val="286578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CONTEÚDO FORMAL DA BÍBLIA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>
            <a:off x="675249" y="2137337"/>
            <a:ext cx="5190978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REFERÊNCIA</a:t>
            </a:r>
          </a:p>
          <a:p>
            <a:pPr>
              <a:lnSpc>
                <a:spcPct val="100000"/>
              </a:lnSpc>
            </a:pP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Sigla do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Livro</a:t>
            </a:r>
            <a:r>
              <a:rPr lang="pt-BR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</a:p>
          <a:p>
            <a:pPr>
              <a:lnSpc>
                <a:spcPct val="100000"/>
              </a:lnSpc>
            </a:pPr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Número do Capítulo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</a:t>
            </a:r>
          </a:p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(s)</a:t>
            </a:r>
          </a:p>
          <a:p>
            <a:pPr>
              <a:lnSpc>
                <a:spcPct val="100000"/>
              </a:lnSpc>
            </a:pP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vírgula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separa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capítulo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</a:t>
            </a:r>
            <a:endParaRPr lang="pt-BR" sz="32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34FAB41-EACE-4AE4-A204-D16FBA126C50}"/>
              </a:ext>
            </a:extLst>
          </p:cNvPr>
          <p:cNvSpPr txBox="1">
            <a:spLocks/>
          </p:cNvSpPr>
          <p:nvPr/>
        </p:nvSpPr>
        <p:spPr>
          <a:xfrm>
            <a:off x="6325775" y="2137337"/>
            <a:ext cx="5826369" cy="11081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Vários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seguidos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(-)</a:t>
            </a:r>
          </a:p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Dois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separados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(.)</a:t>
            </a:r>
          </a:p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Várias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passagens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seguidas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(;)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seguinte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(s)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(ss)</a:t>
            </a:r>
          </a:p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Dois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livros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mesmo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(1, 2)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dois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pontos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(:)? NÃO!</a:t>
            </a:r>
          </a:p>
        </p:txBody>
      </p:sp>
    </p:spTree>
    <p:extLst>
      <p:ext uri="{BB962C8B-B14F-4D97-AF65-F5344CB8AC3E}">
        <p14:creationId xmlns:p14="http://schemas.microsoft.com/office/powerpoint/2010/main" val="18521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CONTEÚDO FORMAL DA BÍBLIA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>
            <a:off x="1069144" y="1099844"/>
            <a:ext cx="10515599" cy="3516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Gn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1, 26 (ss)</a:t>
            </a:r>
          </a:p>
          <a:p>
            <a:pPr algn="ctr">
              <a:lnSpc>
                <a:spcPct val="100000"/>
              </a:lnSpc>
            </a:pP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Gênesis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capítulo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versículos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26 e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seguintes</a:t>
            </a:r>
            <a:endParaRPr lang="en-US" sz="20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Rs 3, 9</a:t>
            </a:r>
          </a:p>
          <a:p>
            <a:pPr algn="ctr">
              <a:lnSpc>
                <a:spcPct val="100000"/>
              </a:lnSpc>
            </a:pP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Primeiro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livro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Reis,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capítulo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9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 1, 1-5</a:t>
            </a:r>
          </a:p>
          <a:p>
            <a:pPr algn="ctr">
              <a:lnSpc>
                <a:spcPct val="100000"/>
              </a:lnSpc>
            </a:pP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Evangelho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São João,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capítulo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versículos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 a 5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Jo 2, 19</a:t>
            </a:r>
          </a:p>
          <a:p>
            <a:pPr algn="ctr">
              <a:lnSpc>
                <a:spcPct val="100000"/>
              </a:lnSpc>
            </a:pP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1a carta de São João 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capítulo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19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Mc 8, 34.36</a:t>
            </a:r>
          </a:p>
          <a:p>
            <a:pPr algn="ctr">
              <a:lnSpc>
                <a:spcPct val="100000"/>
              </a:lnSpc>
            </a:pP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Evangelho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São Marcos,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capítulo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8, </a:t>
            </a:r>
            <a:r>
              <a:rPr lang="en-US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versículos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34 e 36</a:t>
            </a:r>
          </a:p>
          <a:p>
            <a:pPr algn="ctr">
              <a:lnSpc>
                <a:spcPct val="100000"/>
              </a:lnSpc>
            </a:pPr>
            <a:endParaRPr lang="pt-BR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501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rgbClr val="C27E06"/>
            </a:gs>
            <a:gs pos="0">
              <a:schemeClr val="tx1"/>
            </a:gs>
            <a:gs pos="45000">
              <a:schemeClr val="accent2">
                <a:lumMod val="5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839E0A8-C1BB-442E-B9B1-040162E4AB9F}"/>
              </a:ext>
            </a:extLst>
          </p:cNvPr>
          <p:cNvSpPr txBox="1"/>
          <p:nvPr/>
        </p:nvSpPr>
        <p:spPr>
          <a:xfrm>
            <a:off x="151226" y="428168"/>
            <a:ext cx="11904786" cy="1661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Pentateuco 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(são os primeiros 5 livros do AT)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Gênesis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Gn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livro das origens. A criação é um processo dinâmico. Criação do mundo, das criaturas, do povo de Deus. 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Êxodo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saída. Libertação do povo da escravidão do Egito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Levítico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Lv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Levita. Traz reflexões sobre as Leis referentes ao culto, seus servidores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Nm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Lista. Nele encontramos o recenseamento dos habitantes de Israel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Deuteronômio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Dt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Segunda Lei. Traz reflexões sobre releitura da Lei.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C09747-ED3D-40EB-84B1-9C5AA8AA9BA6}"/>
              </a:ext>
            </a:extLst>
          </p:cNvPr>
          <p:cNvSpPr txBox="1"/>
          <p:nvPr/>
        </p:nvSpPr>
        <p:spPr>
          <a:xfrm>
            <a:off x="151225" y="2607715"/>
            <a:ext cx="11904785" cy="383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Livros Históricos.  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São 16 e narram a história da formação do Povo da Bíblia com a vida, nome, lutas e a fé de seus heróis e do próprio povo. São eles: 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Josué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Juízes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Jz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Rute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Rt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e 2 Samuel (1Sm e 2Sm)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e 2 Reis (1Rs e 2Rs)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e 2 Crônicas (1Cr e 2Cr)	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Esdras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Esd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Neemias (Ne)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b="1" dirty="0">
                <a:solidFill>
                  <a:srgbClr val="FF0000"/>
                </a:solidFill>
              </a:rPr>
              <a:t>Tobias (Tb)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b="1" dirty="0">
                <a:solidFill>
                  <a:srgbClr val="FF0000"/>
                </a:solidFill>
              </a:rPr>
              <a:t>Judite (</a:t>
            </a:r>
            <a:r>
              <a:rPr lang="pt-BR" b="1" dirty="0" err="1">
                <a:solidFill>
                  <a:srgbClr val="FF0000"/>
                </a:solidFill>
              </a:rPr>
              <a:t>Jt</a:t>
            </a:r>
            <a:r>
              <a:rPr lang="pt-BR" b="1" dirty="0">
                <a:solidFill>
                  <a:srgbClr val="FF0000"/>
                </a:solidFill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Ester (Est)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b="1" dirty="0">
                <a:solidFill>
                  <a:srgbClr val="FF0000"/>
                </a:solidFill>
              </a:rPr>
              <a:t>1 e 2 Macabeus (1Mc e 2Mc)</a:t>
            </a:r>
          </a:p>
        </p:txBody>
      </p:sp>
    </p:spTree>
    <p:extLst>
      <p:ext uri="{BB962C8B-B14F-4D97-AF65-F5344CB8AC3E}">
        <p14:creationId xmlns:p14="http://schemas.microsoft.com/office/powerpoint/2010/main" val="1386314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rgbClr val="C27E06"/>
            </a:gs>
            <a:gs pos="0">
              <a:schemeClr val="tx1"/>
            </a:gs>
            <a:gs pos="45000">
              <a:schemeClr val="accent2">
                <a:lumMod val="5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839E0A8-C1BB-442E-B9B1-040162E4AB9F}"/>
              </a:ext>
            </a:extLst>
          </p:cNvPr>
          <p:cNvSpPr txBox="1"/>
          <p:nvPr/>
        </p:nvSpPr>
        <p:spPr>
          <a:xfrm>
            <a:off x="151226" y="428168"/>
            <a:ext cx="11904786" cy="2517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Livros Sapienciais ou livros da Sabedoria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São 7 livros com expressões de sabedoria, poesia, cantos, orações, provérbios. São eles: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Jó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Salmos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Provérbios (Pr)	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Eclesiastes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Ecl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Cântico dos Cânticos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Ct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b="1" dirty="0">
                <a:solidFill>
                  <a:srgbClr val="FF0000"/>
                </a:solidFill>
              </a:rPr>
              <a:t>Sabedoria (Sb)	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b="1" dirty="0">
                <a:solidFill>
                  <a:srgbClr val="FF0000"/>
                </a:solidFill>
              </a:rPr>
              <a:t>Eclesiástico (</a:t>
            </a:r>
            <a:r>
              <a:rPr lang="pt-BR" b="1" dirty="0" err="1">
                <a:solidFill>
                  <a:srgbClr val="FF0000"/>
                </a:solidFill>
              </a:rPr>
              <a:t>Eclo</a:t>
            </a:r>
            <a:r>
              <a:rPr lang="pt-BR" b="1" dirty="0">
                <a:solidFill>
                  <a:srgbClr val="FF0000"/>
                </a:solidFill>
              </a:rPr>
              <a:t>)</a:t>
            </a:r>
            <a:r>
              <a:rPr lang="pt-BR" sz="1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C09747-ED3D-40EB-84B1-9C5AA8AA9BA6}"/>
              </a:ext>
            </a:extLst>
          </p:cNvPr>
          <p:cNvSpPr txBox="1"/>
          <p:nvPr/>
        </p:nvSpPr>
        <p:spPr>
          <a:xfrm>
            <a:off x="151226" y="3086017"/>
            <a:ext cx="11904785" cy="311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Livros Proféticos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São 18 livros e trazem a mensagem, ação e dados sobre a vida de alguns profetas. São eles: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Isaías (</a:t>
            </a:r>
            <a:r>
              <a:rPr lang="pt-BR" sz="16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1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Abdias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Jeremias (Jr)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Jonas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Jn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Lamentações (</a:t>
            </a:r>
            <a:r>
              <a:rPr lang="pt-BR" sz="1600" i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Lm</a:t>
            </a:r>
            <a:r>
              <a:rPr lang="pt-BR" sz="1600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Miquéias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Mq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b="1" dirty="0" err="1">
                <a:solidFill>
                  <a:srgbClr val="FF0000"/>
                </a:solidFill>
              </a:rPr>
              <a:t>Baruc</a:t>
            </a:r>
            <a:r>
              <a:rPr lang="pt-BR" b="1" dirty="0">
                <a:solidFill>
                  <a:srgbClr val="FF0000"/>
                </a:solidFill>
              </a:rPr>
              <a:t> (Br)	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Naum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(Na)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Ezequiel (</a:t>
            </a:r>
            <a:r>
              <a:rPr lang="pt-BR" sz="16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pt-BR" sz="1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Habacuc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Hab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Daniel (</a:t>
            </a:r>
            <a:r>
              <a:rPr lang="pt-BR" sz="16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Dn</a:t>
            </a:r>
            <a:r>
              <a:rPr lang="pt-BR" sz="1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Sofonias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Sf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Oséias (Os)				Ageu (Ag)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Joel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Jl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			Zacarias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Zc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Amós (Am)				Malaquias (Ml)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29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rgbClr val="C27E06"/>
            </a:gs>
            <a:gs pos="0">
              <a:schemeClr val="tx1"/>
            </a:gs>
            <a:gs pos="45000">
              <a:schemeClr val="accent2">
                <a:lumMod val="5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839E0A8-C1BB-442E-B9B1-040162E4AB9F}"/>
              </a:ext>
            </a:extLst>
          </p:cNvPr>
          <p:cNvSpPr txBox="1"/>
          <p:nvPr/>
        </p:nvSpPr>
        <p:spPr>
          <a:xfrm>
            <a:off x="151226" y="146812"/>
            <a:ext cx="11904786" cy="302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Evangelhos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são 4: a Vida de Jesus (Evangelho = boa nova, boa notícia)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Mateus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Mt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		Homem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Marcos (Mc) 		Leão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Lucas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Lc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		Boi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João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	Águia</a:t>
            </a:r>
          </a:p>
          <a:p>
            <a:pPr marL="236220" indent="449580" algn="just"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evangelhos sinóticos (semelhantes): Mateus, Marcos e Lucas. </a:t>
            </a:r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Atos dos Apóstolos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(At). </a:t>
            </a:r>
          </a:p>
          <a:p>
            <a:pPr marL="457200" algn="just">
              <a:lnSpc>
                <a:spcPct val="107000"/>
              </a:lnSpc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livro apresenta o caminho da Igreja, que prolonga o caminho de Jesus. 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C09747-ED3D-40EB-84B1-9C5AA8AA9BA6}"/>
              </a:ext>
            </a:extLst>
          </p:cNvPr>
          <p:cNvSpPr txBox="1"/>
          <p:nvPr/>
        </p:nvSpPr>
        <p:spPr>
          <a:xfrm>
            <a:off x="135989" y="2481107"/>
            <a:ext cx="11904785" cy="1924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Cartas ou Epístolas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São 14 as Cartas de São Paulo escritas para comunidades ou pessoas específicas. São elas: 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Romanos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Rm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		1 e 2 Tessalonicenses (1Ts e 2Ts)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e 2 Coríntios (1Cor e 2 Cor)		 1 e 2 Timóteo (1Tm e 2 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Tm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Gálatas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			</a:t>
            </a:r>
            <a:r>
              <a:rPr lang="en-US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Tito (Tt)	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Efésios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			</a:t>
            </a:r>
            <a:r>
              <a:rPr lang="en-US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Filemon</a:t>
            </a:r>
            <a:r>
              <a:rPr lang="en-US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(Fm)	</a:t>
            </a:r>
            <a:endParaRPr lang="pt-BR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Filipenses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		</a:t>
            </a:r>
            <a:r>
              <a:rPr lang="en-US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Hebreus</a:t>
            </a:r>
            <a:r>
              <a:rPr lang="en-US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(Hb)</a:t>
            </a:r>
            <a:endParaRPr lang="pt-BR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Colossenses (Cl)			</a:t>
            </a:r>
            <a:r>
              <a:rPr lang="en-US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0B4F9E-7296-4F3E-BF82-4AA0572C66CD}"/>
              </a:ext>
            </a:extLst>
          </p:cNvPr>
          <p:cNvSpPr txBox="1"/>
          <p:nvPr/>
        </p:nvSpPr>
        <p:spPr>
          <a:xfrm>
            <a:off x="151226" y="4519352"/>
            <a:ext cx="6098344" cy="139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Cartas ou Epistolas Católicas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ou Universais. São elas: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Tiago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Tg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e 2 de Pedro (1Pd e 2Pd)	</a:t>
            </a:r>
          </a:p>
          <a:p>
            <a:pPr marL="742950" lvl="1" indent="-28575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 2 e 3 de João (1Jo, 2Jo e 3Jo)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Judas (</a:t>
            </a:r>
            <a:r>
              <a:rPr lang="pt-BR" sz="16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Jd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B16924-47A1-42C7-88D3-6DB692D94455}"/>
              </a:ext>
            </a:extLst>
          </p:cNvPr>
          <p:cNvSpPr txBox="1"/>
          <p:nvPr/>
        </p:nvSpPr>
        <p:spPr>
          <a:xfrm>
            <a:off x="5637627" y="4488999"/>
            <a:ext cx="6098344" cy="139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Apocalipse (</a:t>
            </a:r>
            <a:r>
              <a:rPr lang="pt-BR" sz="1600" u="sng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 é uma palavra de origem grega que significa revelação (tirar o véu)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Apocalipse não significa fim do mundo. Mas representa muito mais a união de Céu e terra. E isso se materializa na </a:t>
            </a:r>
            <a:r>
              <a:rPr lang="pt-BR" sz="1600" b="1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MISSA</a:t>
            </a:r>
            <a:r>
              <a:rPr lang="pt-B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Leitura “obrigatória”: </a:t>
            </a:r>
            <a:r>
              <a:rPr lang="pt-B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BANQUETE DO CORDEIRO</a:t>
            </a:r>
            <a:endParaRPr lang="pt-BR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829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CONTEÚDO MATERIAL DA BÍBLIA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34FAB41-EACE-4AE4-A204-D16FBA126C50}"/>
              </a:ext>
            </a:extLst>
          </p:cNvPr>
          <p:cNvSpPr txBox="1">
            <a:spLocks/>
          </p:cNvSpPr>
          <p:nvPr/>
        </p:nvSpPr>
        <p:spPr>
          <a:xfrm>
            <a:off x="482991" y="1766790"/>
            <a:ext cx="11226018" cy="11081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Antigo </a:t>
            </a:r>
            <a:r>
              <a:rPr lang="en-US" sz="32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Testamento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esconde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Novo; e o Novo </a:t>
            </a:r>
            <a:r>
              <a:rPr lang="en-US" sz="32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desvenda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Antigo”.</a:t>
            </a:r>
          </a:p>
          <a:p>
            <a:pPr algn="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Santo Agostinho</a:t>
            </a:r>
          </a:p>
        </p:txBody>
      </p:sp>
    </p:spTree>
    <p:extLst>
      <p:ext uri="{BB962C8B-B14F-4D97-AF65-F5344CB8AC3E}">
        <p14:creationId xmlns:p14="http://schemas.microsoft.com/office/powerpoint/2010/main" val="2557931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22563-9D8B-42A5-A10F-B4878F36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A189DB-538B-4EB9-927D-28D848E50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Sinesio Gomes: A lenda da criação do mundo - Mitologia Judaica">
            <a:extLst>
              <a:ext uri="{FF2B5EF4-FFF2-40B4-BE49-F238E27FC236}">
                <a16:creationId xmlns:a16="http://schemas.microsoft.com/office/drawing/2014/main" id="{54153767-2304-4849-A368-BF33AD62F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119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C64EE-60B4-4937-8DBB-858693989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A47DD-D595-4325-B8EC-4CA4C6395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6" name="Picture 4" descr="A Criação de Adão de Michelangelo: releitura e características - Cultura  Genial">
            <a:extLst>
              <a:ext uri="{FF2B5EF4-FFF2-40B4-BE49-F238E27FC236}">
                <a16:creationId xmlns:a16="http://schemas.microsoft.com/office/drawing/2014/main" id="{BF3A6E61-5F67-4922-BACB-0C0C83C79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15" y="1"/>
            <a:ext cx="12246429" cy="709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71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B928E-82EE-4CC9-A0B4-C55B0A07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7E660-D67A-43FA-B393-E265AE7B2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 descr="Como era a arca de Noé? | Super">
            <a:extLst>
              <a:ext uri="{FF2B5EF4-FFF2-40B4-BE49-F238E27FC236}">
                <a16:creationId xmlns:a16="http://schemas.microsoft.com/office/drawing/2014/main" id="{DE8BD3F0-5A45-4058-86FE-FC6B9D423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674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F6FD5-E89C-43BB-89EA-A259FB46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414062-4535-4A76-A65D-E370BDD3C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 descr="O Deus de Abraão, de Isaque e de Jacó">
            <a:extLst>
              <a:ext uri="{FF2B5EF4-FFF2-40B4-BE49-F238E27FC236}">
                <a16:creationId xmlns:a16="http://schemas.microsoft.com/office/drawing/2014/main" id="{6CAFD18D-7569-44A8-B473-0621A7C38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474" y="0"/>
            <a:ext cx="124217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313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D040D-C746-49C7-BFF1-CF50B3ED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039581-46C7-4722-B537-A7A2B4E62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 descr="A MENSAGEM PROFÉTICA NOS NOMES DAS 12 TRIBOS DE ISRAEL | Cristianismo  Consciente">
            <a:extLst>
              <a:ext uri="{FF2B5EF4-FFF2-40B4-BE49-F238E27FC236}">
                <a16:creationId xmlns:a16="http://schemas.microsoft.com/office/drawing/2014/main" id="{3FEC4CF1-BD79-4889-8ADE-A9C6CFB70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047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569B4-36D8-4EEE-A9BE-D97917A0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9E2D68-3921-476F-8870-18C47AB37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170" name="Picture 2" descr="Moisés ergue o cajado em direção ao Mar Vermelho – Biblia.com.br">
            <a:extLst>
              <a:ext uri="{FF2B5EF4-FFF2-40B4-BE49-F238E27FC236}">
                <a16:creationId xmlns:a16="http://schemas.microsoft.com/office/drawing/2014/main" id="{F1E4232C-5435-4C03-8C23-20FC85709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358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D0F9E-12B5-421A-9E1A-BA4D9708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2A7DE6-1500-4A1D-958D-61E475CD9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4" name="Picture 2" descr="3 — O povo hebreu. O povo hebreu, que também recebe as… | by Emanoel |  Medium">
            <a:extLst>
              <a:ext uri="{FF2B5EF4-FFF2-40B4-BE49-F238E27FC236}">
                <a16:creationId xmlns:a16="http://schemas.microsoft.com/office/drawing/2014/main" id="{C88C6DA8-7F37-493C-AFCC-D94EC7BCE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4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303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71836-5DF4-4D5F-BD74-5C2E5D44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BE7584-77B5-43BC-9872-8043F4A41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218" name="Picture 2" descr="Josué e os muros de Jericó | História bíblica">
            <a:extLst>
              <a:ext uri="{FF2B5EF4-FFF2-40B4-BE49-F238E27FC236}">
                <a16:creationId xmlns:a16="http://schemas.microsoft.com/office/drawing/2014/main" id="{2AEFC6D2-C485-449F-93DF-2D88C614C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12277580" cy="706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201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DEC19-E227-4DD4-8697-0059C70B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D6FA5-F644-419E-ADE7-26949234C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42" name="Picture 2" descr="Estudo Bíblico, por que o rei Davi era um homem segundo o coração de Deus?  - Quora">
            <a:extLst>
              <a:ext uri="{FF2B5EF4-FFF2-40B4-BE49-F238E27FC236}">
                <a16:creationId xmlns:a16="http://schemas.microsoft.com/office/drawing/2014/main" id="{3B04753D-44D1-4EBB-8D9B-799D3CDE9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797"/>
            <a:ext cx="12185256" cy="686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093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E2534-778A-43A3-A4F5-6096EDC9F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F5056B-792B-4B7D-B608-60199FC70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266" name="Picture 2" descr="Cativeiro Babilônico - Panorama Bíblico">
            <a:extLst>
              <a:ext uri="{FF2B5EF4-FFF2-40B4-BE49-F238E27FC236}">
                <a16:creationId xmlns:a16="http://schemas.microsoft.com/office/drawing/2014/main" id="{2DBF243C-2FF9-4DB1-8040-5956A9227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295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8777C-F51E-4BB3-8E08-30F00425D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4C5492-6722-4A34-85F9-24B07B694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290" name="Picture 2" descr="Os israelitas deixam Babilônia e voltam a Jerusalém | História bíblica">
            <a:extLst>
              <a:ext uri="{FF2B5EF4-FFF2-40B4-BE49-F238E27FC236}">
                <a16:creationId xmlns:a16="http://schemas.microsoft.com/office/drawing/2014/main" id="{CB854F16-3380-4813-9B4C-5707C3418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1"/>
            <a:ext cx="12223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9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DA27F-7B8D-4A91-BDD1-875A3322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63ADA6-ADDC-49AD-90E8-39BF99CBD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3314" name="Picture 2" descr="Revolta dos Macabeus – História Judaica – Aula 29 - Congregação Judaica  Shaarei Shalom">
            <a:extLst>
              <a:ext uri="{FF2B5EF4-FFF2-40B4-BE49-F238E27FC236}">
                <a16:creationId xmlns:a16="http://schemas.microsoft.com/office/drawing/2014/main" id="{64BDB504-531C-4B30-931B-81073703D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523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871E-1C57-444F-9910-4F6D26AB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95715A-4374-4E47-A951-30DB10164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4338" name="Picture 2" descr="Solenidade da Anunciação do Senhor - Paróquia Nossa Senhora da Conceição">
            <a:extLst>
              <a:ext uri="{FF2B5EF4-FFF2-40B4-BE49-F238E27FC236}">
                <a16:creationId xmlns:a16="http://schemas.microsoft.com/office/drawing/2014/main" id="{12F191F6-4FD3-4777-A719-B1D0B9559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980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Quadro Sagrada Família Estilo Bizantino Sala Copa 40x60cm | Mercado Livre">
            <a:extLst>
              <a:ext uri="{FF2B5EF4-FFF2-40B4-BE49-F238E27FC236}">
                <a16:creationId xmlns:a16="http://schemas.microsoft.com/office/drawing/2014/main" id="{FC7F66E6-A759-411B-94CF-2ED6DFACA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563" y="1199"/>
            <a:ext cx="4690052" cy="685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722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8F0DB-A702-4B8A-B965-B8C5BD80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E12DB0-687E-409B-9352-43EFE0118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6386" name="Picture 2" descr="Por que Jesus Cristo quis ser batizado?">
            <a:extLst>
              <a:ext uri="{FF2B5EF4-FFF2-40B4-BE49-F238E27FC236}">
                <a16:creationId xmlns:a16="http://schemas.microsoft.com/office/drawing/2014/main" id="{E744B737-7BDC-43ED-9634-1C08BB010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414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A1FB9-C869-40AD-8AED-61267DA7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039F49-970A-41A8-A7DD-FF2C7D6FA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 descr="A Boa Semente: Profissão de Fé de Pedro - Edificar Minha Igreja">
            <a:extLst>
              <a:ext uri="{FF2B5EF4-FFF2-40B4-BE49-F238E27FC236}">
                <a16:creationId xmlns:a16="http://schemas.microsoft.com/office/drawing/2014/main" id="{F3691B5A-EBF1-4D94-BB86-828E82294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92"/>
            <a:ext cx="12192000" cy="685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801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2D473-5E03-4B96-8707-6BAF4E9C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11C5BA-DC3F-4D0A-8D31-994811868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8434" name="Picture 2" descr="O que aconteceu na Última Ceia? - Opus Dei">
            <a:extLst>
              <a:ext uri="{FF2B5EF4-FFF2-40B4-BE49-F238E27FC236}">
                <a16:creationId xmlns:a16="http://schemas.microsoft.com/office/drawing/2014/main" id="{3BE6C910-5366-44B4-B3F3-BBB7265A1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597"/>
            <a:ext cx="12192001" cy="686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727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9BBE4-D01B-4884-895E-A2228B79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6DB9B5-40AB-4740-B802-7AE0E9B6C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9460" name="Picture 4" descr="A Paixão De Cristo - Assista online esse e outros sucessos no Telecine">
            <a:extLst>
              <a:ext uri="{FF2B5EF4-FFF2-40B4-BE49-F238E27FC236}">
                <a16:creationId xmlns:a16="http://schemas.microsoft.com/office/drawing/2014/main" id="{C051BAED-228A-444B-BF54-8191878E5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8C08-0455-4CEE-B5E3-B65198AA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C9A3D1-A0B7-46A9-BAD2-83597A25E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484" name="Picture 4" descr="Grupos apresentam espetáculos com crucificação e ressurreição de Cristo">
            <a:extLst>
              <a:ext uri="{FF2B5EF4-FFF2-40B4-BE49-F238E27FC236}">
                <a16:creationId xmlns:a16="http://schemas.microsoft.com/office/drawing/2014/main" id="{DB9E3135-69B1-4F02-A053-45B30CA23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838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B9348-8897-4CA4-A1A9-0915C272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8DC23-D33A-4DCC-A2C8-8C2ACE87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1506" name="Picture 2" descr="A ressurreição de Jesus | Somente Jesus Cristo | Chamada / Hoje">
            <a:extLst>
              <a:ext uri="{FF2B5EF4-FFF2-40B4-BE49-F238E27FC236}">
                <a16:creationId xmlns:a16="http://schemas.microsoft.com/office/drawing/2014/main" id="{2DBB24ED-BACD-4696-AB34-9E028D267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183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F3324-663C-471B-A5E9-1E9E3E2F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00B99B-4785-44BF-A098-183D68BD2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2530" name="Picture 2" descr="Ascensão: proximidade radical">
            <a:extLst>
              <a:ext uri="{FF2B5EF4-FFF2-40B4-BE49-F238E27FC236}">
                <a16:creationId xmlns:a16="http://schemas.microsoft.com/office/drawing/2014/main" id="{5FDD4EC5-6E91-4309-A619-98EFC4FE9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1999" cy="686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96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10A4B-27F0-4F71-8CCC-F1832580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D935C4-A849-4D25-A738-5FF1EAB69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3554" name="Picture 2" descr="Dia de Pentecostes | 23 de maio de 2021 - Calendarr">
            <a:extLst>
              <a:ext uri="{FF2B5EF4-FFF2-40B4-BE49-F238E27FC236}">
                <a16:creationId xmlns:a16="http://schemas.microsoft.com/office/drawing/2014/main" id="{22849ACA-A53D-42CD-A693-29BFB0403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855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EA29E-61DE-49DD-BDBE-F152F465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8BDE76-94CC-4BE3-A95B-06B0FFC7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4578" name="Picture 2" descr="Centro de Estudos - Iconografia">
            <a:extLst>
              <a:ext uri="{FF2B5EF4-FFF2-40B4-BE49-F238E27FC236}">
                <a16:creationId xmlns:a16="http://schemas.microsoft.com/office/drawing/2014/main" id="{39A44451-0BA7-4B38-A5F8-4EAC1B24A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3011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omilia Dominical.370: 28.º Domingo do Tempo Comum - O banquete nupcial do  Cordeiro by Padre Paulo Ricardo">
            <a:extLst>
              <a:ext uri="{FF2B5EF4-FFF2-40B4-BE49-F238E27FC236}">
                <a16:creationId xmlns:a16="http://schemas.microsoft.com/office/drawing/2014/main" id="{F4C9320F-021F-45F1-9BE7-D37BB2B18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065" y="1171"/>
            <a:ext cx="6808763" cy="680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4909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A Bíblia católica é a única que não é mutilada - O Catequista">
            <a:extLst>
              <a:ext uri="{FF2B5EF4-FFF2-40B4-BE49-F238E27FC236}">
                <a16:creationId xmlns:a16="http://schemas.microsoft.com/office/drawing/2014/main" id="{4E81E4C9-3137-4192-941C-EEDD561DE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22987"/>
            <a:ext cx="9144000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88AC8065-BA98-4883-B471-A5F2301B1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041"/>
            <a:ext cx="121920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QUE A BÍBLIA PROTESTANTE É DIFERENTE DA CATÓLICA?</a:t>
            </a:r>
            <a:endParaRPr lang="pt-BR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5551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QUE CRER NA BÍBLIA???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>
            <a:off x="2532185" y="2538374"/>
            <a:ext cx="925771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História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3. No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Reconhecimento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Escrita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4. Na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Interpretação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00000"/>
              </a:lnSpc>
            </a:pP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CF734B-4F34-4CAD-BA73-6F1E45D39D2E}"/>
              </a:ext>
            </a:extLst>
          </p:cNvPr>
          <p:cNvSpPr txBox="1">
            <a:spLocks/>
          </p:cNvSpPr>
          <p:nvPr/>
        </p:nvSpPr>
        <p:spPr>
          <a:xfrm>
            <a:off x="858128" y="8432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INSPIRAÇÃO</a:t>
            </a:r>
            <a:endParaRPr lang="pt-BR" sz="36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3251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>
            <a:off x="4253132" y="3246914"/>
            <a:ext cx="3685735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INCLUI 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Bíblia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CF734B-4F34-4CAD-BA73-6F1E45D39D2E}"/>
              </a:ext>
            </a:extLst>
          </p:cNvPr>
          <p:cNvSpPr txBox="1">
            <a:spLocks/>
          </p:cNvSpPr>
          <p:nvPr/>
        </p:nvSpPr>
        <p:spPr>
          <a:xfrm>
            <a:off x="0" y="1504448"/>
            <a:ext cx="12192000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CRER EM TUDO QUE CRÊ E ENSINA A UNA E SANTA </a:t>
            </a:r>
          </a:p>
          <a:p>
            <a:pPr algn="ctr">
              <a:lnSpc>
                <a:spcPct val="150000"/>
              </a:lnSpc>
            </a:pPr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IGREJA CATÓLICA APOSTÓLICA ROMANA</a:t>
            </a:r>
            <a:endParaRPr lang="pt-BR" sz="36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2507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QUE CRER NA BÍBLIA???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>
            <a:off x="3428999" y="1636175"/>
            <a:ext cx="5373858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Razão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Convencimento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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Fé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CF734B-4F34-4CAD-BA73-6F1E45D39D2E}"/>
              </a:ext>
            </a:extLst>
          </p:cNvPr>
          <p:cNvSpPr txBox="1">
            <a:spLocks/>
          </p:cNvSpPr>
          <p:nvPr/>
        </p:nvSpPr>
        <p:spPr>
          <a:xfrm>
            <a:off x="858128" y="8432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OLHOS DA FÉ</a:t>
            </a:r>
            <a:endParaRPr lang="pt-BR" sz="36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3DD0016-DCC2-4F92-8BD2-B0D62AD9C67C}"/>
              </a:ext>
            </a:extLst>
          </p:cNvPr>
          <p:cNvCxnSpPr/>
          <p:nvPr/>
        </p:nvCxnSpPr>
        <p:spPr>
          <a:xfrm>
            <a:off x="3559126" y="1885070"/>
            <a:ext cx="5838092" cy="11160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770A22B-B6F8-484E-A8C2-EC98D4CA509E}"/>
              </a:ext>
            </a:extLst>
          </p:cNvPr>
          <p:cNvCxnSpPr>
            <a:cxnSpLocks/>
          </p:cNvCxnSpPr>
          <p:nvPr/>
        </p:nvCxnSpPr>
        <p:spPr>
          <a:xfrm flipH="1">
            <a:off x="3552092" y="1836042"/>
            <a:ext cx="5838092" cy="11160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ítulo 1">
            <a:extLst>
              <a:ext uri="{FF2B5EF4-FFF2-40B4-BE49-F238E27FC236}">
                <a16:creationId xmlns:a16="http://schemas.microsoft.com/office/drawing/2014/main" id="{E2A4D61C-1D02-4758-A726-435D64F4339A}"/>
              </a:ext>
            </a:extLst>
          </p:cNvPr>
          <p:cNvSpPr txBox="1">
            <a:spLocks/>
          </p:cNvSpPr>
          <p:nvPr/>
        </p:nvSpPr>
        <p:spPr>
          <a:xfrm>
            <a:off x="1121897" y="2952788"/>
            <a:ext cx="4772466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Fé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Razão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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Obediência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646A7A3E-04E2-4CA2-9227-FA1813E56A18}"/>
              </a:ext>
            </a:extLst>
          </p:cNvPr>
          <p:cNvSpPr txBox="1">
            <a:spLocks/>
          </p:cNvSpPr>
          <p:nvPr/>
        </p:nvSpPr>
        <p:spPr>
          <a:xfrm>
            <a:off x="6760701" y="2950440"/>
            <a:ext cx="4772466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Fé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Obediência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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Razão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34ADFAF-3971-4A0B-8AA1-AB1C7A3BA483}"/>
              </a:ext>
            </a:extLst>
          </p:cNvPr>
          <p:cNvSpPr txBox="1">
            <a:spLocks/>
          </p:cNvSpPr>
          <p:nvPr/>
        </p:nvSpPr>
        <p:spPr>
          <a:xfrm>
            <a:off x="5901397" y="2957915"/>
            <a:ext cx="624841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8DC5318-4120-4AF6-852E-485EAFBBF10D}"/>
              </a:ext>
            </a:extLst>
          </p:cNvPr>
          <p:cNvSpPr txBox="1">
            <a:spLocks/>
          </p:cNvSpPr>
          <p:nvPr/>
        </p:nvSpPr>
        <p:spPr>
          <a:xfrm rot="20036798">
            <a:off x="230061" y="1410456"/>
            <a:ext cx="2386233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Humildade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C6E8221-4B80-443B-BA1B-6B16098321E7}"/>
              </a:ext>
            </a:extLst>
          </p:cNvPr>
          <p:cNvSpPr txBox="1">
            <a:spLocks/>
          </p:cNvSpPr>
          <p:nvPr/>
        </p:nvSpPr>
        <p:spPr>
          <a:xfrm rot="817441">
            <a:off x="10035825" y="1274719"/>
            <a:ext cx="2054510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Decisão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22965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QUE NÃO CRER </a:t>
            </a:r>
            <a:r>
              <a:rPr lang="en-US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SOMENTE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BÍBLIA???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>
            <a:off x="1167618" y="1506048"/>
            <a:ext cx="11197883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Jesus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Igreja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Católica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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Tradição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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Magistério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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Escrituras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CF734B-4F34-4CAD-BA73-6F1E45D39D2E}"/>
              </a:ext>
            </a:extLst>
          </p:cNvPr>
          <p:cNvSpPr txBox="1">
            <a:spLocks/>
          </p:cNvSpPr>
          <p:nvPr/>
        </p:nvSpPr>
        <p:spPr>
          <a:xfrm>
            <a:off x="858128" y="8432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ORIGEM DA BÍBLIA</a:t>
            </a:r>
            <a:endParaRPr lang="pt-BR" sz="36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66F32EF-7288-46D7-91D7-9E1C94BFABFF}"/>
              </a:ext>
            </a:extLst>
          </p:cNvPr>
          <p:cNvSpPr txBox="1">
            <a:spLocks/>
          </p:cNvSpPr>
          <p:nvPr/>
        </p:nvSpPr>
        <p:spPr>
          <a:xfrm>
            <a:off x="869848" y="23743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FONTES DA VERDADE</a:t>
            </a:r>
            <a:endParaRPr lang="pt-BR" sz="36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B30B339-C4CD-47D0-A58B-7C89DD97FE62}"/>
              </a:ext>
            </a:extLst>
          </p:cNvPr>
          <p:cNvSpPr txBox="1">
            <a:spLocks/>
          </p:cNvSpPr>
          <p:nvPr/>
        </p:nvSpPr>
        <p:spPr>
          <a:xfrm>
            <a:off x="321210" y="3248514"/>
            <a:ext cx="350520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Tradição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Apostólica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ED770CD-8528-4255-850F-A91C87667B98}"/>
              </a:ext>
            </a:extLst>
          </p:cNvPr>
          <p:cNvSpPr txBox="1">
            <a:spLocks/>
          </p:cNvSpPr>
          <p:nvPr/>
        </p:nvSpPr>
        <p:spPr>
          <a:xfrm>
            <a:off x="4343398" y="3220963"/>
            <a:ext cx="350520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Magistério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Igreja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830B2F9-EE99-483B-A76C-7DC95B5F5FE9}"/>
              </a:ext>
            </a:extLst>
          </p:cNvPr>
          <p:cNvSpPr txBox="1">
            <a:spLocks/>
          </p:cNvSpPr>
          <p:nvPr/>
        </p:nvSpPr>
        <p:spPr>
          <a:xfrm>
            <a:off x="8280007" y="3232683"/>
            <a:ext cx="350520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Sagradas</a:t>
            </a:r>
            <a:r>
              <a:rPr lang="en-US" sz="3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Escrituras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4210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QUE NÃO CRER </a:t>
            </a:r>
            <a:r>
              <a:rPr lang="en-US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SOMENTE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BÍBLIA???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83585A-B3E0-4A5B-8797-480221520BCB}"/>
              </a:ext>
            </a:extLst>
          </p:cNvPr>
          <p:cNvSpPr txBox="1">
            <a:spLocks/>
          </p:cNvSpPr>
          <p:nvPr/>
        </p:nvSpPr>
        <p:spPr>
          <a:xfrm rot="20755371">
            <a:off x="787204" y="1884923"/>
            <a:ext cx="2658796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Deus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CF734B-4F34-4CAD-BA73-6F1E45D39D2E}"/>
              </a:ext>
            </a:extLst>
          </p:cNvPr>
          <p:cNvSpPr txBox="1">
            <a:spLocks/>
          </p:cNvSpPr>
          <p:nvPr/>
        </p:nvSpPr>
        <p:spPr>
          <a:xfrm>
            <a:off x="858128" y="8432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INTERPRETAÇÃO / UNIDADE</a:t>
            </a:r>
            <a:endParaRPr lang="pt-BR" sz="36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8F6367A-A2B3-4EBE-B957-5ECC412937D1}"/>
              </a:ext>
            </a:extLst>
          </p:cNvPr>
          <p:cNvSpPr txBox="1">
            <a:spLocks/>
          </p:cNvSpPr>
          <p:nvPr/>
        </p:nvSpPr>
        <p:spPr>
          <a:xfrm rot="437210">
            <a:off x="3653129" y="1995549"/>
            <a:ext cx="2658796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Espírito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41B26D5C-F41E-43A7-A183-F84973EED42D}"/>
              </a:ext>
            </a:extLst>
          </p:cNvPr>
          <p:cNvSpPr txBox="1">
            <a:spLocks/>
          </p:cNvSpPr>
          <p:nvPr/>
        </p:nvSpPr>
        <p:spPr>
          <a:xfrm>
            <a:off x="6871431" y="1920940"/>
            <a:ext cx="287054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Verdade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90394D4A-B977-4EC7-BA7B-3BB0D91FD86F}"/>
              </a:ext>
            </a:extLst>
          </p:cNvPr>
          <p:cNvSpPr txBox="1">
            <a:spLocks/>
          </p:cNvSpPr>
          <p:nvPr/>
        </p:nvSpPr>
        <p:spPr>
          <a:xfrm rot="21215218">
            <a:off x="9146220" y="2643296"/>
            <a:ext cx="287054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Igreja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47928456-DFB2-4E37-8873-62983407A25C}"/>
              </a:ext>
            </a:extLst>
          </p:cNvPr>
          <p:cNvSpPr txBox="1">
            <a:spLocks/>
          </p:cNvSpPr>
          <p:nvPr/>
        </p:nvSpPr>
        <p:spPr>
          <a:xfrm rot="21215218">
            <a:off x="2392290" y="3016857"/>
            <a:ext cx="287054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Rebanho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395C659D-886D-4D4F-8ED4-BB30C4DFD907}"/>
              </a:ext>
            </a:extLst>
          </p:cNvPr>
          <p:cNvSpPr txBox="1">
            <a:spLocks/>
          </p:cNvSpPr>
          <p:nvPr/>
        </p:nvSpPr>
        <p:spPr>
          <a:xfrm>
            <a:off x="5907099" y="3186024"/>
            <a:ext cx="2870544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Pastor</a:t>
            </a:r>
            <a:endParaRPr lang="en-US" sz="3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08273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5BE56E-9E2C-4970-B96F-EE4624E80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2081CD-0565-441B-A809-691368F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571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QUE NÃO CRER </a:t>
            </a:r>
            <a:r>
              <a:rPr lang="en-US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SOMENTE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BÍBLIA???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CF734B-4F34-4CAD-BA73-6F1E45D39D2E}"/>
              </a:ext>
            </a:extLst>
          </p:cNvPr>
          <p:cNvSpPr txBox="1">
            <a:spLocks/>
          </p:cNvSpPr>
          <p:nvPr/>
        </p:nvSpPr>
        <p:spPr>
          <a:xfrm>
            <a:off x="-2799473" y="6627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LÓGICA</a:t>
            </a:r>
            <a:endParaRPr lang="pt-BR" sz="36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90394D4A-B977-4EC7-BA7B-3BB0D91FD86F}"/>
              </a:ext>
            </a:extLst>
          </p:cNvPr>
          <p:cNvSpPr txBox="1">
            <a:spLocks/>
          </p:cNvSpPr>
          <p:nvPr/>
        </p:nvSpPr>
        <p:spPr>
          <a:xfrm>
            <a:off x="325776" y="2356777"/>
            <a:ext cx="10133551" cy="1516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vale o que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Bíblia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 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Bíblia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vale o que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Bíblia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Bíblia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ainda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nem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tudo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está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escrito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lnSpc>
                <a:spcPct val="100000"/>
              </a:lnSpc>
            </a:pP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Logo, Sola Scriptura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invenção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Lutero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7650" name="Picture 2" descr="Carrefour on Twitter: &quot;@kalihh… &quot;">
            <a:extLst>
              <a:ext uri="{FF2B5EF4-FFF2-40B4-BE49-F238E27FC236}">
                <a16:creationId xmlns:a16="http://schemas.microsoft.com/office/drawing/2014/main" id="{E6723C36-B2A6-4651-90C7-BFB5A33B1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011" y="1447653"/>
            <a:ext cx="2513177" cy="242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3585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1152</Words>
  <Application>Microsoft Office PowerPoint</Application>
  <PresentationFormat>Widescreen</PresentationFormat>
  <Paragraphs>151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Impact</vt:lpstr>
      <vt:lpstr>Tema do Office</vt:lpstr>
      <vt:lpstr>A Bíblia</vt:lpstr>
      <vt:lpstr>1. CONTEÚDO FORMAL DA BÍBLIA 2. CONTEÚDO MATERIAL DA BÍBLIA 3. POR QUE CRER NA BÍBLIA? 4. POR QUE NÃO CRER SOMENTE NA BÍBLIA?</vt:lpstr>
      <vt:lpstr>CONTEÚDO FORMAL DA BÍBLIA</vt:lpstr>
      <vt:lpstr>Apresentação do PowerPoint</vt:lpstr>
      <vt:lpstr>CONTEÚDO FORMAL DA BÍBLIA</vt:lpstr>
      <vt:lpstr>CONTEÚDO FORMAL DA BÍBLIA</vt:lpstr>
      <vt:lpstr>CONTEÚDO FORMAL DA BÍBLIA</vt:lpstr>
      <vt:lpstr>Apresentação do PowerPoint</vt:lpstr>
      <vt:lpstr>Apresentação do PowerPoint</vt:lpstr>
      <vt:lpstr>Apresentação do PowerPoint</vt:lpstr>
      <vt:lpstr>CONTEÚDO MATERIAL DA BÍBLIA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POR QUE A BÍBLIA PROTESTANTE É DIFERENTE DA CATÓLICA?</vt:lpstr>
      <vt:lpstr>POR QUE CRER NA BÍBLIA???</vt:lpstr>
      <vt:lpstr>CONCLUSÃO</vt:lpstr>
      <vt:lpstr>POR QUE CRER NA BÍBLIA???</vt:lpstr>
      <vt:lpstr>POR QUE NÃO CRER SOMENTE NA BÍBLIA???</vt:lpstr>
      <vt:lpstr>POR QUE NÃO CRER SOMENTE NA BÍBLIA???</vt:lpstr>
      <vt:lpstr>POR QUE NÃO CRER SOMENTE NA BÍBLIA???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Bíblia</dc:title>
  <dc:creator>Daniel Andrade</dc:creator>
  <cp:lastModifiedBy>Lorena Moraes</cp:lastModifiedBy>
  <cp:revision>17</cp:revision>
  <dcterms:created xsi:type="dcterms:W3CDTF">2021-04-11T14:54:01Z</dcterms:created>
  <dcterms:modified xsi:type="dcterms:W3CDTF">2022-05-28T13:04:57Z</dcterms:modified>
</cp:coreProperties>
</file>