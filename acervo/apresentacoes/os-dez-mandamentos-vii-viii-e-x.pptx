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omments/modernComment_10E_E8209A72.xml" ContentType="application/vnd.ms-powerpoint.comments+xml"/>
  <Override PartName="/ppt/comments/modernComment_103_0.xml" ContentType="application/vnd.ms-powerpoint.comments+xml"/>
  <Override PartName="/ppt/comments/modernComment_110_ECC731C2.xml" ContentType="application/vnd.ms-powerpoint.comments+xml"/>
  <Override PartName="/ppt/comments/modernComment_116_3732126E.xml" ContentType="application/vnd.ms-powerpoint.comments+xml"/>
  <Override PartName="/ppt/comments/modernComment_107_0.xml" ContentType="application/vnd.ms-powerpoint.comments+xml"/>
  <Override PartName="/ppt/comments/modernComment_10B_0.xml" ContentType="application/vnd.ms-powerpoint.comments+xml"/>
  <Override PartName="/ppt/comments/modernComment_121_C92B69CF.xml" ContentType="application/vnd.ms-powerpoint.comments+xml"/>
  <Override PartName="/ppt/comments/modernComment_128_78F3A035.xml" ContentType="application/vnd.ms-powerpoint.comments+xml"/>
  <Override PartName="/ppt/comments/modernComment_124_B0009B4E.xml" ContentType="application/vnd.ms-powerpoint.comments+xml"/>
  <Override PartName="/ppt/comments/modernComment_125_BC9DBDF3.xml" ContentType="application/vnd.ms-powerpoint.comments+xml"/>
  <Override PartName="/ppt/comments/modernComment_126_F7525226.xml" ContentType="application/vnd.ms-powerpoint.comments+xml"/>
  <Override PartName="/ppt/comments/modernComment_127_CA57B13F.xml" ContentType="application/vnd.ms-powerpoint.comments+xml"/>
  <Override PartName="/ppt/comments/modernComment_129_74C1089E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70" r:id="rId4"/>
    <p:sldId id="258" r:id="rId5"/>
    <p:sldId id="259" r:id="rId6"/>
    <p:sldId id="260" r:id="rId7"/>
    <p:sldId id="271" r:id="rId8"/>
    <p:sldId id="272" r:id="rId9"/>
    <p:sldId id="273" r:id="rId10"/>
    <p:sldId id="274" r:id="rId11"/>
    <p:sldId id="275" r:id="rId12"/>
    <p:sldId id="277" r:id="rId13"/>
    <p:sldId id="276" r:id="rId14"/>
    <p:sldId id="261" r:id="rId15"/>
    <p:sldId id="262" r:id="rId16"/>
    <p:sldId id="278" r:id="rId17"/>
    <p:sldId id="263" r:id="rId18"/>
    <p:sldId id="279" r:id="rId19"/>
    <p:sldId id="265" r:id="rId20"/>
    <p:sldId id="264" r:id="rId21"/>
    <p:sldId id="266" r:id="rId22"/>
    <p:sldId id="267" r:id="rId23"/>
    <p:sldId id="268" r:id="rId24"/>
    <p:sldId id="269" r:id="rId25"/>
    <p:sldId id="280" r:id="rId26"/>
    <p:sldId id="281" r:id="rId27"/>
    <p:sldId id="282" r:id="rId28"/>
    <p:sldId id="283" r:id="rId29"/>
    <p:sldId id="289" r:id="rId30"/>
    <p:sldId id="290" r:id="rId31"/>
    <p:sldId id="296" r:id="rId32"/>
    <p:sldId id="291" r:id="rId33"/>
    <p:sldId id="292" r:id="rId34"/>
    <p:sldId id="293" r:id="rId35"/>
    <p:sldId id="294" r:id="rId36"/>
    <p:sldId id="295" r:id="rId37"/>
    <p:sldId id="285" r:id="rId38"/>
    <p:sldId id="297" r:id="rId39"/>
    <p:sldId id="286" r:id="rId40"/>
    <p:sldId id="287" r:id="rId41"/>
    <p:sldId id="288" r:id="rId4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1pPr>
    <a:lvl2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2pPr>
    <a:lvl3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3pPr>
    <a:lvl4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4pPr>
    <a:lvl5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5pPr>
    <a:lvl6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6pPr>
    <a:lvl7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7pPr>
    <a:lvl8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8pPr>
    <a:lvl9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2C2B6C-F981-F1A5-D6CB-8CECF05BBAB4}" name="Thiago Colletes" initials="TC" userId="425b58cdbdd7dc2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638EDB-A57A-6440-ADF8-D0C015B45BC9}" v="333" dt="2023-03-03T20:07:21.49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9C3BA">
              <a:alpha val="50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9847F"/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2525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-375889"/>
              <a:satOff val="-9195"/>
              <a:lumOff val="-14901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left>
          <a:right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right>
          <a:top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top>
          <a:bottom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bottom>
          <a:insideH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insideH>
          <a:insideV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9C3BA">
              <a:alpha val="75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9C3BA"/>
              </a:solidFill>
              <a:prstDash val="solid"/>
              <a:miter lim="400000"/>
            </a:ln>
          </a:top>
          <a:bottom>
            <a:ln w="12700" cap="flat">
              <a:solidFill>
                <a:srgbClr val="C9C3BA"/>
              </a:solidFill>
              <a:prstDash val="solid"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solidFill>
                <a:srgbClr val="C9C3BA"/>
              </a:solidFill>
              <a:prstDash val="solid"/>
              <a:miter lim="400000"/>
            </a:ln>
          </a:left>
          <a:right>
            <a:ln w="12700" cap="flat">
              <a:solidFill>
                <a:srgbClr val="C9C3BA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C9C3BA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solidFill>
                <a:srgbClr val="C9C3BA"/>
              </a:solidFill>
              <a:prstDash val="solid"/>
              <a:miter lim="400000"/>
            </a:ln>
          </a:left>
          <a:right>
            <a:ln w="12700" cap="flat">
              <a:solidFill>
                <a:srgbClr val="C9C3BA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C9C3BA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9C3BA"/>
              </a:solidFill>
              <a:prstDash val="solid"/>
              <a:miter lim="400000"/>
            </a:ln>
          </a:top>
          <a:bottom>
            <a:ln w="12700" cap="flat">
              <a:solidFill>
                <a:srgbClr val="C9C3BA"/>
              </a:solidFill>
              <a:prstDash val="solid"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9C3BA">
              <a:alpha val="50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39D60"/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2525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3">
              <a:hueOff val="708446"/>
              <a:satOff val="-4821"/>
              <a:lumOff val="-14251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left>
          <a:right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1">
              <a:hueOff val="-113918"/>
              <a:satOff val="19024"/>
              <a:lumOff val="19749"/>
              <a:alpha val="35000"/>
            </a:scheme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38AAF"/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369196"/>
              <a:satOff val="13972"/>
              <a:lumOff val="-24493"/>
            </a:schemeClr>
          </a:solidFill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369194"/>
              <a:satOff val="6343"/>
              <a:lumOff val="-13963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solidFill>
                <a:srgbClr val="C9C3BA"/>
              </a:solidFill>
              <a:prstDash val="solid"/>
              <a:miter lim="400000"/>
            </a:ln>
          </a:left>
          <a:right>
            <a:ln w="12700" cap="flat">
              <a:solidFill>
                <a:srgbClr val="C9C3BA"/>
              </a:solidFill>
              <a:prstDash val="solid"/>
              <a:miter lim="400000"/>
            </a:ln>
          </a:right>
          <a:top>
            <a:ln w="12700" cap="flat">
              <a:solidFill>
                <a:srgbClr val="C9C3BA"/>
              </a:solidFill>
              <a:prstDash val="solid"/>
              <a:miter lim="400000"/>
            </a:ln>
          </a:top>
          <a:bottom>
            <a:ln w="12700" cap="flat">
              <a:solidFill>
                <a:srgbClr val="C9C3BA"/>
              </a:solidFill>
              <a:prstDash val="solid"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solidFill>
                <a:srgbClr val="C9C3B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9C3BA">
              <a:alpha val="50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6635F"/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9847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9C3BA">
              <a:alpha val="35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89847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89847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49"/>
    <p:restoredTop sz="94648"/>
  </p:normalViewPr>
  <p:slideViewPr>
    <p:cSldViewPr snapToGrid="0">
      <p:cViewPr varScale="1">
        <p:scale>
          <a:sx n="32" d="100"/>
          <a:sy n="32" d="100"/>
        </p:scale>
        <p:origin x="8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omments/modernComment_10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B2FDC2-CE3B-3849-B6AF-36B7EB0E450D}" authorId="{1A2C2B6C-F981-F1A5-D6CB-8CECF05BBAB4}" status="resolved" created="2023-03-03T19:13:47.486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7"/>
      <ac:picMk id="182" creationId="{00000000-0000-0000-0000-000000000000}"/>
    </ac:deMkLst>
    <p188:txBody>
      <a:bodyPr/>
      <a:lstStyle/>
      <a:p>
        <a:r>
          <a:rPr lang="en-BR"/>
          <a:t>Colocar imagem de tentação</a:t>
        </a:r>
      </a:p>
    </p188:txBody>
  </p188:cm>
</p188:cmLst>
</file>

<file path=ppt/comments/modernComment_10E_E8209A7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BC819AB-FCA8-B342-BA32-67CAB622A453}" authorId="{1A2C2B6C-F981-F1A5-D6CB-8CECF05BBAB4}" status="resolved" created="2023-03-03T18:43:02.366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894450802" sldId="270"/>
      <ac:picMk id="142" creationId="{00000000-0000-0000-0000-000000000000}"/>
    </ac:deMkLst>
    <p188:txBody>
      <a:bodyPr/>
      <a:lstStyle/>
      <a:p>
        <a:r>
          <a:rPr lang="en-BR"/>
          <a:t>Colocar imagem de Caim e Abel
</a:t>
        </a:r>
      </a:p>
    </p188:txBody>
  </p188:cm>
</p188:cmLst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3F0727B-86E4-BD45-881D-54B179049B51}" authorId="{1A2C2B6C-F981-F1A5-D6CB-8CECF05BBAB4}" status="resolved" created="2023-03-03T18:43:16.942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9"/>
      <ac:picMk id="150" creationId="{00000000-0000-0000-0000-000000000000}"/>
    </ac:deMkLst>
    <p188:txBody>
      <a:bodyPr/>
      <a:lstStyle/>
      <a:p>
        <a:r>
          <a:rPr lang="en-BR"/>
          <a:t>Trocar imagem de alguém roubando um pão</a:t>
        </a:r>
      </a:p>
    </p188:txBody>
  </p188:cm>
</p188:cmLst>
</file>

<file path=ppt/comments/modernComment_10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4A87B26-ABA3-4647-ADCB-20B36FDE64DC}" authorId="{1A2C2B6C-F981-F1A5-D6CB-8CECF05BBAB4}" status="resolved" created="2023-03-03T19:06:47.247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3"/>
      <ac:picMk id="166" creationId="{00000000-0000-0000-0000-000000000000}"/>
    </ac:deMkLst>
    <p188:txBody>
      <a:bodyPr/>
      <a:lstStyle/>
      <a:p>
        <a:r>
          <a:rPr lang="en-BR"/>
          <a:t>Trocar imagem para Enchente em SP/Terremoto na Síria</a:t>
        </a:r>
      </a:p>
    </p188:txBody>
  </p188:cm>
</p188:cmLst>
</file>

<file path=ppt/comments/modernComment_110_ECC731C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C87757F-6380-2A47-A8BB-E53B60C6ACAC}" authorId="{1A2C2B6C-F981-F1A5-D6CB-8CECF05BBAB4}" status="resolved" created="2023-03-03T18:56:59.536" complete="100000">
    <pc:sldMkLst xmlns:pc="http://schemas.microsoft.com/office/powerpoint/2013/main/command">
      <pc:docMk/>
      <pc:sldMk cId="3972477378" sldId="272"/>
    </pc:sldMkLst>
    <p188:txBody>
      <a:bodyPr/>
      <a:lstStyle/>
      <a:p>
        <a:r>
          <a:rPr lang="en-BR"/>
          <a:t>Colocar 1 imagem pra cada item</a:t>
        </a:r>
      </a:p>
    </p188:txBody>
  </p188:cm>
</p188:cmLst>
</file>

<file path=ppt/comments/modernComment_116_3732126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44AFA63-1CAA-9B4C-818D-A3F85663BF92}" authorId="{1A2C2B6C-F981-F1A5-D6CB-8CECF05BBAB4}" status="resolved" created="2023-03-03T19:06:27.328" complete="100000">
    <pc:sldMkLst xmlns:pc="http://schemas.microsoft.com/office/powerpoint/2013/main/command">
      <pc:docMk/>
      <pc:sldMk cId="926028398" sldId="278"/>
    </pc:sldMkLst>
    <p188:txBody>
      <a:bodyPr/>
      <a:lstStyle/>
      <a:p>
        <a:r>
          <a:rPr lang="en-BR"/>
          <a:t>Jesus carpinteiro</a:t>
        </a:r>
      </a:p>
    </p188:txBody>
  </p188:cm>
</p188:cmLst>
</file>

<file path=ppt/comments/modernComment_121_C92B69C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4F4991-8D99-A841-BFA7-C16DA29B7B1C}" authorId="{1A2C2B6C-F981-F1A5-D6CB-8CECF05BBAB4}" status="resolved" created="2023-03-03T19:18:50.407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75065551" sldId="289"/>
      <ac:picMk id="178" creationId="{00000000-0000-0000-0000-000000000000}"/>
    </ac:deMkLst>
    <p188:txBody>
      <a:bodyPr/>
      <a:lstStyle/>
      <a:p>
        <a:r>
          <a:rPr lang="en-BR"/>
          <a:t>Colocar imagem do A escada</a:t>
        </a:r>
      </a:p>
    </p188:txBody>
  </p188:cm>
</p188:cmLst>
</file>

<file path=ppt/comments/modernComment_124_B0009B4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CBF878E-3E29-1640-9C44-DB8210BFAA16}" authorId="{1A2C2B6C-F981-F1A5-D6CB-8CECF05BBAB4}" status="resolved" created="2023-03-03T19:22:12.454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952829774" sldId="292"/>
      <ac:picMk id="182" creationId="{00000000-0000-0000-0000-000000000000}"/>
    </ac:deMkLst>
    <p188:txBody>
      <a:bodyPr/>
      <a:lstStyle/>
      <a:p>
        <a:r>
          <a:rPr lang="en-BR"/>
          <a:t>Trocar imagem para adulação</a:t>
        </a:r>
      </a:p>
    </p188:txBody>
  </p188:cm>
</p188:cmLst>
</file>

<file path=ppt/comments/modernComment_125_BC9DBDF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1DF60AC-C28A-EF4E-A021-AF8C8130B05D}" authorId="{1A2C2B6C-F981-F1A5-D6CB-8CECF05BBAB4}" status="resolved" created="2023-03-03T19:24:02.978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164454387" sldId="293"/>
      <ac:picMk id="182" creationId="{00000000-0000-0000-0000-000000000000}"/>
    </ac:deMkLst>
    <p188:txBody>
      <a:bodyPr/>
      <a:lstStyle/>
      <a:p>
        <a:r>
          <a:rPr lang="en-BR"/>
          <a:t>Trocar imagem para alguém arrogante</a:t>
        </a:r>
      </a:p>
    </p188:txBody>
  </p188:cm>
</p188:cmLst>
</file>

<file path=ppt/comments/modernComment_126_F752522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14AAC05-E794-234E-AB99-08019C9FF3EC}" authorId="{1A2C2B6C-F981-F1A5-D6CB-8CECF05BBAB4}" status="resolved" created="2023-03-03T19:24:24.107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149367334" sldId="294"/>
      <ac:picMk id="182" creationId="{00000000-0000-0000-0000-000000000000}"/>
    </ac:deMkLst>
    <p188:txBody>
      <a:bodyPr/>
      <a:lstStyle/>
      <a:p>
        <a:r>
          <a:rPr lang="en-BR"/>
          <a:t>Imagem de bullying</a:t>
        </a:r>
      </a:p>
    </p188:txBody>
  </p188:cm>
</p188:cmLst>
</file>

<file path=ppt/comments/modernComment_127_CA57B13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436DC23-257A-F643-9EDF-0D5D477147CE}" authorId="{1A2C2B6C-F981-F1A5-D6CB-8CECF05BBAB4}" status="resolved" created="2023-03-03T19:24:55.378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94744639" sldId="295"/>
      <ac:picMk id="182" creationId="{00000000-0000-0000-0000-000000000000}"/>
    </ac:deMkLst>
    <p188:replyLst>
      <p188:reply id="{5E01E1FB-71BC-7B49-98DE-5532DE21B86E}" authorId="{1A2C2B6C-F981-F1A5-D6CB-8CECF05BBAB4}" created="2023-03-03T19:26:10.049">
        <p188:txBody>
          <a:bodyPr/>
          <a:lstStyle/>
          <a:p>
            <a:r>
              <a:rPr lang="en-BR"/>
              <a:t>Sugerir que uma funcionária subiu de cargo por ter relacionamento amoroso com o chefe.
</a:t>
            </a:r>
          </a:p>
        </p188:txBody>
      </p188:reply>
    </p188:replyLst>
    <p188:txBody>
      <a:bodyPr/>
      <a:lstStyle/>
      <a:p>
        <a:r>
          <a:rPr lang="en-BR"/>
          <a:t>Trocar imagem</a:t>
        </a:r>
      </a:p>
    </p188:txBody>
  </p188:cm>
</p188:cmLst>
</file>

<file path=ppt/comments/modernComment_128_78F3A03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E8FF4E8-1F57-6146-AE43-7758B320D233}" authorId="{1A2C2B6C-F981-F1A5-D6CB-8CECF05BBAB4}" status="resolved" created="2023-03-03T19:28:36.332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29232181" sldId="296"/>
      <ac:picMk id="182" creationId="{00000000-0000-0000-0000-000000000000}"/>
    </ac:deMkLst>
    <p188:txBody>
      <a:bodyPr/>
      <a:lstStyle/>
      <a:p>
        <a:r>
          <a:rPr lang="en-BR"/>
          <a:t>Trocar imagem</a:t>
        </a:r>
      </a:p>
    </p188:txBody>
  </p188:cm>
</p188:cmLst>
</file>

<file path=ppt/comments/modernComment_129_74C1089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ED57655-AEC7-0B46-A179-EA3C7AA1AFA5}" authorId="{1A2C2B6C-F981-F1A5-D6CB-8CECF05BBAB4}" status="resolved" created="2023-03-03T19:30:20.665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58807710" sldId="297"/>
      <ac:picMk id="186" creationId="{00000000-0000-0000-0000-000000000000}"/>
    </ac:deMkLst>
    <p188:txBody>
      <a:bodyPr/>
      <a:lstStyle/>
      <a:p>
        <a:r>
          <a:rPr lang="en-BR"/>
          <a:t>Trocar imagem para traição sendo observada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5" name="Shape 13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&amp; Subtitl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ine"/>
          <p:cNvSpPr/>
          <p:nvPr/>
        </p:nvSpPr>
        <p:spPr>
          <a:xfrm>
            <a:off x="952500" y="9245600"/>
            <a:ext cx="22498974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4" name="Line"/>
          <p:cNvSpPr/>
          <p:nvPr/>
        </p:nvSpPr>
        <p:spPr>
          <a:xfrm>
            <a:off x="952500" y="5765800"/>
            <a:ext cx="22500035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" name="Line"/>
          <p:cNvSpPr/>
          <p:nvPr/>
        </p:nvSpPr>
        <p:spPr>
          <a:xfrm flipV="1">
            <a:off x="14989317" y="6339647"/>
            <a:ext cx="1" cy="2310129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6" name="Lorem Ipsum Dolor"/>
          <p:cNvSpPr txBox="1">
            <a:spLocks noGrp="1"/>
          </p:cNvSpPr>
          <p:nvPr>
            <p:ph type="body" sz="quarter" idx="21"/>
          </p:nvPr>
        </p:nvSpPr>
        <p:spPr>
          <a:xfrm>
            <a:off x="952500" y="4965700"/>
            <a:ext cx="13500100" cy="635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  <a:defRPr sz="3200" i="1"/>
            </a:lvl1pPr>
          </a:lstStyle>
          <a:p>
            <a:r>
              <a:t>Lorem Ipsum Dolor</a:t>
            </a:r>
          </a:p>
        </p:txBody>
      </p:sp>
      <p:sp>
        <p:nvSpPr>
          <p:cNvPr id="17" name="Title Text"/>
          <p:cNvSpPr txBox="1">
            <a:spLocks noGrp="1"/>
          </p:cNvSpPr>
          <p:nvPr>
            <p:ph type="title"/>
          </p:nvPr>
        </p:nvSpPr>
        <p:spPr>
          <a:xfrm>
            <a:off x="952500" y="5829300"/>
            <a:ext cx="13500100" cy="3340100"/>
          </a:xfrm>
          <a:prstGeom prst="rect">
            <a:avLst/>
          </a:prstGeom>
        </p:spPr>
        <p:txBody>
          <a:bodyPr/>
          <a:lstStyle>
            <a:lvl1pPr algn="l"/>
          </a:lstStyle>
          <a:p>
            <a:r>
              <a:t>Title Text</a:t>
            </a:r>
          </a:p>
        </p:txBody>
      </p:sp>
      <p:sp>
        <p:nvSpPr>
          <p:cNvPr id="1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532100" y="5829300"/>
            <a:ext cx="7950200" cy="33401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 sz="3200"/>
            </a:lvl1pPr>
            <a:lvl2pPr marL="0" indent="0">
              <a:spcBef>
                <a:spcPts val="0"/>
              </a:spcBef>
              <a:buClrTx/>
              <a:buSzTx/>
              <a:buFontTx/>
              <a:buNone/>
              <a:defRPr sz="3200"/>
            </a:lvl2pPr>
            <a:lvl3pPr marL="0" indent="0">
              <a:spcBef>
                <a:spcPts val="0"/>
              </a:spcBef>
              <a:buClrTx/>
              <a:buSzTx/>
              <a:buFontTx/>
              <a:buNone/>
              <a:defRPr sz="3200"/>
            </a:lvl3pPr>
            <a:lvl4pPr marL="0" indent="0">
              <a:spcBef>
                <a:spcPts val="0"/>
              </a:spcBef>
              <a:buClrTx/>
              <a:buSzTx/>
              <a:buFontTx/>
              <a:buNone/>
              <a:defRPr sz="3200"/>
            </a:lvl4pPr>
            <a:lvl5pPr marL="0" indent="0">
              <a:spcBef>
                <a:spcPts val="0"/>
              </a:spcBef>
              <a:buClrTx/>
              <a:buSzTx/>
              <a:buFontTx/>
              <a:buNone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Line"/>
          <p:cNvSpPr/>
          <p:nvPr/>
        </p:nvSpPr>
        <p:spPr>
          <a:xfrm flipV="1">
            <a:off x="14989317" y="9919062"/>
            <a:ext cx="1" cy="231013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7" name="Line"/>
          <p:cNvSpPr/>
          <p:nvPr/>
        </p:nvSpPr>
        <p:spPr>
          <a:xfrm>
            <a:off x="952500" y="12801600"/>
            <a:ext cx="22498974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8" name="Line"/>
          <p:cNvSpPr/>
          <p:nvPr/>
        </p:nvSpPr>
        <p:spPr>
          <a:xfrm>
            <a:off x="952500" y="9321800"/>
            <a:ext cx="22500035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9" name="Line"/>
          <p:cNvSpPr/>
          <p:nvPr/>
        </p:nvSpPr>
        <p:spPr>
          <a:xfrm flipV="1">
            <a:off x="14989317" y="9919062"/>
            <a:ext cx="1" cy="231013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0" name="Lorem Ipsum Dolor"/>
          <p:cNvSpPr txBox="1">
            <a:spLocks noGrp="1"/>
          </p:cNvSpPr>
          <p:nvPr>
            <p:ph type="body" sz="quarter" idx="21"/>
          </p:nvPr>
        </p:nvSpPr>
        <p:spPr>
          <a:xfrm>
            <a:off x="952500" y="8610600"/>
            <a:ext cx="13500100" cy="635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  <a:defRPr sz="3200" i="1"/>
            </a:lvl1pPr>
          </a:lstStyle>
          <a:p>
            <a:r>
              <a:t>Lorem Ipsum Dolor</a:t>
            </a:r>
          </a:p>
        </p:txBody>
      </p:sp>
      <p:sp>
        <p:nvSpPr>
          <p:cNvPr id="31" name="Image"/>
          <p:cNvSpPr>
            <a:spLocks noGrp="1"/>
          </p:cNvSpPr>
          <p:nvPr>
            <p:ph type="pic" idx="22"/>
          </p:nvPr>
        </p:nvSpPr>
        <p:spPr>
          <a:xfrm>
            <a:off x="952500" y="-1460500"/>
            <a:ext cx="22479000" cy="138938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2" name="Title Text"/>
          <p:cNvSpPr txBox="1">
            <a:spLocks noGrp="1"/>
          </p:cNvSpPr>
          <p:nvPr>
            <p:ph type="title"/>
          </p:nvPr>
        </p:nvSpPr>
        <p:spPr>
          <a:xfrm>
            <a:off x="952500" y="9398000"/>
            <a:ext cx="13500100" cy="3340100"/>
          </a:xfrm>
          <a:prstGeom prst="rect">
            <a:avLst/>
          </a:prstGeom>
        </p:spPr>
        <p:txBody>
          <a:bodyPr/>
          <a:lstStyle>
            <a:lvl1pPr algn="l"/>
          </a:lstStyle>
          <a:p>
            <a:r>
              <a:t>Title Text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532100" y="9398000"/>
            <a:ext cx="7950200" cy="33401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 sz="3200"/>
            </a:lvl1pPr>
            <a:lvl2pPr marL="0" indent="0">
              <a:spcBef>
                <a:spcPts val="0"/>
              </a:spcBef>
              <a:buClrTx/>
              <a:buSzTx/>
              <a:buFontTx/>
              <a:buNone/>
              <a:defRPr sz="3200"/>
            </a:lvl2pPr>
            <a:lvl3pPr marL="0" indent="0">
              <a:spcBef>
                <a:spcPts val="0"/>
              </a:spcBef>
              <a:buClrTx/>
              <a:buSzTx/>
              <a:buFontTx/>
              <a:buNone/>
              <a:defRPr sz="3200"/>
            </a:lvl3pPr>
            <a:lvl4pPr marL="0" indent="0">
              <a:spcBef>
                <a:spcPts val="0"/>
              </a:spcBef>
              <a:buClrTx/>
              <a:buSzTx/>
              <a:buFontTx/>
              <a:buNone/>
              <a:defRPr sz="3200"/>
            </a:lvl4pPr>
            <a:lvl5pPr marL="0" indent="0">
              <a:spcBef>
                <a:spcPts val="0"/>
              </a:spcBef>
              <a:buClrTx/>
              <a:buSzTx/>
              <a:buFontTx/>
              <a:buNone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Text"/>
          <p:cNvSpPr txBox="1">
            <a:spLocks noGrp="1"/>
          </p:cNvSpPr>
          <p:nvPr>
            <p:ph type="title"/>
          </p:nvPr>
        </p:nvSpPr>
        <p:spPr>
          <a:xfrm>
            <a:off x="952500" y="5194300"/>
            <a:ext cx="22479000" cy="33401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Line"/>
          <p:cNvSpPr/>
          <p:nvPr/>
        </p:nvSpPr>
        <p:spPr>
          <a:xfrm>
            <a:off x="952500" y="6858000"/>
            <a:ext cx="10643200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0" name="Line"/>
          <p:cNvSpPr/>
          <p:nvPr/>
        </p:nvSpPr>
        <p:spPr>
          <a:xfrm>
            <a:off x="952500" y="3898900"/>
            <a:ext cx="10643093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1" name="Lorem Ipsum Dolor"/>
          <p:cNvSpPr txBox="1">
            <a:spLocks noGrp="1"/>
          </p:cNvSpPr>
          <p:nvPr>
            <p:ph type="body" sz="quarter" idx="21"/>
          </p:nvPr>
        </p:nvSpPr>
        <p:spPr>
          <a:xfrm>
            <a:off x="952500" y="3124200"/>
            <a:ext cx="106426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  <a:defRPr sz="3200" i="1"/>
            </a:lvl1pPr>
          </a:lstStyle>
          <a:p>
            <a:r>
              <a:t>Lorem Ipsum Dolor</a:t>
            </a:r>
          </a:p>
        </p:txBody>
      </p:sp>
      <p:sp>
        <p:nvSpPr>
          <p:cNvPr id="52" name="Image"/>
          <p:cNvSpPr>
            <a:spLocks noGrp="1"/>
          </p:cNvSpPr>
          <p:nvPr>
            <p:ph type="pic" idx="22"/>
          </p:nvPr>
        </p:nvSpPr>
        <p:spPr>
          <a:xfrm>
            <a:off x="12534900" y="-1651000"/>
            <a:ext cx="10799069" cy="158242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53" name="Title Text"/>
          <p:cNvSpPr txBox="1">
            <a:spLocks noGrp="1"/>
          </p:cNvSpPr>
          <p:nvPr>
            <p:ph type="title"/>
          </p:nvPr>
        </p:nvSpPr>
        <p:spPr>
          <a:xfrm>
            <a:off x="952500" y="3975100"/>
            <a:ext cx="10642600" cy="2806700"/>
          </a:xfrm>
          <a:prstGeom prst="rect">
            <a:avLst/>
          </a:prstGeom>
        </p:spPr>
        <p:txBody>
          <a:bodyPr/>
          <a:lstStyle>
            <a:lvl1pPr algn="l">
              <a:defRPr sz="7800"/>
            </a:lvl1pPr>
          </a:lstStyle>
          <a:p>
            <a:r>
              <a:t>Title Text</a:t>
            </a:r>
          </a:p>
        </p:txBody>
      </p:sp>
      <p:sp>
        <p:nvSpPr>
          <p:cNvPr id="5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52500" y="7086600"/>
            <a:ext cx="10642600" cy="5638800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 sz="3200"/>
            </a:lvl1pPr>
            <a:lvl2pPr marL="0" indent="0">
              <a:spcBef>
                <a:spcPts val="0"/>
              </a:spcBef>
              <a:buClrTx/>
              <a:buSzTx/>
              <a:buFontTx/>
              <a:buNone/>
              <a:defRPr sz="3200"/>
            </a:lvl2pPr>
            <a:lvl3pPr marL="0" indent="0">
              <a:spcBef>
                <a:spcPts val="0"/>
              </a:spcBef>
              <a:buClrTx/>
              <a:buSzTx/>
              <a:buFontTx/>
              <a:buNone/>
              <a:defRPr sz="3200"/>
            </a:lvl3pPr>
            <a:lvl4pPr marL="0" indent="0">
              <a:spcBef>
                <a:spcPts val="0"/>
              </a:spcBef>
              <a:buClrTx/>
              <a:buSzTx/>
              <a:buFontTx/>
              <a:buNone/>
              <a:defRPr sz="3200"/>
            </a:lvl4pPr>
            <a:lvl5pPr marL="0" indent="0">
              <a:spcBef>
                <a:spcPts val="0"/>
              </a:spcBef>
              <a:buClrTx/>
              <a:buSzTx/>
              <a:buFontTx/>
              <a:buNone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Line"/>
          <p:cNvSpPr/>
          <p:nvPr/>
        </p:nvSpPr>
        <p:spPr>
          <a:xfrm>
            <a:off x="952500" y="3048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71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Line"/>
          <p:cNvSpPr/>
          <p:nvPr/>
        </p:nvSpPr>
        <p:spPr>
          <a:xfrm>
            <a:off x="952500" y="3048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2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3" name="Image"/>
          <p:cNvSpPr>
            <a:spLocks noGrp="1"/>
          </p:cNvSpPr>
          <p:nvPr>
            <p:ph type="pic" idx="21"/>
          </p:nvPr>
        </p:nvSpPr>
        <p:spPr>
          <a:xfrm>
            <a:off x="12636500" y="-2413000"/>
            <a:ext cx="11024412" cy="161544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85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952500" y="3797300"/>
            <a:ext cx="10909300" cy="8928100"/>
          </a:xfrm>
          <a:prstGeom prst="rect">
            <a:avLst/>
          </a:prstGeom>
        </p:spPr>
        <p:txBody>
          <a:bodyPr/>
          <a:lstStyle>
            <a:lvl1pPr marL="508000" indent="-508000">
              <a:spcBef>
                <a:spcPts val="2500"/>
              </a:spcBef>
              <a:buSzPct val="65000"/>
              <a:defRPr sz="4200"/>
            </a:lvl1pPr>
            <a:lvl2pPr marL="1016000" indent="-508000">
              <a:spcBef>
                <a:spcPts val="2500"/>
              </a:spcBef>
              <a:buSzPct val="65000"/>
              <a:defRPr sz="4200"/>
            </a:lvl2pPr>
            <a:lvl3pPr marL="1524000" indent="-508000">
              <a:spcBef>
                <a:spcPts val="2500"/>
              </a:spcBef>
              <a:buSzPct val="65000"/>
              <a:defRPr sz="4200"/>
            </a:lvl3pPr>
            <a:lvl4pPr marL="2032000" indent="-508000">
              <a:spcBef>
                <a:spcPts val="2500"/>
              </a:spcBef>
              <a:buSzPct val="65000"/>
              <a:defRPr sz="4200"/>
            </a:lvl4pPr>
            <a:lvl5pPr marL="2540000" indent="-508000">
              <a:spcBef>
                <a:spcPts val="2500"/>
              </a:spcBef>
              <a:buSzPct val="65000"/>
              <a:defRPr sz="4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1778000"/>
            <a:ext cx="22479000" cy="101473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Image"/>
          <p:cNvSpPr>
            <a:spLocks noGrp="1"/>
          </p:cNvSpPr>
          <p:nvPr>
            <p:ph type="pic" sz="half" idx="21"/>
          </p:nvPr>
        </p:nvSpPr>
        <p:spPr>
          <a:xfrm>
            <a:off x="12232231" y="6024722"/>
            <a:ext cx="11497993" cy="8088517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2" name="Image"/>
          <p:cNvSpPr>
            <a:spLocks noGrp="1"/>
          </p:cNvSpPr>
          <p:nvPr>
            <p:ph type="pic" sz="half" idx="22"/>
          </p:nvPr>
        </p:nvSpPr>
        <p:spPr>
          <a:xfrm>
            <a:off x="12349986" y="635000"/>
            <a:ext cx="11226801" cy="68072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Image"/>
          <p:cNvSpPr>
            <a:spLocks noGrp="1"/>
          </p:cNvSpPr>
          <p:nvPr>
            <p:ph type="pic" idx="23"/>
          </p:nvPr>
        </p:nvSpPr>
        <p:spPr>
          <a:xfrm>
            <a:off x="730989" y="-2438400"/>
            <a:ext cx="11050413" cy="161925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990600" y="8420100"/>
            <a:ext cx="22390100" cy="8128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1700"/>
              </a:spcBef>
              <a:buClrTx/>
              <a:buSzTx/>
              <a:buFontTx/>
              <a:buNone/>
              <a:defRPr sz="4200" i="1"/>
            </a:lvl1pPr>
          </a:lstStyle>
          <a:p>
            <a:r>
              <a:t>–Johnny Appleseed</a:t>
            </a:r>
          </a:p>
        </p:txBody>
      </p:sp>
      <p:sp>
        <p:nvSpPr>
          <p:cNvPr id="112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2374900" y="6000750"/>
            <a:ext cx="19621500" cy="9398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</a:lvl1pPr>
          </a:lstStyle>
          <a:p>
            <a:r>
              <a:t>“Type a quote here.” </a:t>
            </a:r>
          </a:p>
        </p:txBody>
      </p:sp>
      <p:sp>
        <p:nvSpPr>
          <p:cNvPr id="1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Image"/>
          <p:cNvSpPr>
            <a:spLocks noGrp="1"/>
          </p:cNvSpPr>
          <p:nvPr>
            <p:ph type="pic" idx="21"/>
          </p:nvPr>
        </p:nvSpPr>
        <p:spPr>
          <a:xfrm>
            <a:off x="0" y="-2654300"/>
            <a:ext cx="24384000" cy="171534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"/>
          <p:cNvSpPr/>
          <p:nvPr/>
        </p:nvSpPr>
        <p:spPr>
          <a:xfrm>
            <a:off x="952500" y="30607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952500" y="1143000"/>
            <a:ext cx="22479000" cy="166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3695700"/>
            <a:ext cx="22479000" cy="857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76100" y="13017500"/>
            <a:ext cx="419100" cy="508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>
                <a:solidFill>
                  <a:srgbClr val="4C4946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sz="98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1pPr>
      <a:lvl2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sz="98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2pPr>
      <a:lvl3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sz="98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3pPr>
      <a:lvl4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sz="98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4pPr>
      <a:lvl5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sz="98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5pPr>
      <a:lvl6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sz="98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6pPr>
      <a:lvl7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sz="98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7pPr>
      <a:lvl8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sz="98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8pPr>
      <a:lvl9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sz="98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9pPr>
    </p:titleStyle>
    <p:bodyStyle>
      <a:lvl1pPr marL="6096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50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1pPr>
      <a:lvl2pPr marL="12192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50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2pPr>
      <a:lvl3pPr marL="18288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50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3pPr>
      <a:lvl4pPr marL="24384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50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4pPr>
      <a:lvl5pPr marL="30480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50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5pPr>
      <a:lvl6pPr marL="36576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50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6pPr>
      <a:lvl7pPr marL="42672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50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7pPr>
      <a:lvl8pPr marL="48768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50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8pPr>
      <a:lvl9pPr marL="54864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50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microsoft.com/office/2018/10/relationships/comments" Target="../comments/modernComment_10E_E8209A7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microsoft.com/office/2018/10/relationships/comments" Target="../comments/modernComment_103_0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view-image.php?image=23237&amp;picture=pigeon-stealing-from-bird-feeder&amp;large=1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sciclopedia.org/wiki/Nota_de_100_reais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nc-sa/3.0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microsoft.com/office/2018/10/relationships/comments" Target="../comments/modernComment_110_ECC731C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microsoft.com/office/2018/10/relationships/comments" Target="../comments/modernComment_116_3732126E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microsoft.com/office/2018/10/relationships/comments" Target="../comments/modernComment_107_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microsoft.com/office/2018/10/relationships/comments" Target="../comments/modernComment_10B_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microsoft.com/office/2018/10/relationships/comments" Target="../comments/modernComment_121_C92B69CF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microsoft.com/office/2018/10/relationships/comments" Target="../comments/modernComment_128_78F3A03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microsoft.com/office/2018/10/relationships/comments" Target="../comments/modernComment_124_B0009B4E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microsoft.com/office/2018/10/relationships/comments" Target="../comments/modernComment_125_BC9DBDF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microsoft.com/office/2018/10/relationships/comments" Target="../comments/modernComment_126_F7525226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microsoft.com/office/2018/10/relationships/comments" Target="../comments/modernComment_127_CA57B13F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microsoft.com/office/2018/10/relationships/comments" Target="../comments/modernComment_129_74C1089E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aróquia Imaculado Coração de Maria - DF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Paróquia Imaculado Coração de Maria - DF</a:t>
            </a:r>
          </a:p>
        </p:txBody>
      </p:sp>
      <p:pic>
        <p:nvPicPr>
          <p:cNvPr id="138" name="51lZm7HS2EL._AC_.jpg" descr="51lZm7HS2EL._AC_.jpg"/>
          <p:cNvPicPr>
            <a:picLocks noGrp="1"/>
          </p:cNvPicPr>
          <p:nvPr>
            <p:ph type="pic" idx="22"/>
          </p:nvPr>
        </p:nvPicPr>
        <p:blipFill>
          <a:blip r:embed="rId2"/>
          <a:stretch>
            <a:fillRect/>
          </a:stretch>
        </p:blipFill>
        <p:spPr>
          <a:xfrm>
            <a:off x="12509120" y="860425"/>
            <a:ext cx="10795001" cy="12128500"/>
          </a:xfrm>
          <a:prstGeom prst="rect">
            <a:avLst/>
          </a:prstGeom>
        </p:spPr>
      </p:pic>
      <p:sp>
        <p:nvSpPr>
          <p:cNvPr id="139" name="Os Sete Sacramento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Os</a:t>
            </a:r>
            <a:r>
              <a:rPr dirty="0"/>
              <a:t> </a:t>
            </a:r>
            <a:r>
              <a:rPr lang="pt-BR" dirty="0"/>
              <a:t>Dez Mandamentos</a:t>
            </a:r>
            <a:endParaRPr dirty="0"/>
          </a:p>
        </p:txBody>
      </p:sp>
      <p:sp>
        <p:nvSpPr>
          <p:cNvPr id="140" name="Mandamentos VII e X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Mandamentos</a:t>
            </a:r>
            <a:r>
              <a:rPr dirty="0"/>
              <a:t> VII e X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formacao_nao-roubar-serie-roger.jpg" descr="formacao_nao-roubar-serie-roger.jpg"/>
          <p:cNvPicPr>
            <a:picLocks noGrp="1"/>
          </p:cNvPicPr>
          <p:nvPr>
            <p:ph type="pic" idx="21"/>
          </p:nvPr>
        </p:nvPicPr>
        <p:blipFill>
          <a:blip r:embed="rId2"/>
          <a:stretch>
            <a:fillRect/>
          </a:stretch>
        </p:blipFill>
        <p:spPr>
          <a:xfrm>
            <a:off x="12509500" y="3685598"/>
            <a:ext cx="11049001" cy="9258301"/>
          </a:xfrm>
          <a:prstGeom prst="rect">
            <a:avLst/>
          </a:prstGeom>
        </p:spPr>
      </p:pic>
      <p:sp>
        <p:nvSpPr>
          <p:cNvPr id="143" name="“7º Mandamento”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BR" dirty="0"/>
              <a:t>Relação entre os Mandamentos</a:t>
            </a:r>
            <a:endParaRPr dirty="0"/>
          </a:p>
        </p:txBody>
      </p:sp>
      <p:sp>
        <p:nvSpPr>
          <p:cNvPr id="144" name="&quot;Não furtarás.&quot; - Ex 20,15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décimo</a:t>
            </a:r>
            <a:r>
              <a:rPr lang="en-US" dirty="0"/>
              <a:t> </a:t>
            </a:r>
            <a:r>
              <a:rPr lang="en-US" dirty="0" err="1"/>
              <a:t>mandamento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companheiro</a:t>
            </a:r>
            <a:r>
              <a:rPr lang="en-US" dirty="0"/>
              <a:t> do </a:t>
            </a:r>
            <a:r>
              <a:rPr lang="en-US" dirty="0" err="1"/>
              <a:t>sétimo</a:t>
            </a:r>
            <a:r>
              <a:rPr lang="en-US" dirty="0"/>
              <a:t> </a:t>
            </a:r>
            <a:r>
              <a:rPr lang="en-US" dirty="0" err="1"/>
              <a:t>mandamento</a:t>
            </a:r>
            <a:r>
              <a:rPr lang="en-US" dirty="0"/>
              <a:t>.</a:t>
            </a:r>
          </a:p>
          <a:p>
            <a:r>
              <a:rPr lang="en-US" b="1" dirty="0" err="1"/>
              <a:t>Décimo</a:t>
            </a:r>
            <a:r>
              <a:rPr lang="en-US" b="1" dirty="0"/>
              <a:t> </a:t>
            </a:r>
            <a:r>
              <a:rPr lang="en-US" b="1" dirty="0" err="1"/>
              <a:t>mandamento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pensamento</a:t>
            </a:r>
            <a:r>
              <a:rPr lang="en-US" dirty="0"/>
              <a:t> – o </a:t>
            </a:r>
            <a:r>
              <a:rPr lang="en-US" dirty="0" err="1"/>
              <a:t>pecado</a:t>
            </a:r>
            <a:r>
              <a:rPr lang="en-US" dirty="0"/>
              <a:t> </a:t>
            </a:r>
            <a:r>
              <a:rPr lang="en-US" dirty="0" err="1"/>
              <a:t>já</a:t>
            </a:r>
            <a:r>
              <a:rPr lang="en-US" dirty="0"/>
              <a:t> </a:t>
            </a:r>
            <a:r>
              <a:rPr lang="en-US" dirty="0" err="1"/>
              <a:t>foi</a:t>
            </a:r>
            <a:r>
              <a:rPr lang="en-US" dirty="0"/>
              <a:t> </a:t>
            </a:r>
            <a:r>
              <a:rPr lang="en-US" dirty="0" err="1"/>
              <a:t>cometido</a:t>
            </a:r>
            <a:r>
              <a:rPr lang="en-US" dirty="0"/>
              <a:t> no </a:t>
            </a:r>
            <a:r>
              <a:rPr lang="en-US" dirty="0" err="1"/>
              <a:t>momento</a:t>
            </a:r>
            <a:r>
              <a:rPr lang="en-US" dirty="0"/>
              <a:t> que se </a:t>
            </a:r>
            <a:r>
              <a:rPr lang="en-US" dirty="0" err="1"/>
              <a:t>deseja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decide </a:t>
            </a:r>
            <a:r>
              <a:rPr lang="en-US" dirty="0" err="1"/>
              <a:t>cometê</a:t>
            </a:r>
            <a:r>
              <a:rPr lang="en-US" dirty="0"/>
              <a:t>-lo</a:t>
            </a:r>
          </a:p>
          <a:p>
            <a:r>
              <a:rPr lang="en-US" b="1" dirty="0" err="1"/>
              <a:t>Sétimo</a:t>
            </a:r>
            <a:r>
              <a:rPr lang="en-US" b="1" dirty="0"/>
              <a:t> </a:t>
            </a:r>
            <a:r>
              <a:rPr lang="en-US" b="1" dirty="0" err="1"/>
              <a:t>mandamento</a:t>
            </a:r>
            <a:r>
              <a:rPr lang="en-US" b="1" dirty="0"/>
              <a:t>: </a:t>
            </a:r>
            <a:r>
              <a:rPr lang="en-US" dirty="0" err="1"/>
              <a:t>ação</a:t>
            </a:r>
            <a:r>
              <a:rPr lang="en-US" dirty="0"/>
              <a:t> – </a:t>
            </a:r>
            <a:r>
              <a:rPr lang="en-US" dirty="0" err="1"/>
              <a:t>agrava</a:t>
            </a:r>
            <a:r>
              <a:rPr lang="en-US" dirty="0"/>
              <a:t> a culpa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r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formacao_nao-roubar-serie-roger.jpg"/>
          <p:cNvPicPr>
            <a:picLocks noGrp="1"/>
          </p:cNvPicPr>
          <p:nvPr>
            <p:ph type="pic" idx="2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09500" y="3685598"/>
            <a:ext cx="11049001" cy="92583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3" name="“7º Mandamento”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“7º </a:t>
            </a:r>
            <a:r>
              <a:rPr dirty="0" err="1"/>
              <a:t>Mandamento</a:t>
            </a:r>
            <a:r>
              <a:rPr dirty="0"/>
              <a:t>”</a:t>
            </a:r>
          </a:p>
        </p:txBody>
      </p:sp>
      <p:sp>
        <p:nvSpPr>
          <p:cNvPr id="144" name="&quot;Não furtarás.&quot; - Ex 20,15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>
            <a:normAutofit fontScale="92500"/>
          </a:bodyPr>
          <a:lstStyle/>
          <a:p>
            <a:r>
              <a:rPr lang="en-US" dirty="0" err="1"/>
              <a:t>Justiça</a:t>
            </a:r>
            <a:r>
              <a:rPr lang="en-US" dirty="0"/>
              <a:t> e </a:t>
            </a:r>
            <a:r>
              <a:rPr lang="en-US" dirty="0" err="1"/>
              <a:t>caridade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administração</a:t>
            </a:r>
            <a:r>
              <a:rPr lang="en-US" dirty="0"/>
              <a:t> dos bens </a:t>
            </a:r>
            <a:r>
              <a:rPr lang="en-US" dirty="0" err="1"/>
              <a:t>terrenos</a:t>
            </a:r>
            <a:r>
              <a:rPr lang="en-US" dirty="0"/>
              <a:t> e </a:t>
            </a:r>
            <a:r>
              <a:rPr lang="en-US" dirty="0" err="1"/>
              <a:t>fruto</a:t>
            </a:r>
            <a:r>
              <a:rPr lang="en-US" dirty="0"/>
              <a:t> do </a:t>
            </a:r>
            <a:r>
              <a:rPr lang="en-US" dirty="0" err="1"/>
              <a:t>trabalho</a:t>
            </a:r>
            <a:r>
              <a:rPr lang="en-US" dirty="0"/>
              <a:t> dos </a:t>
            </a:r>
            <a:r>
              <a:rPr lang="en-US" dirty="0" err="1"/>
              <a:t>homens</a:t>
            </a:r>
            <a:r>
              <a:rPr lang="en-US" dirty="0"/>
              <a:t>;</a:t>
            </a:r>
          </a:p>
          <a:p>
            <a:r>
              <a:rPr lang="en-US" dirty="0"/>
              <a:t>O </a:t>
            </a:r>
            <a:r>
              <a:rPr lang="en-US" dirty="0" err="1"/>
              <a:t>pecado</a:t>
            </a:r>
            <a:r>
              <a:rPr lang="en-US" dirty="0"/>
              <a:t> causa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nós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desordem</a:t>
            </a:r>
            <a:r>
              <a:rPr lang="en-US" dirty="0"/>
              <a:t> de </a:t>
            </a:r>
            <a:r>
              <a:rPr lang="en-US" dirty="0" err="1"/>
              <a:t>apego</a:t>
            </a:r>
            <a:r>
              <a:rPr lang="en-US" dirty="0"/>
              <a:t> </a:t>
            </a:r>
            <a:r>
              <a:rPr lang="en-US" dirty="0" err="1"/>
              <a:t>aos</a:t>
            </a:r>
            <a:r>
              <a:rPr lang="en-US" dirty="0"/>
              <a:t> bens; </a:t>
            </a:r>
          </a:p>
          <a:p>
            <a:r>
              <a:rPr lang="en-US" dirty="0"/>
              <a:t>A </a:t>
            </a:r>
            <a:r>
              <a:rPr lang="en-US" dirty="0" err="1"/>
              <a:t>inveja</a:t>
            </a:r>
            <a:r>
              <a:rPr lang="en-US" dirty="0"/>
              <a:t> a Deus e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próximo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primeiros</a:t>
            </a:r>
            <a:r>
              <a:rPr lang="en-US" dirty="0"/>
              <a:t> </a:t>
            </a:r>
            <a:r>
              <a:rPr lang="en-US" dirty="0" err="1"/>
              <a:t>pecados</a:t>
            </a:r>
            <a:r>
              <a:rPr lang="en-US" dirty="0"/>
              <a:t> (</a:t>
            </a:r>
            <a:r>
              <a:rPr lang="en-US" dirty="0" err="1"/>
              <a:t>Adão</a:t>
            </a:r>
            <a:r>
              <a:rPr lang="en-US" dirty="0"/>
              <a:t> e Eva, </a:t>
            </a:r>
            <a:r>
              <a:rPr lang="en-US" dirty="0" err="1"/>
              <a:t>Caim</a:t>
            </a:r>
            <a:r>
              <a:rPr lang="en-US" dirty="0"/>
              <a:t> e Abel). </a:t>
            </a:r>
          </a:p>
          <a:p>
            <a:r>
              <a:rPr lang="en-US" dirty="0"/>
              <a:t>A </a:t>
            </a:r>
            <a:r>
              <a:rPr lang="en-US" dirty="0" err="1"/>
              <a:t>Igreja</a:t>
            </a:r>
            <a:r>
              <a:rPr lang="en-US" dirty="0"/>
              <a:t> </a:t>
            </a:r>
            <a:r>
              <a:rPr lang="en-US" dirty="0" err="1"/>
              <a:t>alerta</a:t>
            </a:r>
            <a:r>
              <a:rPr lang="en-US" dirty="0"/>
              <a:t> para o </a:t>
            </a:r>
            <a:r>
              <a:rPr lang="en-US" dirty="0" err="1"/>
              <a:t>perigo</a:t>
            </a:r>
            <a:r>
              <a:rPr lang="en-US" dirty="0"/>
              <a:t> das </a:t>
            </a:r>
            <a:r>
              <a:rPr lang="en-US" dirty="0" err="1"/>
              <a:t>riquezas</a:t>
            </a:r>
            <a:r>
              <a:rPr lang="en-US" dirty="0"/>
              <a:t> e </a:t>
            </a:r>
            <a:r>
              <a:rPr lang="en-US" dirty="0" err="1"/>
              <a:t>recomenda</a:t>
            </a:r>
            <a:r>
              <a:rPr lang="en-US" dirty="0"/>
              <a:t> a </a:t>
            </a:r>
            <a:r>
              <a:rPr lang="en-US" dirty="0" err="1"/>
              <a:t>prática</a:t>
            </a:r>
            <a:r>
              <a:rPr lang="en-US" dirty="0"/>
              <a:t> das </a:t>
            </a:r>
            <a:r>
              <a:rPr lang="en-US" dirty="0" err="1"/>
              <a:t>virtudes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Temperança</a:t>
            </a:r>
            <a:endParaRPr lang="en-US" dirty="0"/>
          </a:p>
          <a:p>
            <a:pPr lvl="1"/>
            <a:r>
              <a:rPr lang="en-US" dirty="0" err="1"/>
              <a:t>Justiça</a:t>
            </a:r>
            <a:endParaRPr lang="en-US" dirty="0"/>
          </a:p>
          <a:p>
            <a:pPr lvl="1"/>
            <a:r>
              <a:rPr lang="en-US" dirty="0" err="1"/>
              <a:t>Solidariedade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450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r"/>
      </p:transition>
    </mc:Choice>
    <mc:Fallback xmlns="">
      <p:transition spd="slow">
        <p:push dir="r"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formacao_doutrina-social-da-igreja-nao-e-uma-ideologia-600x450.jpg" descr="formacao_doutrina-social-da-igreja-nao-e-uma-ideologia-600x450.jpg"/>
          <p:cNvPicPr>
            <a:picLocks noGrp="1"/>
          </p:cNvPicPr>
          <p:nvPr>
            <p:ph type="pic" idx="21"/>
          </p:nvPr>
        </p:nvPicPr>
        <p:blipFill>
          <a:blip r:embed="rId2"/>
          <a:stretch>
            <a:fillRect/>
          </a:stretch>
        </p:blipFill>
        <p:spPr>
          <a:xfrm>
            <a:off x="889000" y="3638550"/>
            <a:ext cx="11049000" cy="9258300"/>
          </a:xfrm>
          <a:prstGeom prst="rect">
            <a:avLst/>
          </a:prstGeom>
        </p:spPr>
      </p:pic>
      <p:sp>
        <p:nvSpPr>
          <p:cNvPr id="147" name="A destinação universal e a propriedade privada dos be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09930">
              <a:spcBef>
                <a:spcPts val="1900"/>
              </a:spcBef>
              <a:defRPr sz="8428"/>
            </a:lvl1pPr>
          </a:lstStyle>
          <a:p>
            <a:r>
              <a:rPr dirty="0"/>
              <a:t>A </a:t>
            </a:r>
            <a:r>
              <a:rPr dirty="0" err="1"/>
              <a:t>destinação</a:t>
            </a:r>
            <a:r>
              <a:rPr dirty="0"/>
              <a:t> universal e a </a:t>
            </a:r>
            <a:r>
              <a:rPr dirty="0" err="1"/>
              <a:t>propriedade</a:t>
            </a:r>
            <a:r>
              <a:rPr dirty="0"/>
              <a:t> </a:t>
            </a:r>
            <a:r>
              <a:rPr dirty="0" err="1"/>
              <a:t>privada</a:t>
            </a:r>
            <a:r>
              <a:rPr dirty="0"/>
              <a:t> dos bens</a:t>
            </a:r>
          </a:p>
        </p:txBody>
      </p:sp>
      <p:sp>
        <p:nvSpPr>
          <p:cNvPr id="148" name="Propriedade privada não é pecado, mas……"/>
          <p:cNvSpPr txBox="1">
            <a:spLocks noGrp="1"/>
          </p:cNvSpPr>
          <p:nvPr>
            <p:ph type="body" sz="half" idx="1"/>
          </p:nvPr>
        </p:nvSpPr>
        <p:spPr>
          <a:xfrm>
            <a:off x="12579350" y="3803650"/>
            <a:ext cx="10909300" cy="892810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Propriedade</a:t>
            </a:r>
            <a:r>
              <a:rPr dirty="0"/>
              <a:t> </a:t>
            </a:r>
            <a:r>
              <a:rPr dirty="0" err="1"/>
              <a:t>privada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pecado</a:t>
            </a:r>
            <a:r>
              <a:rPr dirty="0"/>
              <a:t>, mas…</a:t>
            </a:r>
          </a:p>
          <a:p>
            <a:r>
              <a:rPr dirty="0"/>
              <a:t>…a </a:t>
            </a:r>
            <a:r>
              <a:rPr dirty="0" err="1"/>
              <a:t>propriedade</a:t>
            </a:r>
            <a:r>
              <a:rPr dirty="0"/>
              <a:t> da Terra </a:t>
            </a:r>
            <a:r>
              <a:rPr dirty="0" err="1"/>
              <a:t>é</a:t>
            </a:r>
            <a:r>
              <a:rPr dirty="0"/>
              <a:t> de </a:t>
            </a:r>
            <a:r>
              <a:rPr b="1" dirty="0" err="1"/>
              <a:t>toda</a:t>
            </a:r>
            <a:r>
              <a:rPr b="1" dirty="0"/>
              <a:t> a </a:t>
            </a:r>
            <a:r>
              <a:rPr b="1" dirty="0" err="1"/>
              <a:t>humanidade</a:t>
            </a:r>
            <a:r>
              <a:rPr b="1" dirty="0"/>
              <a:t>.</a:t>
            </a:r>
          </a:p>
          <a:p>
            <a:r>
              <a:rPr b="1" dirty="0" err="1"/>
              <a:t>Caridade</a:t>
            </a:r>
            <a:r>
              <a:rPr b="1" dirty="0"/>
              <a:t> </a:t>
            </a:r>
            <a:r>
              <a:rPr b="1" dirty="0" err="1"/>
              <a:t>é</a:t>
            </a:r>
            <a:r>
              <a:rPr b="1" dirty="0"/>
              <a:t> a </a:t>
            </a:r>
            <a:r>
              <a:rPr b="1" dirty="0" err="1"/>
              <a:t>maior</a:t>
            </a:r>
            <a:r>
              <a:rPr b="1" dirty="0"/>
              <a:t> das </a:t>
            </a:r>
            <a:r>
              <a:rPr b="1" dirty="0" err="1"/>
              <a:t>virtudes</a:t>
            </a:r>
            <a:r>
              <a:rPr b="1" dirty="0"/>
              <a:t> </a:t>
            </a:r>
            <a:r>
              <a:rPr b="1" dirty="0" err="1"/>
              <a:t>divinas</a:t>
            </a:r>
            <a:r>
              <a:rPr b="1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r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O respeito aos bens do próxim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BR" dirty="0"/>
              <a:t>Existe roubo justo?</a:t>
            </a:r>
            <a:endParaRPr dirty="0"/>
          </a:p>
        </p:txBody>
      </p:sp>
      <p:sp>
        <p:nvSpPr>
          <p:cNvPr id="152" name="Roubo é proibido*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dirty="0" err="1"/>
              <a:t>vida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importante</a:t>
            </a:r>
            <a:r>
              <a:rPr lang="en-US" dirty="0"/>
              <a:t> que a </a:t>
            </a:r>
            <a:r>
              <a:rPr lang="en-US" dirty="0" err="1"/>
              <a:t>propriedade</a:t>
            </a:r>
            <a:r>
              <a:rPr lang="en-US" dirty="0"/>
              <a:t>. </a:t>
            </a:r>
            <a:r>
              <a:rPr lang="en-US" dirty="0" err="1"/>
              <a:t>Porém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Consentimento</a:t>
            </a:r>
            <a:r>
              <a:rPr lang="en-US" dirty="0"/>
              <a:t> </a:t>
            </a:r>
            <a:r>
              <a:rPr lang="en-US" dirty="0" err="1"/>
              <a:t>presumido</a:t>
            </a:r>
            <a:r>
              <a:rPr lang="en-US" dirty="0"/>
              <a:t>: </a:t>
            </a:r>
            <a:r>
              <a:rPr lang="en-US" dirty="0" err="1"/>
              <a:t>Tomar</a:t>
            </a:r>
            <a:r>
              <a:rPr lang="en-US" dirty="0"/>
              <a:t> </a:t>
            </a:r>
            <a:r>
              <a:rPr lang="en-US" dirty="0" err="1"/>
              <a:t>emprestado</a:t>
            </a:r>
            <a:r>
              <a:rPr lang="en-US" dirty="0"/>
              <a:t>. </a:t>
            </a:r>
          </a:p>
          <a:p>
            <a:pPr lvl="1"/>
            <a:r>
              <a:rPr lang="en-US" dirty="0" err="1"/>
              <a:t>Necessidade</a:t>
            </a:r>
            <a:r>
              <a:rPr lang="en-US" dirty="0"/>
              <a:t> </a:t>
            </a:r>
            <a:r>
              <a:rPr lang="en-US" dirty="0" err="1"/>
              <a:t>urgente</a:t>
            </a:r>
            <a:r>
              <a:rPr lang="en-US" dirty="0"/>
              <a:t> e </a:t>
            </a:r>
            <a:r>
              <a:rPr lang="en-US" dirty="0" err="1"/>
              <a:t>evidente</a:t>
            </a:r>
            <a:endParaRPr lang="en-US" dirty="0"/>
          </a:p>
        </p:txBody>
      </p:sp>
      <p:pic>
        <p:nvPicPr>
          <p:cNvPr id="7" name="Picture 6" descr="A picture containing mammal, primate&#10;&#10;Description automatically generated">
            <a:extLst>
              <a:ext uri="{FF2B5EF4-FFF2-40B4-BE49-F238E27FC236}">
                <a16:creationId xmlns:a16="http://schemas.microsoft.com/office/drawing/2014/main" id="{068FAEDD-61B5-F297-FFA6-2D29D0891C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299" y="3340222"/>
            <a:ext cx="6734175" cy="984225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r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Unknown.jpeg"/>
          <p:cNvPicPr>
            <a:picLocks noGrp="1"/>
          </p:cNvPicPr>
          <p:nvPr>
            <p:ph type="pic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889000" y="3638550"/>
            <a:ext cx="11049000" cy="92583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55" name="O que mais é roubo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O que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roubo</a:t>
            </a:r>
            <a:r>
              <a:rPr dirty="0"/>
              <a:t>?</a:t>
            </a:r>
          </a:p>
        </p:txBody>
      </p:sp>
      <p:sp>
        <p:nvSpPr>
          <p:cNvPr id="156" name="Cobrar exageradamente caro por um produto/serviço…"/>
          <p:cNvSpPr txBox="1">
            <a:spLocks noGrp="1"/>
          </p:cNvSpPr>
          <p:nvPr>
            <p:ph type="body" sz="half" idx="1"/>
          </p:nvPr>
        </p:nvSpPr>
        <p:spPr>
          <a:xfrm>
            <a:off x="12579350" y="3803650"/>
            <a:ext cx="10909300" cy="8928100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pt-BR" dirty="0"/>
          </a:p>
          <a:p>
            <a:r>
              <a:rPr lang="en-BR" dirty="0"/>
              <a:t>Reter bens emprestados e objetos perdidos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r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Unknown.jpeg"/>
          <p:cNvPicPr>
            <a:picLocks noGrp="1"/>
          </p:cNvPicPr>
          <p:nvPr>
            <p:ph type="pic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889000" y="3638550"/>
            <a:ext cx="11049000" cy="92583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55" name="O que mais é roubo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O que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roubo</a:t>
            </a:r>
            <a:r>
              <a:rPr dirty="0"/>
              <a:t>?</a:t>
            </a:r>
          </a:p>
        </p:txBody>
      </p:sp>
      <p:sp>
        <p:nvSpPr>
          <p:cNvPr id="156" name="Cobrar exageradamente caro por um produto/serviço…"/>
          <p:cNvSpPr txBox="1">
            <a:spLocks noGrp="1"/>
          </p:cNvSpPr>
          <p:nvPr>
            <p:ph type="body" sz="half" idx="1"/>
          </p:nvPr>
        </p:nvSpPr>
        <p:spPr>
          <a:xfrm>
            <a:off x="12579350" y="3803650"/>
            <a:ext cx="10909300" cy="89281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pt-BR" dirty="0"/>
              <a:t>Fraude comercial e fiscal:</a:t>
            </a:r>
          </a:p>
          <a:p>
            <a:pPr lvl="1"/>
            <a:r>
              <a:rPr lang="pt-BR" dirty="0"/>
              <a:t>Roubar no peso, nas medidas ou no troco. </a:t>
            </a:r>
          </a:p>
          <a:p>
            <a:pPr lvl="1"/>
            <a:r>
              <a:rPr lang="pt-BR" dirty="0"/>
              <a:t>Vender produtos de qualidade </a:t>
            </a:r>
            <a:r>
              <a:rPr lang="pt-BR" dirty="0" err="1"/>
              <a:t>inferiror</a:t>
            </a:r>
            <a:r>
              <a:rPr lang="pt-BR" dirty="0"/>
              <a:t> (falsificados pelo valor de originais).</a:t>
            </a:r>
          </a:p>
          <a:p>
            <a:pPr lvl="1"/>
            <a:r>
              <a:rPr lang="pt-BR" dirty="0"/>
              <a:t>Ocultar defeitos (carros usados).</a:t>
            </a:r>
          </a:p>
          <a:p>
            <a:pPr lvl="1"/>
            <a:r>
              <a:rPr lang="pt-BR" dirty="0"/>
              <a:t>Cheque sem fundo.</a:t>
            </a:r>
          </a:p>
          <a:p>
            <a:pPr lvl="1"/>
            <a:r>
              <a:rPr lang="pt-BR" dirty="0"/>
              <a:t>Moeda falsa.</a:t>
            </a:r>
          </a:p>
          <a:p>
            <a:pPr marL="0" indent="0">
              <a:buNone/>
            </a:pPr>
            <a:endParaRPr lang="en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A92CC2-A885-D68F-1770-C3845A981775}"/>
              </a:ext>
            </a:extLst>
          </p:cNvPr>
          <p:cNvSpPr txBox="1"/>
          <p:nvPr/>
        </p:nvSpPr>
        <p:spPr>
          <a:xfrm>
            <a:off x="889000" y="13073821"/>
            <a:ext cx="11049000" cy="2410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BR" sz="900">
                <a:hlinkClick r:id="rId3" tooltip="https://www.desciclopedia.org/wiki/Nota_de_100_reais"/>
              </a:rPr>
              <a:t>This Photo</a:t>
            </a:r>
            <a:r>
              <a:rPr lang="en-BR" sz="900"/>
              <a:t> by Unknown Author is licensed under </a:t>
            </a:r>
            <a:r>
              <a:rPr lang="en-BR" sz="900">
                <a:hlinkClick r:id="rId4" tooltip="https://creativecommons.org/licenses/by-nc-sa/3.0/"/>
              </a:rPr>
              <a:t>CC BY-SA-NC</a:t>
            </a:r>
            <a:endParaRPr lang="en-BR" sz="900"/>
          </a:p>
        </p:txBody>
      </p:sp>
    </p:spTree>
    <p:extLst>
      <p:ext uri="{BB962C8B-B14F-4D97-AF65-F5344CB8AC3E}">
        <p14:creationId xmlns:p14="http://schemas.microsoft.com/office/powerpoint/2010/main" val="3125362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r"/>
      </p:transition>
    </mc:Choice>
    <mc:Fallback xmlns="">
      <p:transition spd="slow">
        <p:push dir="r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O que mais é roubo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O que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roubo</a:t>
            </a:r>
            <a:r>
              <a:rPr dirty="0"/>
              <a:t>?</a:t>
            </a:r>
          </a:p>
        </p:txBody>
      </p:sp>
      <p:sp>
        <p:nvSpPr>
          <p:cNvPr id="156" name="Cobrar exageradamente caro por um produto/serviço…"/>
          <p:cNvSpPr txBox="1">
            <a:spLocks noGrp="1"/>
          </p:cNvSpPr>
          <p:nvPr>
            <p:ph type="body" sz="half" idx="1"/>
          </p:nvPr>
        </p:nvSpPr>
        <p:spPr>
          <a:xfrm>
            <a:off x="12579350" y="3803650"/>
            <a:ext cx="10909300" cy="89281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pt-BR" dirty="0"/>
              <a:t>Salários Injustos/Funcionários que defraudam o salário justo</a:t>
            </a:r>
          </a:p>
          <a:p>
            <a:pPr lvl="1"/>
            <a:r>
              <a:rPr lang="pt-BR" dirty="0"/>
              <a:t>Pagar faxina abaixo do valor de mercado.</a:t>
            </a:r>
          </a:p>
          <a:p>
            <a:pPr lvl="1"/>
            <a:r>
              <a:rPr lang="pt-BR" dirty="0"/>
              <a:t>Contratar alterando a função a fim de não pagar o salário da categoria.</a:t>
            </a:r>
          </a:p>
          <a:p>
            <a:pPr lvl="1"/>
            <a:r>
              <a:rPr lang="pt-BR" dirty="0"/>
              <a:t>Funcionários que descontam o atraso reduzindo seu horário de almoço. </a:t>
            </a:r>
          </a:p>
          <a:p>
            <a:pPr lvl="1"/>
            <a:r>
              <a:rPr lang="pt-BR" dirty="0"/>
              <a:t>Funcionários que passam longos períodos no celular ou navegando na internet.</a:t>
            </a:r>
          </a:p>
          <a:p>
            <a:pPr marL="0" indent="0">
              <a:buNone/>
            </a:pPr>
            <a:endParaRPr lang="en-BR" dirty="0"/>
          </a:p>
        </p:txBody>
      </p:sp>
      <p:pic>
        <p:nvPicPr>
          <p:cNvPr id="1026" name="Picture 2" descr="País injusto: no Brasil, quem ganha menos paga mais impostos">
            <a:extLst>
              <a:ext uri="{FF2B5EF4-FFF2-40B4-BE49-F238E27FC236}">
                <a16:creationId xmlns:a16="http://schemas.microsoft.com/office/drawing/2014/main" id="{F95D5DF2-B11C-1B91-D96D-02F79EBC7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444875"/>
            <a:ext cx="7480935" cy="41560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028" name="Picture 4" descr="6,430 Pretend To Work Stock Photos, Images &amp; Photography | Shutterstock">
            <a:extLst>
              <a:ext uri="{FF2B5EF4-FFF2-40B4-BE49-F238E27FC236}">
                <a16:creationId xmlns:a16="http://schemas.microsoft.com/office/drawing/2014/main" id="{386627A4-6D28-196C-C46B-0129283AC3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303"/>
          <a:stretch/>
        </p:blipFill>
        <p:spPr bwMode="auto">
          <a:xfrm>
            <a:off x="3973704" y="8132762"/>
            <a:ext cx="7909811" cy="41560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972477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r"/>
      </p:transition>
    </mc:Choice>
    <mc:Fallback xmlns="">
      <p:transition spd="slow">
        <p:push dir="r"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O que mais é roubo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O que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roubo</a:t>
            </a:r>
            <a:r>
              <a:rPr dirty="0"/>
              <a:t>?</a:t>
            </a:r>
          </a:p>
        </p:txBody>
      </p:sp>
      <p:sp>
        <p:nvSpPr>
          <p:cNvPr id="156" name="Cobrar exageradamente caro por um produto/serviço…"/>
          <p:cNvSpPr txBox="1">
            <a:spLocks noGrp="1"/>
          </p:cNvSpPr>
          <p:nvPr>
            <p:ph type="body" sz="half" idx="1"/>
          </p:nvPr>
        </p:nvSpPr>
        <p:spPr>
          <a:xfrm>
            <a:off x="12579350" y="3803650"/>
            <a:ext cx="10909300" cy="8928100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pt-BR" dirty="0"/>
          </a:p>
          <a:p>
            <a:r>
              <a:rPr lang="pt-BR" dirty="0"/>
              <a:t>Suborno, especulação, corrupção, apropriação e uso privado de bens sociais, falsificação de cheques e faturas, gastos excessivos (viver acima das possibilidades assumindo dívidas) e desperdícios.</a:t>
            </a:r>
          </a:p>
          <a:p>
            <a:pPr marL="0" indent="0">
              <a:buNone/>
            </a:pPr>
            <a:endParaRPr lang="en-BR" dirty="0"/>
          </a:p>
        </p:txBody>
      </p:sp>
      <p:pic>
        <p:nvPicPr>
          <p:cNvPr id="2050" name="Picture 2" descr="O futuro crime de suborno – BLOG DO VLAD">
            <a:extLst>
              <a:ext uri="{FF2B5EF4-FFF2-40B4-BE49-F238E27FC236}">
                <a16:creationId xmlns:a16="http://schemas.microsoft.com/office/drawing/2014/main" id="{32AE09BE-F844-FD25-A5E5-EEC4E75BF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80" y="5351462"/>
            <a:ext cx="11650071" cy="58324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914178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r"/>
      </p:transition>
    </mc:Choice>
    <mc:Fallback xmlns="">
      <p:transition spd="slow">
        <p:push dir="r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Unknown.jpeg" descr="Unknown.jpeg"/>
          <p:cNvPicPr>
            <a:picLocks noGrp="1"/>
          </p:cNvPicPr>
          <p:nvPr>
            <p:ph type="pic" idx="21"/>
          </p:nvPr>
        </p:nvPicPr>
        <p:blipFill>
          <a:blip r:embed="rId2"/>
          <a:stretch>
            <a:fillRect/>
          </a:stretch>
        </p:blipFill>
        <p:spPr>
          <a:xfrm>
            <a:off x="889000" y="3638550"/>
            <a:ext cx="11049000" cy="9258300"/>
          </a:xfrm>
          <a:prstGeom prst="rect">
            <a:avLst/>
          </a:prstGeom>
        </p:spPr>
      </p:pic>
      <p:sp>
        <p:nvSpPr>
          <p:cNvPr id="155" name="O que mais é roubo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O que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roubo</a:t>
            </a:r>
            <a:r>
              <a:rPr dirty="0"/>
              <a:t>?</a:t>
            </a:r>
          </a:p>
        </p:txBody>
      </p:sp>
      <p:sp>
        <p:nvSpPr>
          <p:cNvPr id="156" name="Cobrar exageradamente caro por um produto/serviço…"/>
          <p:cNvSpPr txBox="1">
            <a:spLocks noGrp="1"/>
          </p:cNvSpPr>
          <p:nvPr>
            <p:ph type="body" sz="half" idx="1"/>
          </p:nvPr>
        </p:nvSpPr>
        <p:spPr>
          <a:xfrm>
            <a:off x="12579350" y="3803650"/>
            <a:ext cx="10909300" cy="8928100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pt-BR" dirty="0"/>
          </a:p>
          <a:p>
            <a:r>
              <a:rPr lang="pt-BR" dirty="0"/>
              <a:t>Receptação</a:t>
            </a:r>
          </a:p>
          <a:p>
            <a:pPr lvl="1"/>
            <a:r>
              <a:rPr lang="pt-BR" dirty="0"/>
              <a:t>Pirataria</a:t>
            </a:r>
          </a:p>
          <a:p>
            <a:pPr marL="0" indent="0">
              <a:buNone/>
            </a:pPr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193044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r"/>
      </p:transition>
    </mc:Choice>
    <mc:Fallback xmlns="">
      <p:transition spd="slow">
        <p:push dir="r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O que mais é roubo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BR" dirty="0"/>
              <a:t>Promessas e contratos</a:t>
            </a:r>
            <a:endParaRPr dirty="0"/>
          </a:p>
        </p:txBody>
      </p:sp>
      <p:sp>
        <p:nvSpPr>
          <p:cNvPr id="156" name="Cobrar exageradamente caro por um produto/serviço…"/>
          <p:cNvSpPr txBox="1">
            <a:spLocks noGrp="1"/>
          </p:cNvSpPr>
          <p:nvPr>
            <p:ph type="body" sz="half" idx="1"/>
          </p:nvPr>
        </p:nvSpPr>
        <p:spPr>
          <a:xfrm>
            <a:off x="12579350" y="3803650"/>
            <a:ext cx="10909300" cy="8928100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pt-BR" dirty="0"/>
          </a:p>
          <a:p>
            <a:r>
              <a:rPr lang="pt-BR" dirty="0"/>
              <a:t>Promessas devem ser mantidas e os contratos observados, na medida em que os contratos se mantenham justos. Todo contrato deve ser feito e executado de boa fé, não se deve causar prejuízo à outra parte contratante.</a:t>
            </a:r>
          </a:p>
          <a:p>
            <a:pPr marL="0" indent="0">
              <a:buNone/>
            </a:pPr>
            <a:endParaRPr lang="en-BR" dirty="0"/>
          </a:p>
        </p:txBody>
      </p:sp>
      <p:pic>
        <p:nvPicPr>
          <p:cNvPr id="3074" name="Picture 2" descr="Qual o valor de uma promessa?">
            <a:extLst>
              <a:ext uri="{FF2B5EF4-FFF2-40B4-BE49-F238E27FC236}">
                <a16:creationId xmlns:a16="http://schemas.microsoft.com/office/drawing/2014/main" id="{42E796C6-A5A4-9E70-A265-8058E1EF2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4295287"/>
            <a:ext cx="9848850" cy="757603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991477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r"/>
      </p:transition>
    </mc:Choice>
    <mc:Fallback xmlns="">
      <p:transition spd="slow">
        <p:push dir="r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O que mais é roubo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BR" dirty="0"/>
              <a:t>Jogos de azar</a:t>
            </a:r>
            <a:endParaRPr dirty="0"/>
          </a:p>
        </p:txBody>
      </p:sp>
      <p:sp>
        <p:nvSpPr>
          <p:cNvPr id="156" name="Cobrar exageradamente caro por um produto/serviço…"/>
          <p:cNvSpPr txBox="1">
            <a:spLocks noGrp="1"/>
          </p:cNvSpPr>
          <p:nvPr>
            <p:ph type="body" sz="half" idx="1"/>
          </p:nvPr>
        </p:nvSpPr>
        <p:spPr>
          <a:xfrm>
            <a:off x="12579350" y="3803650"/>
            <a:ext cx="10909300" cy="8928100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pt-BR" dirty="0"/>
          </a:p>
          <a:p>
            <a:r>
              <a:rPr lang="en-US" dirty="0" err="1"/>
              <a:t>Jogos</a:t>
            </a:r>
            <a:r>
              <a:rPr lang="en-US" dirty="0"/>
              <a:t> de azar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pecado</a:t>
            </a:r>
            <a:r>
              <a:rPr lang="en-US" dirty="0"/>
              <a:t>, mas:</a:t>
            </a:r>
          </a:p>
          <a:p>
            <a:pPr lvl="1"/>
            <a:r>
              <a:rPr lang="en-US" dirty="0" err="1"/>
              <a:t>quem</a:t>
            </a:r>
            <a:r>
              <a:rPr lang="en-US" dirty="0"/>
              <a:t> </a:t>
            </a:r>
            <a:r>
              <a:rPr lang="en-US" dirty="0" err="1"/>
              <a:t>organiza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jogos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Mau </a:t>
            </a:r>
            <a:r>
              <a:rPr lang="en-US" dirty="0" err="1"/>
              <a:t>uso</a:t>
            </a:r>
            <a:r>
              <a:rPr lang="en-US" dirty="0"/>
              <a:t> do que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essencial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BR" dirty="0"/>
          </a:p>
        </p:txBody>
      </p:sp>
      <p:pic>
        <p:nvPicPr>
          <p:cNvPr id="4098" name="Picture 2" descr="Gambling addiction - When it is more than just money | Hypnotherapy Sydney  | Kaizen Hypnotherapy &amp; Mindfulness Clinic">
            <a:extLst>
              <a:ext uri="{FF2B5EF4-FFF2-40B4-BE49-F238E27FC236}">
                <a16:creationId xmlns:a16="http://schemas.microsoft.com/office/drawing/2014/main" id="{473884BC-0380-AD47-3510-D99F2A7D99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50" r="14399"/>
          <a:stretch/>
        </p:blipFill>
        <p:spPr bwMode="auto">
          <a:xfrm>
            <a:off x="127734" y="4287837"/>
            <a:ext cx="11676917" cy="79597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3562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r"/>
      </p:transition>
    </mc:Choice>
    <mc:Fallback xmlns="">
      <p:transition spd="slow">
        <p:push dir="r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O respeito pela integridade da criaçã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BR" dirty="0"/>
              <a:t>Restituição dos bens</a:t>
            </a:r>
            <a:endParaRPr dirty="0"/>
          </a:p>
        </p:txBody>
      </p:sp>
      <p:sp>
        <p:nvSpPr>
          <p:cNvPr id="160" name="Animais, objetos e plantas devem ser preservados.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err="1"/>
              <a:t>À</a:t>
            </a:r>
            <a:r>
              <a:rPr lang="en-US" dirty="0"/>
              <a:t> </a:t>
            </a:r>
            <a:r>
              <a:rPr lang="en-US" dirty="0" err="1"/>
              <a:t>pessoa</a:t>
            </a:r>
            <a:r>
              <a:rPr lang="en-US" dirty="0"/>
              <a:t> que </a:t>
            </a:r>
            <a:r>
              <a:rPr lang="en-US" dirty="0" err="1"/>
              <a:t>sofreu</a:t>
            </a:r>
            <a:r>
              <a:rPr lang="en-US" dirty="0"/>
              <a:t> a </a:t>
            </a:r>
            <a:r>
              <a:rPr lang="en-US" dirty="0" err="1"/>
              <a:t>perda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a </a:t>
            </a:r>
            <a:r>
              <a:rPr lang="en-US" dirty="0" err="1"/>
              <a:t>seus</a:t>
            </a:r>
            <a:r>
              <a:rPr lang="en-US" dirty="0"/>
              <a:t> </a:t>
            </a:r>
            <a:r>
              <a:rPr lang="en-US" dirty="0" err="1"/>
              <a:t>herdeiros</a:t>
            </a:r>
            <a:r>
              <a:rPr lang="en-US" dirty="0"/>
              <a:t> (</a:t>
            </a:r>
            <a:r>
              <a:rPr lang="en-US" dirty="0" err="1"/>
              <a:t>falecimento</a:t>
            </a:r>
            <a:r>
              <a:rPr lang="en-US" dirty="0"/>
              <a:t>). </a:t>
            </a:r>
          </a:p>
          <a:p>
            <a:r>
              <a:rPr lang="en-US" dirty="0"/>
              <a:t>E se </a:t>
            </a:r>
            <a:r>
              <a:rPr lang="en-US" dirty="0" err="1"/>
              <a:t>não</a:t>
            </a:r>
            <a:r>
              <a:rPr lang="en-US" dirty="0"/>
              <a:t> for </a:t>
            </a:r>
            <a:r>
              <a:rPr lang="en-US" dirty="0" err="1"/>
              <a:t>possível</a:t>
            </a:r>
            <a:r>
              <a:rPr lang="en-US" dirty="0"/>
              <a:t> </a:t>
            </a:r>
            <a:r>
              <a:rPr lang="en-US" dirty="0" err="1"/>
              <a:t>encontrar</a:t>
            </a:r>
            <a:r>
              <a:rPr lang="en-US" dirty="0"/>
              <a:t> a </a:t>
            </a:r>
            <a:r>
              <a:rPr lang="en-US" dirty="0" err="1"/>
              <a:t>pessoa</a:t>
            </a:r>
            <a:r>
              <a:rPr lang="en-US" dirty="0"/>
              <a:t>?</a:t>
            </a:r>
          </a:p>
          <a:p>
            <a:r>
              <a:rPr lang="en-US" dirty="0"/>
              <a:t>O </a:t>
            </a:r>
            <a:r>
              <a:rPr lang="en-US" dirty="0" err="1"/>
              <a:t>objeto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ser </a:t>
            </a:r>
            <a:r>
              <a:rPr lang="en-US" dirty="0" err="1"/>
              <a:t>devolvido</a:t>
            </a:r>
            <a:r>
              <a:rPr lang="en-US" dirty="0"/>
              <a:t> junto </a:t>
            </a:r>
            <a:r>
              <a:rPr lang="en-US" dirty="0" err="1"/>
              <a:t>aos</a:t>
            </a:r>
            <a:r>
              <a:rPr lang="en-US" dirty="0"/>
              <a:t> </a:t>
            </a:r>
            <a:r>
              <a:rPr lang="en-US" dirty="0" err="1"/>
              <a:t>ganhos</a:t>
            </a:r>
            <a:r>
              <a:rPr lang="en-US" dirty="0"/>
              <a:t> </a:t>
            </a:r>
            <a:r>
              <a:rPr lang="en-US" dirty="0" err="1"/>
              <a:t>naturais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5122" name="Picture 2" descr="Homem acha maleta com R$ 9 mil na rua e devolve dinheiro - Polêmica Paraíba  - Polêmica Paraíba">
            <a:extLst>
              <a:ext uri="{FF2B5EF4-FFF2-40B4-BE49-F238E27FC236}">
                <a16:creationId xmlns:a16="http://schemas.microsoft.com/office/drawing/2014/main" id="{042C0AC6-D5CE-FA03-D4C1-5AD5F92A1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1800" y="4996444"/>
            <a:ext cx="11730200" cy="652981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676635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r"/>
      </p:transition>
    </mc:Choice>
    <mc:Fallback xmlns="">
      <p:transition spd="slow">
        <p:push dir="r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O respeito pela integridade da criaçã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 respeito pela integridade da criação</a:t>
            </a:r>
          </a:p>
        </p:txBody>
      </p:sp>
      <p:sp>
        <p:nvSpPr>
          <p:cNvPr id="160" name="Animais, objetos e plantas devem ser preservados.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Animais</a:t>
            </a:r>
            <a:r>
              <a:rPr dirty="0"/>
              <a:t>, </a:t>
            </a:r>
            <a:r>
              <a:rPr dirty="0" err="1"/>
              <a:t>objetos</a:t>
            </a:r>
            <a:r>
              <a:rPr dirty="0"/>
              <a:t> e </a:t>
            </a:r>
            <a:r>
              <a:rPr dirty="0" err="1"/>
              <a:t>plantas</a:t>
            </a:r>
            <a:r>
              <a:rPr dirty="0"/>
              <a:t> </a:t>
            </a:r>
            <a:r>
              <a:rPr dirty="0" err="1"/>
              <a:t>devem</a:t>
            </a:r>
            <a:r>
              <a:rPr dirty="0"/>
              <a:t> ser </a:t>
            </a:r>
            <a:r>
              <a:rPr dirty="0" err="1"/>
              <a:t>preservados</a:t>
            </a:r>
            <a:r>
              <a:rPr dirty="0"/>
              <a:t>.</a:t>
            </a:r>
          </a:p>
          <a:p>
            <a:r>
              <a:rPr lang="pt-BR" dirty="0"/>
              <a:t>Ter a</a:t>
            </a:r>
            <a:r>
              <a:rPr dirty="0" err="1"/>
              <a:t>nimais</a:t>
            </a:r>
            <a:r>
              <a:rPr dirty="0"/>
              <a:t> </a:t>
            </a:r>
            <a:r>
              <a:rPr dirty="0" err="1"/>
              <a:t>domesticados</a:t>
            </a:r>
            <a:r>
              <a:rPr lang="pt-BR" dirty="0"/>
              <a:t> não é pecado</a:t>
            </a:r>
          </a:p>
          <a:p>
            <a:r>
              <a:rPr dirty="0" err="1"/>
              <a:t>Experimentos</a:t>
            </a:r>
            <a:r>
              <a:rPr dirty="0"/>
              <a:t> -</a:t>
            </a:r>
            <a:r>
              <a:rPr lang="pt-BR" dirty="0"/>
              <a:t> </a:t>
            </a:r>
            <a:r>
              <a:rPr dirty="0"/>
              <a:t>com </a:t>
            </a:r>
            <a:r>
              <a:rPr dirty="0" err="1"/>
              <a:t>ressalvas</a:t>
            </a:r>
            <a:endParaRPr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DFBB5C1-6F23-FF08-6B2F-9DD169432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0" y="5349874"/>
            <a:ext cx="11624115" cy="67087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r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Unknown.jpeg" descr="Unknown.jpeg"/>
          <p:cNvPicPr>
            <a:picLocks noGrp="1"/>
          </p:cNvPicPr>
          <p:nvPr>
            <p:ph type="pic" idx="21"/>
          </p:nvPr>
        </p:nvPicPr>
        <p:blipFill>
          <a:blip r:embed="rId2"/>
          <a:stretch>
            <a:fillRect/>
          </a:stretch>
        </p:blipFill>
        <p:spPr>
          <a:xfrm>
            <a:off x="889000" y="3638550"/>
            <a:ext cx="11049000" cy="9258300"/>
          </a:xfrm>
          <a:prstGeom prst="rect">
            <a:avLst/>
          </a:prstGeom>
        </p:spPr>
      </p:pic>
      <p:sp>
        <p:nvSpPr>
          <p:cNvPr id="163" name="A Doutrina social da Igreja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Doutrina social da Igreja</a:t>
            </a:r>
          </a:p>
        </p:txBody>
      </p:sp>
      <p:sp>
        <p:nvSpPr>
          <p:cNvPr id="164" name="Atividade que visa exclusivamente ao lucro é inaceitável.…"/>
          <p:cNvSpPr txBox="1">
            <a:spLocks noGrp="1"/>
          </p:cNvSpPr>
          <p:nvPr>
            <p:ph type="body" sz="half" idx="1"/>
          </p:nvPr>
        </p:nvSpPr>
        <p:spPr>
          <a:xfrm>
            <a:off x="12579350" y="3803650"/>
            <a:ext cx="10909300" cy="892810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Atividade</a:t>
            </a:r>
            <a:r>
              <a:rPr dirty="0"/>
              <a:t> que visa </a:t>
            </a:r>
            <a:r>
              <a:rPr dirty="0" err="1"/>
              <a:t>exclusivamente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lucro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inaceitável</a:t>
            </a:r>
            <a:r>
              <a:rPr dirty="0"/>
              <a:t>.</a:t>
            </a:r>
          </a:p>
          <a:p>
            <a:r>
              <a:rPr dirty="0" err="1"/>
              <a:t>Trabalho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um </a:t>
            </a:r>
            <a:r>
              <a:rPr dirty="0" err="1"/>
              <a:t>dever</a:t>
            </a:r>
            <a:r>
              <a:rPr dirty="0"/>
              <a:t> do </a:t>
            </a:r>
            <a:r>
              <a:rPr dirty="0" err="1"/>
              <a:t>cristão</a:t>
            </a:r>
            <a:r>
              <a:rPr dirty="0"/>
              <a:t>.</a:t>
            </a:r>
          </a:p>
          <a:p>
            <a:r>
              <a:rPr dirty="0" err="1"/>
              <a:t>Acordo</a:t>
            </a:r>
            <a:r>
              <a:rPr dirty="0"/>
              <a:t> entre as </a:t>
            </a:r>
            <a:r>
              <a:rPr dirty="0" err="1"/>
              <a:t>partes</a:t>
            </a:r>
            <a:r>
              <a:rPr dirty="0"/>
              <a:t> </a:t>
            </a:r>
            <a:r>
              <a:rPr b="1" dirty="0" err="1"/>
              <a:t>não</a:t>
            </a:r>
            <a:r>
              <a:rPr b="1" dirty="0"/>
              <a:t> </a:t>
            </a:r>
            <a:r>
              <a:rPr b="1" dirty="0" err="1"/>
              <a:t>justifica</a:t>
            </a:r>
            <a:r>
              <a:rPr b="1" dirty="0"/>
              <a:t> </a:t>
            </a:r>
            <a:r>
              <a:rPr b="1" dirty="0" err="1"/>
              <a:t>má</a:t>
            </a:r>
            <a:r>
              <a:rPr b="1" dirty="0"/>
              <a:t> </a:t>
            </a:r>
            <a:r>
              <a:rPr b="1" dirty="0" err="1"/>
              <a:t>fé</a:t>
            </a:r>
            <a:r>
              <a:rPr dirty="0"/>
              <a:t>!</a:t>
            </a:r>
            <a:endParaRPr lang="pt-BR" dirty="0"/>
          </a:p>
          <a:p>
            <a:r>
              <a:rPr lang="en-BR" dirty="0"/>
              <a:t>Greve é pecado?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r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A Doutrina social da Igreja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BR" dirty="0"/>
              <a:t>O valor do trabalho</a:t>
            </a:r>
            <a:endParaRPr dirty="0"/>
          </a:p>
        </p:txBody>
      </p:sp>
      <p:sp>
        <p:nvSpPr>
          <p:cNvPr id="164" name="Atividade que visa exclusivamente ao lucro é inaceitável.…"/>
          <p:cNvSpPr txBox="1">
            <a:spLocks noGrp="1"/>
          </p:cNvSpPr>
          <p:nvPr>
            <p:ph type="body" sz="half" idx="1"/>
          </p:nvPr>
        </p:nvSpPr>
        <p:spPr>
          <a:xfrm>
            <a:off x="12579350" y="3803650"/>
            <a:ext cx="10909300" cy="8928100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O trabalho justo como meio de santificação</a:t>
            </a:r>
          </a:p>
          <a:p>
            <a:r>
              <a:rPr lang="pt-BR" dirty="0"/>
              <a:t>Jesus teve um emprego!</a:t>
            </a:r>
            <a:endParaRPr dirty="0"/>
          </a:p>
        </p:txBody>
      </p:sp>
      <p:pic>
        <p:nvPicPr>
          <p:cNvPr id="7170" name="Picture 2" descr="Jesus era um Carpinteiro? - BibliaComentada">
            <a:extLst>
              <a:ext uri="{FF2B5EF4-FFF2-40B4-BE49-F238E27FC236}">
                <a16:creationId xmlns:a16="http://schemas.microsoft.com/office/drawing/2014/main" id="{ECC2C5CE-50B1-309F-4D6F-7A6D3269D6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74" y="5238750"/>
            <a:ext cx="10329333" cy="619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6028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r"/>
      </p:transition>
    </mc:Choice>
    <mc:Fallback xmlns="">
      <p:transition spd="slow">
        <p:push dir="r"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O amor aos pobr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BR" dirty="0"/>
              <a:t>Justiça e solidariedade entre as nações</a:t>
            </a:r>
            <a:endParaRPr dirty="0"/>
          </a:p>
        </p:txBody>
      </p:sp>
      <p:sp>
        <p:nvSpPr>
          <p:cNvPr id="168" name="A esmola é incentivada e reconhecida pela Igreja, e não é apenas material.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err="1"/>
              <a:t>Justiça</a:t>
            </a:r>
            <a:r>
              <a:rPr lang="en-US" dirty="0"/>
              <a:t> e </a:t>
            </a:r>
            <a:r>
              <a:rPr lang="en-US" dirty="0" err="1"/>
              <a:t>solidariedade</a:t>
            </a:r>
            <a:r>
              <a:rPr lang="en-US" dirty="0"/>
              <a:t> entre as </a:t>
            </a:r>
            <a:r>
              <a:rPr lang="en-US" dirty="0" err="1"/>
              <a:t>nações</a:t>
            </a:r>
            <a:endParaRPr lang="en-US" dirty="0"/>
          </a:p>
          <a:p>
            <a:pPr lvl="1"/>
            <a:r>
              <a:rPr lang="en-US" dirty="0" err="1"/>
              <a:t>Nações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ricas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</a:t>
            </a:r>
            <a:r>
              <a:rPr lang="en-US" dirty="0" err="1"/>
              <a:t>obrigações</a:t>
            </a:r>
            <a:r>
              <a:rPr lang="en-US" dirty="0"/>
              <a:t> com as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pobres</a:t>
            </a:r>
            <a:endParaRPr lang="en-US" dirty="0"/>
          </a:p>
          <a:p>
            <a:pPr lvl="1"/>
            <a:r>
              <a:rPr lang="en-US" dirty="0"/>
              <a:t>O </a:t>
            </a:r>
            <a:r>
              <a:rPr lang="en-US" dirty="0" err="1"/>
              <a:t>político</a:t>
            </a:r>
            <a:r>
              <a:rPr lang="en-US" dirty="0"/>
              <a:t> </a:t>
            </a:r>
            <a:r>
              <a:rPr lang="en-US" dirty="0" err="1"/>
              <a:t>cristão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usar da </a:t>
            </a:r>
            <a:r>
              <a:rPr lang="en-US" dirty="0" err="1"/>
              <a:t>política</a:t>
            </a:r>
            <a:r>
              <a:rPr lang="en-US" dirty="0"/>
              <a:t> para o </a:t>
            </a:r>
            <a:r>
              <a:rPr lang="en-US" dirty="0" err="1"/>
              <a:t>seu</a:t>
            </a:r>
            <a:r>
              <a:rPr lang="en-US" dirty="0"/>
              <a:t> </a:t>
            </a:r>
            <a:r>
              <a:rPr lang="en-US" dirty="0" err="1"/>
              <a:t>próprio</a:t>
            </a:r>
            <a:r>
              <a:rPr lang="en-US" dirty="0"/>
              <a:t> </a:t>
            </a:r>
            <a:r>
              <a:rPr lang="en-US" dirty="0" err="1"/>
              <a:t>bem</a:t>
            </a:r>
            <a:r>
              <a:rPr lang="en-US" dirty="0"/>
              <a:t>, mas para o </a:t>
            </a:r>
            <a:r>
              <a:rPr lang="en-US" dirty="0" err="1"/>
              <a:t>bem</a:t>
            </a:r>
            <a:r>
              <a:rPr lang="en-US" dirty="0"/>
              <a:t> </a:t>
            </a:r>
            <a:r>
              <a:rPr lang="en-US" dirty="0" err="1"/>
              <a:t>comum</a:t>
            </a:r>
            <a:r>
              <a:rPr lang="en-US" dirty="0"/>
              <a:t>. </a:t>
            </a:r>
          </a:p>
        </p:txBody>
      </p:sp>
      <p:pic>
        <p:nvPicPr>
          <p:cNvPr id="8194" name="Picture 2" descr="Chuvas no litoral Norte de SP: entenda o que são enchentes e deslizamentos">
            <a:extLst>
              <a:ext uri="{FF2B5EF4-FFF2-40B4-BE49-F238E27FC236}">
                <a16:creationId xmlns:a16="http://schemas.microsoft.com/office/drawing/2014/main" id="{10AF3F8B-DD4D-BFF8-E070-2102FED11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2202" y="3124200"/>
            <a:ext cx="7620000" cy="50800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8196" name="Picture 4" descr="Novo terremoto na Turquia mata uma pessoa - 27/02/2023 - Mundo - Folha">
            <a:extLst>
              <a:ext uri="{FF2B5EF4-FFF2-40B4-BE49-F238E27FC236}">
                <a16:creationId xmlns:a16="http://schemas.microsoft.com/office/drawing/2014/main" id="{B4E39305-0BA4-A7F2-7AC8-15D1F523A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49550" y="8337550"/>
            <a:ext cx="7981950" cy="53213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r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Irmã-Dulce-com-criança-peB-mais-escura-1024x614.jpg" descr="Irmã-Dulce-com-criança-peB-mais-escura-1024x614.jpg"/>
          <p:cNvPicPr>
            <a:picLocks noGrp="1"/>
          </p:cNvPicPr>
          <p:nvPr>
            <p:ph type="pic" idx="21"/>
          </p:nvPr>
        </p:nvPicPr>
        <p:blipFill>
          <a:blip r:embed="rId2"/>
          <a:stretch>
            <a:fillRect/>
          </a:stretch>
        </p:blipFill>
        <p:spPr>
          <a:xfrm>
            <a:off x="12509500" y="3685598"/>
            <a:ext cx="11049001" cy="9258301"/>
          </a:xfrm>
          <a:prstGeom prst="rect">
            <a:avLst/>
          </a:prstGeom>
        </p:spPr>
      </p:pic>
      <p:sp>
        <p:nvSpPr>
          <p:cNvPr id="167" name="O amor aos pobr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 amor aos pobres</a:t>
            </a:r>
          </a:p>
        </p:txBody>
      </p:sp>
      <p:sp>
        <p:nvSpPr>
          <p:cNvPr id="168" name="A esmola é incentivada e reconhecida pela Igreja, e não é apenas material.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A </a:t>
            </a:r>
            <a:r>
              <a:rPr dirty="0" err="1"/>
              <a:t>esmola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incentivada</a:t>
            </a:r>
            <a:r>
              <a:rPr dirty="0"/>
              <a:t> e </a:t>
            </a:r>
            <a:r>
              <a:rPr dirty="0" err="1"/>
              <a:t>reconhecida</a:t>
            </a:r>
            <a:r>
              <a:rPr dirty="0"/>
              <a:t> pela </a:t>
            </a:r>
            <a:r>
              <a:rPr dirty="0" err="1"/>
              <a:t>Igreja</a:t>
            </a:r>
            <a:r>
              <a:rPr dirty="0"/>
              <a:t>, e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apenas</a:t>
            </a:r>
            <a:r>
              <a:rPr dirty="0"/>
              <a:t> material.</a:t>
            </a:r>
          </a:p>
          <a:p>
            <a:r>
              <a:rPr dirty="0" err="1"/>
              <a:t>Devemos</a:t>
            </a:r>
            <a:r>
              <a:rPr dirty="0"/>
              <a:t> </a:t>
            </a:r>
            <a:r>
              <a:rPr dirty="0" err="1"/>
              <a:t>realizar</a:t>
            </a:r>
            <a:r>
              <a:rPr dirty="0"/>
              <a:t> </a:t>
            </a:r>
            <a:r>
              <a:rPr dirty="0" err="1"/>
              <a:t>ações</a:t>
            </a:r>
            <a:r>
              <a:rPr dirty="0"/>
              <a:t> de </a:t>
            </a:r>
            <a:r>
              <a:rPr dirty="0" err="1"/>
              <a:t>misericórdia</a:t>
            </a:r>
            <a:r>
              <a:rPr dirty="0"/>
              <a:t> </a:t>
            </a:r>
            <a:r>
              <a:rPr dirty="0" err="1"/>
              <a:t>espiritual</a:t>
            </a:r>
            <a:r>
              <a:rPr dirty="0"/>
              <a:t> (</a:t>
            </a:r>
            <a:r>
              <a:rPr dirty="0" err="1"/>
              <a:t>instruir</a:t>
            </a:r>
            <a:r>
              <a:rPr dirty="0"/>
              <a:t>, </a:t>
            </a:r>
            <a:r>
              <a:rPr dirty="0" err="1"/>
              <a:t>aconselhar</a:t>
            </a:r>
            <a:r>
              <a:rPr dirty="0"/>
              <a:t>, </a:t>
            </a:r>
            <a:r>
              <a:rPr dirty="0" err="1"/>
              <a:t>consolar</a:t>
            </a:r>
            <a:r>
              <a:rPr dirty="0"/>
              <a:t>, </a:t>
            </a:r>
            <a:r>
              <a:rPr dirty="0" err="1"/>
              <a:t>confortar</a:t>
            </a:r>
            <a:r>
              <a:rPr dirty="0"/>
              <a:t>, </a:t>
            </a:r>
            <a:r>
              <a:rPr dirty="0" err="1"/>
              <a:t>perdoar</a:t>
            </a:r>
            <a:r>
              <a:rPr dirty="0"/>
              <a:t> e </a:t>
            </a:r>
            <a:r>
              <a:rPr dirty="0" err="1"/>
              <a:t>suportar</a:t>
            </a:r>
            <a:r>
              <a:rPr dirty="0"/>
              <a:t> com </a:t>
            </a:r>
            <a:r>
              <a:rPr dirty="0" err="1"/>
              <a:t>paciência</a:t>
            </a:r>
            <a:r>
              <a:rPr dirty="0"/>
              <a:t>) e </a:t>
            </a:r>
            <a:r>
              <a:rPr dirty="0" err="1"/>
              <a:t>misericórdia</a:t>
            </a:r>
            <a:r>
              <a:rPr dirty="0"/>
              <a:t> corporal (</a:t>
            </a:r>
            <a:r>
              <a:rPr dirty="0" err="1"/>
              <a:t>dar</a:t>
            </a:r>
            <a:r>
              <a:rPr dirty="0"/>
              <a:t> comida, </a:t>
            </a:r>
            <a:r>
              <a:rPr dirty="0" err="1"/>
              <a:t>bebida</a:t>
            </a:r>
            <a:r>
              <a:rPr dirty="0"/>
              <a:t>, </a:t>
            </a:r>
            <a:r>
              <a:rPr dirty="0" err="1"/>
              <a:t>moradia</a:t>
            </a:r>
            <a:r>
              <a:rPr dirty="0"/>
              <a:t>, </a:t>
            </a:r>
            <a:r>
              <a:rPr dirty="0" err="1"/>
              <a:t>vestimentas</a:t>
            </a:r>
            <a:r>
              <a:rPr dirty="0"/>
              <a:t>, </a:t>
            </a:r>
            <a:r>
              <a:rPr dirty="0" err="1"/>
              <a:t>visitar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presos</a:t>
            </a:r>
            <a:r>
              <a:rPr dirty="0"/>
              <a:t> e </a:t>
            </a:r>
            <a:r>
              <a:rPr dirty="0" err="1"/>
              <a:t>sepultar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mortos</a:t>
            </a:r>
            <a:r>
              <a:rPr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2709522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r"/>
      </p:transition>
    </mc:Choice>
    <mc:Fallback xmlns="">
      <p:transition spd="slow">
        <p:push dir="r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cobica-600x335.jpg" descr="cobica-600x335.jpg"/>
          <p:cNvPicPr>
            <a:picLocks noGrp="1"/>
          </p:cNvPicPr>
          <p:nvPr>
            <p:ph type="pic" idx="21"/>
          </p:nvPr>
        </p:nvPicPr>
        <p:blipFill>
          <a:blip r:embed="rId2"/>
          <a:stretch>
            <a:fillRect/>
          </a:stretch>
        </p:blipFill>
        <p:spPr>
          <a:xfrm>
            <a:off x="12509500" y="3685598"/>
            <a:ext cx="11049001" cy="9258301"/>
          </a:xfrm>
          <a:prstGeom prst="rect">
            <a:avLst/>
          </a:prstGeom>
        </p:spPr>
      </p:pic>
      <p:sp>
        <p:nvSpPr>
          <p:cNvPr id="175" name="“10º Mandamento”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“10º Mandamento”</a:t>
            </a:r>
          </a:p>
        </p:txBody>
      </p:sp>
      <p:sp>
        <p:nvSpPr>
          <p:cNvPr id="176" name="“Onde estiver o teu tesouro, aí estará também o teu coração (Mt 6,21)&quot;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	“</a:t>
            </a:r>
            <a:r>
              <a:rPr dirty="0" err="1"/>
              <a:t>Onde</a:t>
            </a:r>
            <a:r>
              <a:rPr dirty="0"/>
              <a:t> </a:t>
            </a:r>
            <a:r>
              <a:rPr dirty="0" err="1"/>
              <a:t>estiver</a:t>
            </a:r>
            <a:r>
              <a:rPr dirty="0"/>
              <a:t> o </a:t>
            </a:r>
            <a:r>
              <a:rPr dirty="0" err="1"/>
              <a:t>teu</a:t>
            </a:r>
            <a:r>
              <a:rPr dirty="0"/>
              <a:t> </a:t>
            </a:r>
            <a:r>
              <a:rPr dirty="0" err="1"/>
              <a:t>tesouro</a:t>
            </a:r>
            <a:r>
              <a:rPr dirty="0"/>
              <a:t>, </a:t>
            </a:r>
            <a:r>
              <a:rPr dirty="0" err="1"/>
              <a:t>aí</a:t>
            </a:r>
            <a:r>
              <a:rPr dirty="0"/>
              <a:t> </a:t>
            </a:r>
            <a:r>
              <a:rPr dirty="0" err="1"/>
              <a:t>estará</a:t>
            </a:r>
            <a:r>
              <a:rPr dirty="0"/>
              <a:t> </a:t>
            </a:r>
            <a:r>
              <a:rPr dirty="0" err="1"/>
              <a:t>também</a:t>
            </a:r>
            <a:r>
              <a:rPr dirty="0"/>
              <a:t> o </a:t>
            </a:r>
            <a:r>
              <a:rPr dirty="0" err="1"/>
              <a:t>teu</a:t>
            </a:r>
            <a:r>
              <a:rPr dirty="0"/>
              <a:t> </a:t>
            </a:r>
            <a:r>
              <a:rPr dirty="0" err="1"/>
              <a:t>coração</a:t>
            </a:r>
            <a:r>
              <a:rPr dirty="0"/>
              <a:t> (Mt 6,21)"</a:t>
            </a:r>
          </a:p>
          <a:p>
            <a:r>
              <a:rPr dirty="0"/>
              <a:t>“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ajunteis</a:t>
            </a:r>
            <a:r>
              <a:rPr dirty="0"/>
              <a:t> </a:t>
            </a:r>
            <a:r>
              <a:rPr dirty="0" err="1"/>
              <a:t>tesouros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terra, </a:t>
            </a:r>
            <a:r>
              <a:rPr dirty="0" err="1"/>
              <a:t>onde</a:t>
            </a:r>
            <a:r>
              <a:rPr dirty="0"/>
              <a:t> a </a:t>
            </a:r>
            <a:r>
              <a:rPr dirty="0" err="1"/>
              <a:t>traça</a:t>
            </a:r>
            <a:r>
              <a:rPr dirty="0"/>
              <a:t> e a </a:t>
            </a:r>
            <a:r>
              <a:rPr dirty="0" err="1"/>
              <a:t>ferrugem</a:t>
            </a:r>
            <a:r>
              <a:rPr dirty="0"/>
              <a:t> </a:t>
            </a:r>
            <a:r>
              <a:rPr dirty="0" err="1"/>
              <a:t>tudo</a:t>
            </a:r>
            <a:r>
              <a:rPr dirty="0"/>
              <a:t> </a:t>
            </a:r>
            <a:r>
              <a:rPr dirty="0" err="1"/>
              <a:t>consomem</a:t>
            </a:r>
            <a:r>
              <a:rPr dirty="0"/>
              <a:t>, e </a:t>
            </a:r>
            <a:r>
              <a:rPr dirty="0" err="1"/>
              <a:t>onde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ladrões</a:t>
            </a:r>
            <a:r>
              <a:rPr dirty="0"/>
              <a:t> </a:t>
            </a:r>
            <a:r>
              <a:rPr dirty="0" err="1"/>
              <a:t>minam</a:t>
            </a:r>
            <a:r>
              <a:rPr dirty="0"/>
              <a:t> e </a:t>
            </a:r>
            <a:r>
              <a:rPr dirty="0" err="1"/>
              <a:t>roubam</a:t>
            </a:r>
            <a:r>
              <a:rPr dirty="0"/>
              <a:t>; mas </a:t>
            </a:r>
            <a:r>
              <a:rPr dirty="0" err="1"/>
              <a:t>ajuntai</a:t>
            </a:r>
            <a:r>
              <a:rPr dirty="0"/>
              <a:t> </a:t>
            </a:r>
            <a:r>
              <a:rPr dirty="0" err="1"/>
              <a:t>tesouros</a:t>
            </a:r>
            <a:r>
              <a:rPr dirty="0"/>
              <a:t> no </a:t>
            </a:r>
            <a:r>
              <a:rPr dirty="0" err="1"/>
              <a:t>céu</a:t>
            </a:r>
            <a:r>
              <a:rPr dirty="0"/>
              <a:t>, </a:t>
            </a:r>
            <a:r>
              <a:rPr dirty="0" err="1"/>
              <a:t>onde</a:t>
            </a:r>
            <a:r>
              <a:rPr dirty="0"/>
              <a:t> </a:t>
            </a:r>
            <a:r>
              <a:rPr dirty="0" err="1"/>
              <a:t>nem</a:t>
            </a:r>
            <a:r>
              <a:rPr dirty="0"/>
              <a:t> a </a:t>
            </a:r>
            <a:r>
              <a:rPr dirty="0" err="1"/>
              <a:t>traça</a:t>
            </a:r>
            <a:r>
              <a:rPr dirty="0"/>
              <a:t> </a:t>
            </a:r>
            <a:r>
              <a:rPr dirty="0" err="1"/>
              <a:t>nem</a:t>
            </a:r>
            <a:r>
              <a:rPr dirty="0"/>
              <a:t> a </a:t>
            </a:r>
            <a:r>
              <a:rPr dirty="0" err="1"/>
              <a:t>ferrugem</a:t>
            </a:r>
            <a:r>
              <a:rPr dirty="0"/>
              <a:t> </a:t>
            </a:r>
            <a:r>
              <a:rPr dirty="0" err="1"/>
              <a:t>consomem</a:t>
            </a:r>
            <a:r>
              <a:rPr dirty="0"/>
              <a:t>, e </a:t>
            </a:r>
            <a:r>
              <a:rPr dirty="0" err="1"/>
              <a:t>onde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ladrões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minam</a:t>
            </a:r>
            <a:r>
              <a:rPr dirty="0"/>
              <a:t> </a:t>
            </a:r>
            <a:r>
              <a:rPr dirty="0" err="1"/>
              <a:t>nem</a:t>
            </a:r>
            <a:r>
              <a:rPr dirty="0"/>
              <a:t> </a:t>
            </a:r>
            <a:r>
              <a:rPr dirty="0" err="1"/>
              <a:t>roubam</a:t>
            </a:r>
            <a:r>
              <a:rPr dirty="0"/>
              <a:t> (Mt 6, 19-21)”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cobica-600x335.jpg" descr="cobica-600x335.jpg"/>
          <p:cNvPicPr>
            <a:picLocks noGrp="1"/>
          </p:cNvPicPr>
          <p:nvPr>
            <p:ph type="pic" idx="21"/>
          </p:nvPr>
        </p:nvPicPr>
        <p:blipFill>
          <a:blip r:embed="rId2"/>
          <a:stretch>
            <a:fillRect/>
          </a:stretch>
        </p:blipFill>
        <p:spPr>
          <a:xfrm>
            <a:off x="12509500" y="3685598"/>
            <a:ext cx="11049001" cy="9258301"/>
          </a:xfrm>
          <a:prstGeom prst="rect">
            <a:avLst/>
          </a:prstGeom>
        </p:spPr>
      </p:pic>
      <p:sp>
        <p:nvSpPr>
          <p:cNvPr id="171" name="“10º Mandamento”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“10º Mandamento”</a:t>
            </a:r>
          </a:p>
        </p:txBody>
      </p:sp>
      <p:sp>
        <p:nvSpPr>
          <p:cNvPr id="172" name="“Não cobiçarás...coisa alguma que pertença a teu próximo” – Ex 20,17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462280" indent="-462280" defTabSz="751205">
              <a:spcBef>
                <a:spcPts val="2200"/>
              </a:spcBef>
              <a:defRPr sz="3822"/>
            </a:pPr>
            <a:r>
              <a:rPr lang="en-US" dirty="0" err="1"/>
              <a:t>Proíbe</a:t>
            </a:r>
            <a:r>
              <a:rPr lang="en-US" dirty="0"/>
              <a:t> a </a:t>
            </a:r>
            <a:r>
              <a:rPr lang="en-US" dirty="0" err="1"/>
              <a:t>ambição</a:t>
            </a:r>
            <a:r>
              <a:rPr lang="en-US" dirty="0"/>
              <a:t> </a:t>
            </a:r>
            <a:r>
              <a:rPr lang="en-US" dirty="0" err="1"/>
              <a:t>desregrada</a:t>
            </a:r>
            <a:r>
              <a:rPr lang="en-US" dirty="0"/>
              <a:t>; a </a:t>
            </a:r>
            <a:r>
              <a:rPr lang="en-US" dirty="0" err="1"/>
              <a:t>inveja</a:t>
            </a:r>
            <a:endParaRPr lang="en-US" dirty="0"/>
          </a:p>
          <a:p>
            <a:pPr marL="970280" lvl="1" indent="-462280" defTabSz="751205">
              <a:spcBef>
                <a:spcPts val="2200"/>
              </a:spcBef>
              <a:defRPr sz="3822"/>
            </a:pPr>
            <a:r>
              <a:rPr lang="en-US" dirty="0" err="1"/>
              <a:t>Podem</a:t>
            </a:r>
            <a:r>
              <a:rPr lang="en-US" dirty="0"/>
              <a:t> ser </a:t>
            </a:r>
            <a:r>
              <a:rPr lang="en-US" dirty="0" err="1"/>
              <a:t>combatidas</a:t>
            </a:r>
            <a:r>
              <a:rPr lang="en-US" dirty="0"/>
              <a:t> pela </a:t>
            </a:r>
            <a:r>
              <a:rPr lang="en-US" dirty="0" err="1"/>
              <a:t>benevolência</a:t>
            </a:r>
            <a:r>
              <a:rPr lang="en-US" dirty="0"/>
              <a:t>, </a:t>
            </a:r>
            <a:r>
              <a:rPr lang="en-US" dirty="0" err="1"/>
              <a:t>humildade</a:t>
            </a:r>
            <a:r>
              <a:rPr lang="en-US" dirty="0"/>
              <a:t>, </a:t>
            </a:r>
            <a:r>
              <a:rPr lang="en-US" dirty="0" err="1"/>
              <a:t>confiança</a:t>
            </a:r>
            <a:r>
              <a:rPr lang="en-US" dirty="0"/>
              <a:t> e </a:t>
            </a:r>
            <a:r>
              <a:rPr lang="en-US" dirty="0" err="1"/>
              <a:t>abandono</a:t>
            </a:r>
            <a:r>
              <a:rPr lang="en-US" dirty="0"/>
              <a:t> </a:t>
            </a:r>
            <a:r>
              <a:rPr lang="en-US" dirty="0" err="1"/>
              <a:t>à</a:t>
            </a:r>
            <a:r>
              <a:rPr lang="en-US" dirty="0"/>
              <a:t> </a:t>
            </a:r>
            <a:r>
              <a:rPr lang="en-US" dirty="0" err="1"/>
              <a:t>providência</a:t>
            </a:r>
            <a:r>
              <a:rPr lang="en-US" dirty="0"/>
              <a:t> de Deus. </a:t>
            </a:r>
          </a:p>
          <a:p>
            <a:pPr marL="462280" indent="-462280" defTabSz="751205">
              <a:spcBef>
                <a:spcPts val="2200"/>
              </a:spcBef>
              <a:defRPr sz="3822"/>
            </a:pPr>
            <a:r>
              <a:rPr lang="en-US" dirty="0" err="1"/>
              <a:t>Concupiscência</a:t>
            </a:r>
            <a:r>
              <a:rPr lang="en-US" dirty="0"/>
              <a:t> dos </a:t>
            </a:r>
            <a:r>
              <a:rPr lang="en-US" dirty="0" err="1"/>
              <a:t>olhos</a:t>
            </a:r>
            <a:r>
              <a:rPr lang="en-US" dirty="0"/>
              <a:t> e </a:t>
            </a:r>
            <a:r>
              <a:rPr lang="en-US" dirty="0" err="1"/>
              <a:t>intenção</a:t>
            </a:r>
            <a:r>
              <a:rPr lang="en-US" dirty="0"/>
              <a:t> do </a:t>
            </a:r>
            <a:r>
              <a:rPr lang="en-US" dirty="0" err="1"/>
              <a:t>coração</a:t>
            </a:r>
            <a:r>
              <a:rPr lang="en-US" dirty="0"/>
              <a:t>. </a:t>
            </a:r>
          </a:p>
          <a:p>
            <a:pPr marL="462280" indent="-462280" defTabSz="751205">
              <a:spcBef>
                <a:spcPts val="2200"/>
              </a:spcBef>
              <a:defRPr sz="3822"/>
            </a:pPr>
            <a:r>
              <a:rPr lang="en-US" dirty="0" err="1"/>
              <a:t>Proíbe</a:t>
            </a:r>
            <a:r>
              <a:rPr lang="en-US" dirty="0"/>
              <a:t> a </a:t>
            </a:r>
            <a:r>
              <a:rPr lang="en-US" dirty="0" err="1"/>
              <a:t>avidez</a:t>
            </a:r>
            <a:r>
              <a:rPr lang="en-US" dirty="0"/>
              <a:t> e </a:t>
            </a:r>
            <a:r>
              <a:rPr lang="en-US" dirty="0" err="1"/>
              <a:t>desejo</a:t>
            </a:r>
            <a:r>
              <a:rPr lang="en-US" dirty="0"/>
              <a:t> de </a:t>
            </a:r>
            <a:r>
              <a:rPr lang="en-US" dirty="0" err="1"/>
              <a:t>apropriação</a:t>
            </a:r>
            <a:r>
              <a:rPr lang="en-US" dirty="0"/>
              <a:t> </a:t>
            </a:r>
            <a:r>
              <a:rPr lang="en-US" dirty="0" err="1"/>
              <a:t>desmedida</a:t>
            </a:r>
            <a:r>
              <a:rPr lang="en-US" dirty="0"/>
              <a:t> dos bens </a:t>
            </a:r>
            <a:r>
              <a:rPr lang="en-US" dirty="0" err="1"/>
              <a:t>terrenos</a:t>
            </a:r>
            <a:r>
              <a:rPr lang="en-US" dirty="0"/>
              <a:t>.</a:t>
            </a:r>
          </a:p>
          <a:p>
            <a:pPr marL="462280" indent="-462280" defTabSz="751205">
              <a:spcBef>
                <a:spcPts val="2200"/>
              </a:spcBef>
              <a:defRPr sz="3822"/>
            </a:pPr>
            <a:r>
              <a:rPr lang="en-US" dirty="0" err="1"/>
              <a:t>Injustiça</a:t>
            </a:r>
            <a:r>
              <a:rPr lang="en-US" dirty="0"/>
              <a:t> pela qual se </a:t>
            </a:r>
            <a:r>
              <a:rPr lang="en-US" dirty="0" err="1"/>
              <a:t>prejudicaria</a:t>
            </a:r>
            <a:r>
              <a:rPr lang="en-US" dirty="0"/>
              <a:t> o outro.</a:t>
            </a:r>
          </a:p>
          <a:p>
            <a:pPr marL="462280" indent="-462280" defTabSz="751205">
              <a:spcBef>
                <a:spcPts val="2200"/>
              </a:spcBef>
              <a:defRPr sz="3822"/>
            </a:pPr>
            <a:r>
              <a:rPr lang="en-US" dirty="0" err="1"/>
              <a:t>Idolatria</a:t>
            </a:r>
            <a:r>
              <a:rPr lang="en-US" dirty="0"/>
              <a:t> dos bens </a:t>
            </a:r>
            <a:r>
              <a:rPr lang="en-US" dirty="0" err="1"/>
              <a:t>materiais</a:t>
            </a:r>
            <a:r>
              <a:rPr lang="en-US" dirty="0"/>
              <a:t>. </a:t>
            </a:r>
          </a:p>
          <a:p>
            <a:pPr marL="462280" indent="-462280" defTabSz="751205">
              <a:spcBef>
                <a:spcPts val="2200"/>
              </a:spcBef>
              <a:defRPr sz="3822"/>
            </a:pPr>
            <a:r>
              <a:rPr lang="en-US" dirty="0" err="1"/>
              <a:t>Deve</a:t>
            </a:r>
            <a:r>
              <a:rPr lang="en-US" dirty="0"/>
              <a:t>-se </a:t>
            </a:r>
            <a:r>
              <a:rPr lang="en-US" dirty="0" err="1"/>
              <a:t>banir</a:t>
            </a:r>
            <a:r>
              <a:rPr lang="en-US" dirty="0"/>
              <a:t> a </a:t>
            </a:r>
            <a:r>
              <a:rPr lang="en-US" dirty="0" err="1"/>
              <a:t>inveja</a:t>
            </a:r>
            <a:r>
              <a:rPr lang="en-US" dirty="0"/>
              <a:t> do </a:t>
            </a:r>
            <a:r>
              <a:rPr lang="en-US" dirty="0" err="1"/>
              <a:t>coração</a:t>
            </a:r>
            <a:r>
              <a:rPr lang="en-US" dirty="0"/>
              <a:t>, que </a:t>
            </a:r>
            <a:r>
              <a:rPr lang="en-US" dirty="0" err="1"/>
              <a:t>consta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tristeza </a:t>
            </a:r>
            <a:r>
              <a:rPr lang="en-US" dirty="0" err="1"/>
              <a:t>diante</a:t>
            </a:r>
            <a:r>
              <a:rPr lang="en-US" dirty="0"/>
              <a:t> do </a:t>
            </a:r>
            <a:r>
              <a:rPr lang="en-US" dirty="0" err="1"/>
              <a:t>bem</a:t>
            </a:r>
            <a:r>
              <a:rPr lang="en-US" dirty="0"/>
              <a:t> do outro e do </a:t>
            </a:r>
            <a:r>
              <a:rPr lang="en-US" dirty="0" err="1"/>
              <a:t>querer</a:t>
            </a:r>
            <a:r>
              <a:rPr lang="en-US" dirty="0"/>
              <a:t> se </a:t>
            </a:r>
            <a:r>
              <a:rPr lang="en-US" dirty="0" err="1"/>
              <a:t>apropriar</a:t>
            </a:r>
            <a:r>
              <a:rPr lang="en-US" dirty="0"/>
              <a:t> do que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lhe</a:t>
            </a:r>
            <a:r>
              <a:rPr lang="en-US" dirty="0"/>
              <a:t> </a:t>
            </a:r>
            <a:r>
              <a:rPr lang="en-US" dirty="0" err="1"/>
              <a:t>pertence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r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" grpId="0" animBg="1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5d3689b11ec25.jpg" descr="5d3689b11ec25.jpg"/>
          <p:cNvPicPr>
            <a:picLocks noGrp="1"/>
          </p:cNvPicPr>
          <p:nvPr>
            <p:ph type="pic" idx="21"/>
          </p:nvPr>
        </p:nvPicPr>
        <p:blipFill>
          <a:blip r:embed="rId2"/>
          <a:stretch>
            <a:fillRect/>
          </a:stretch>
        </p:blipFill>
        <p:spPr>
          <a:xfrm>
            <a:off x="889000" y="3638550"/>
            <a:ext cx="11049000" cy="9258300"/>
          </a:xfrm>
          <a:prstGeom prst="rect">
            <a:avLst/>
          </a:prstGeom>
        </p:spPr>
      </p:pic>
      <p:sp>
        <p:nvSpPr>
          <p:cNvPr id="179" name="A desordem das concupiscência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desordem das concupiscências</a:t>
            </a:r>
          </a:p>
        </p:txBody>
      </p:sp>
      <p:sp>
        <p:nvSpPr>
          <p:cNvPr id="180" name="“Não cobiçarás” nos ordena que afastemos de nós os desejos do que não nos pertence.…"/>
          <p:cNvSpPr txBox="1">
            <a:spLocks noGrp="1"/>
          </p:cNvSpPr>
          <p:nvPr>
            <p:ph type="body" sz="half" idx="1"/>
          </p:nvPr>
        </p:nvSpPr>
        <p:spPr>
          <a:xfrm>
            <a:off x="12579350" y="3803650"/>
            <a:ext cx="10909300" cy="89281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47040" indent="-447040" defTabSz="726440">
              <a:spcBef>
                <a:spcPts val="2200"/>
              </a:spcBef>
              <a:defRPr sz="3696"/>
            </a:pPr>
            <a:r>
              <a:rPr lang="en-US" dirty="0"/>
              <a:t>A </a:t>
            </a:r>
            <a:r>
              <a:rPr lang="en-US" dirty="0" err="1"/>
              <a:t>sensibilidade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faz</a:t>
            </a:r>
            <a:r>
              <a:rPr lang="en-US" dirty="0"/>
              <a:t> </a:t>
            </a:r>
            <a:r>
              <a:rPr lang="en-US" dirty="0" err="1"/>
              <a:t>desejar</a:t>
            </a:r>
            <a:r>
              <a:rPr lang="en-US" dirty="0"/>
              <a:t> </a:t>
            </a:r>
            <a:r>
              <a:rPr lang="en-US" dirty="0" err="1"/>
              <a:t>coisas</a:t>
            </a:r>
            <a:r>
              <a:rPr lang="en-US" dirty="0"/>
              <a:t> </a:t>
            </a:r>
            <a:r>
              <a:rPr lang="en-US" dirty="0" err="1"/>
              <a:t>agradáveis</a:t>
            </a:r>
            <a:r>
              <a:rPr lang="en-US" dirty="0"/>
              <a:t>.</a:t>
            </a:r>
          </a:p>
          <a:p>
            <a:pPr marL="447040" indent="-447040" defTabSz="726440">
              <a:spcBef>
                <a:spcPts val="2200"/>
              </a:spcBef>
              <a:defRPr sz="3696"/>
            </a:pP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proibida</a:t>
            </a:r>
            <a:r>
              <a:rPr lang="en-US" dirty="0"/>
              <a:t> a </a:t>
            </a:r>
            <a:r>
              <a:rPr lang="en-US" dirty="0" err="1"/>
              <a:t>apropriação</a:t>
            </a:r>
            <a:r>
              <a:rPr lang="en-US" dirty="0"/>
              <a:t> </a:t>
            </a:r>
            <a:r>
              <a:rPr lang="en-US" dirty="0" err="1"/>
              <a:t>desmedida</a:t>
            </a:r>
            <a:r>
              <a:rPr lang="en-US" dirty="0"/>
              <a:t> dos bens </a:t>
            </a:r>
            <a:r>
              <a:rPr lang="en-US" dirty="0" err="1"/>
              <a:t>terrenos</a:t>
            </a:r>
            <a:r>
              <a:rPr lang="en-US" dirty="0"/>
              <a:t>, </a:t>
            </a:r>
            <a:r>
              <a:rPr lang="en-US" dirty="0" err="1"/>
              <a:t>paixão</a:t>
            </a:r>
            <a:r>
              <a:rPr lang="en-US" dirty="0"/>
              <a:t> </a:t>
            </a:r>
            <a:r>
              <a:rPr lang="en-US" dirty="0" err="1"/>
              <a:t>imoderada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riquezas</a:t>
            </a:r>
            <a:r>
              <a:rPr lang="en-US" dirty="0"/>
              <a:t> e </a:t>
            </a:r>
            <a:r>
              <a:rPr lang="en-US" dirty="0" err="1"/>
              <a:t>poder</a:t>
            </a:r>
            <a:r>
              <a:rPr lang="en-US" dirty="0"/>
              <a:t>.</a:t>
            </a:r>
          </a:p>
          <a:p>
            <a:pPr marL="447040" indent="-447040" defTabSz="726440">
              <a:spcBef>
                <a:spcPts val="2200"/>
              </a:spcBef>
              <a:defRPr sz="3696"/>
            </a:pP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um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desejar</a:t>
            </a:r>
            <a:r>
              <a:rPr lang="en-US" dirty="0"/>
              <a:t> algo que o </a:t>
            </a:r>
            <a:r>
              <a:rPr lang="en-US" dirty="0" err="1"/>
              <a:t>próximo</a:t>
            </a:r>
            <a:r>
              <a:rPr lang="en-US" dirty="0"/>
              <a:t> </a:t>
            </a:r>
            <a:r>
              <a:rPr lang="en-US" dirty="0" err="1"/>
              <a:t>também</a:t>
            </a:r>
            <a:r>
              <a:rPr lang="en-US" dirty="0"/>
              <a:t> </a:t>
            </a:r>
            <a:r>
              <a:rPr lang="en-US" dirty="0" err="1"/>
              <a:t>tenha</a:t>
            </a:r>
            <a:r>
              <a:rPr lang="en-US" dirty="0"/>
              <a:t>, </a:t>
            </a:r>
            <a:r>
              <a:rPr lang="en-US" dirty="0" err="1"/>
              <a:t>desde</a:t>
            </a:r>
            <a:r>
              <a:rPr lang="en-US" dirty="0"/>
              <a:t> que </a:t>
            </a:r>
            <a:r>
              <a:rPr lang="en-US" dirty="0" err="1"/>
              <a:t>seja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meios</a:t>
            </a:r>
            <a:r>
              <a:rPr lang="en-US" dirty="0"/>
              <a:t> </a:t>
            </a:r>
            <a:r>
              <a:rPr lang="en-US" dirty="0" err="1"/>
              <a:t>justos</a:t>
            </a:r>
            <a:r>
              <a:rPr lang="en-US" dirty="0"/>
              <a:t>.</a:t>
            </a:r>
          </a:p>
          <a:p>
            <a:pPr marL="447040" indent="-447040" defTabSz="726440">
              <a:spcBef>
                <a:spcPts val="2200"/>
              </a:spcBef>
              <a:defRPr sz="3696"/>
            </a:pPr>
            <a:r>
              <a:rPr lang="en-US" dirty="0"/>
              <a:t>A </a:t>
            </a:r>
            <a:r>
              <a:rPr lang="en-US" dirty="0" err="1"/>
              <a:t>inveja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um </a:t>
            </a:r>
            <a:r>
              <a:rPr lang="en-US" dirty="0" err="1"/>
              <a:t>vício</a:t>
            </a:r>
            <a:r>
              <a:rPr lang="en-US" dirty="0"/>
              <a:t> capital. 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r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Os desejos do espírit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Os desejos do espírito</a:t>
            </a:r>
          </a:p>
        </p:txBody>
      </p:sp>
      <p:sp>
        <p:nvSpPr>
          <p:cNvPr id="184" name="A observação da Lei e da Graça desvia o coração da ambição e da inveja e nos caminha para o Bem.…"/>
          <p:cNvSpPr txBox="1">
            <a:spLocks noGrp="1"/>
          </p:cNvSpPr>
          <p:nvPr>
            <p:ph type="body" sz="half" idx="1"/>
          </p:nvPr>
        </p:nvSpPr>
        <p:spPr>
          <a:xfrm>
            <a:off x="12579350" y="3803650"/>
            <a:ext cx="10909300" cy="8928100"/>
          </a:xfrm>
          <a:prstGeom prst="rect">
            <a:avLst/>
          </a:prstGeom>
        </p:spPr>
        <p:txBody>
          <a:bodyPr/>
          <a:lstStyle/>
          <a:p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desejos</a:t>
            </a:r>
            <a:r>
              <a:rPr lang="en-US" dirty="0"/>
              <a:t> do </a:t>
            </a:r>
            <a:r>
              <a:rPr lang="en-US" dirty="0" err="1"/>
              <a:t>espírito</a:t>
            </a:r>
            <a:r>
              <a:rPr lang="en-US" dirty="0"/>
              <a:t>: </a:t>
            </a:r>
            <a:r>
              <a:rPr lang="en-US" dirty="0" err="1"/>
              <a:t>Devemos</a:t>
            </a:r>
            <a:r>
              <a:rPr lang="en-US" dirty="0"/>
              <a:t> sempre </a:t>
            </a:r>
            <a:r>
              <a:rPr lang="en-US" dirty="0" err="1"/>
              <a:t>suprir</a:t>
            </a:r>
            <a:r>
              <a:rPr lang="en-US" dirty="0"/>
              <a:t> as </a:t>
            </a:r>
            <a:r>
              <a:rPr lang="en-US" dirty="0" err="1"/>
              <a:t>necessidades</a:t>
            </a:r>
            <a:r>
              <a:rPr lang="en-US" dirty="0"/>
              <a:t> do </a:t>
            </a:r>
            <a:r>
              <a:rPr lang="en-US" dirty="0" err="1"/>
              <a:t>espírito</a:t>
            </a:r>
            <a:r>
              <a:rPr lang="en-US" dirty="0"/>
              <a:t>, mas </a:t>
            </a:r>
            <a:r>
              <a:rPr lang="en-US" dirty="0" err="1"/>
              <a:t>nem</a:t>
            </a:r>
            <a:r>
              <a:rPr lang="en-US" dirty="0"/>
              <a:t> sempre </a:t>
            </a:r>
            <a:r>
              <a:rPr lang="en-US" dirty="0" err="1"/>
              <a:t>suprir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desejos</a:t>
            </a:r>
            <a:r>
              <a:rPr lang="en-US" dirty="0"/>
              <a:t> do </a:t>
            </a:r>
            <a:r>
              <a:rPr lang="en-US" dirty="0" err="1"/>
              <a:t>corpo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9218" name="Picture 2" descr="O que a Bíblia diz sobre tentação">
            <a:extLst>
              <a:ext uri="{FF2B5EF4-FFF2-40B4-BE49-F238E27FC236}">
                <a16:creationId xmlns:a16="http://schemas.microsoft.com/office/drawing/2014/main" id="{C372ABBE-6158-5BAA-03C9-AD2E084958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12" r="18813"/>
          <a:stretch/>
        </p:blipFill>
        <p:spPr bwMode="auto">
          <a:xfrm>
            <a:off x="952500" y="3644900"/>
            <a:ext cx="10780681" cy="89281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r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prayer-on-my-knees4-1024x680.jpg" descr="prayer-on-my-knees4-1024x680.jpg"/>
          <p:cNvPicPr>
            <a:picLocks noGrp="1"/>
          </p:cNvPicPr>
          <p:nvPr>
            <p:ph type="pic" idx="21"/>
          </p:nvPr>
        </p:nvPicPr>
        <p:blipFill>
          <a:blip r:embed="rId2"/>
          <a:stretch>
            <a:fillRect/>
          </a:stretch>
        </p:blipFill>
        <p:spPr>
          <a:xfrm>
            <a:off x="12509500" y="3685598"/>
            <a:ext cx="11049001" cy="9258301"/>
          </a:xfrm>
          <a:prstGeom prst="rect">
            <a:avLst/>
          </a:prstGeom>
        </p:spPr>
      </p:pic>
      <p:sp>
        <p:nvSpPr>
          <p:cNvPr id="187" name="A pobreza de oraçã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pobreza de oração</a:t>
            </a:r>
          </a:p>
        </p:txBody>
      </p:sp>
      <p:sp>
        <p:nvSpPr>
          <p:cNvPr id="188" name="Regra básica 1: “O preceito do desprendimento das riquezas é obrigatório para se entrar no Reino dos céus.” – CIC 2544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370840" indent="-370840" defTabSz="602615">
              <a:spcBef>
                <a:spcPts val="1800"/>
              </a:spcBef>
              <a:defRPr sz="3066"/>
            </a:pPr>
            <a:r>
              <a:rPr lang="en-US" dirty="0"/>
              <a:t>A </a:t>
            </a:r>
            <a:r>
              <a:rPr lang="en-US" dirty="0" err="1"/>
              <a:t>pobreza</a:t>
            </a:r>
            <a:r>
              <a:rPr lang="en-US" dirty="0"/>
              <a:t> de </a:t>
            </a:r>
            <a:r>
              <a:rPr lang="en-US" dirty="0" err="1"/>
              <a:t>oração</a:t>
            </a:r>
            <a:r>
              <a:rPr lang="en-US" dirty="0"/>
              <a:t>: O </a:t>
            </a:r>
            <a:r>
              <a:rPr lang="en-US" dirty="0" err="1"/>
              <a:t>preceito</a:t>
            </a:r>
            <a:r>
              <a:rPr lang="en-US" dirty="0"/>
              <a:t> do </a:t>
            </a:r>
            <a:r>
              <a:rPr lang="en-US" dirty="0" err="1"/>
              <a:t>desprendimento</a:t>
            </a:r>
            <a:r>
              <a:rPr lang="en-US" dirty="0"/>
              <a:t> das </a:t>
            </a:r>
            <a:r>
              <a:rPr lang="en-US" dirty="0" err="1"/>
              <a:t>riquezas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obrigatório</a:t>
            </a:r>
            <a:r>
              <a:rPr lang="en-US" dirty="0"/>
              <a:t> para se </a:t>
            </a:r>
            <a:r>
              <a:rPr lang="en-US" dirty="0" err="1"/>
              <a:t>entrar</a:t>
            </a:r>
            <a:r>
              <a:rPr lang="en-US" dirty="0"/>
              <a:t> no </a:t>
            </a:r>
            <a:r>
              <a:rPr lang="en-US" dirty="0" err="1"/>
              <a:t>Reino</a:t>
            </a:r>
            <a:r>
              <a:rPr lang="en-US" dirty="0"/>
              <a:t> dos </a:t>
            </a:r>
            <a:r>
              <a:rPr lang="en-US" dirty="0" err="1"/>
              <a:t>Céus</a:t>
            </a:r>
            <a:r>
              <a:rPr lang="en-US" dirty="0"/>
              <a:t>.</a:t>
            </a:r>
          </a:p>
          <a:p>
            <a:pPr marL="370840" indent="-370840" defTabSz="602615">
              <a:spcBef>
                <a:spcPts val="1800"/>
              </a:spcBef>
              <a:defRPr sz="3066"/>
            </a:pPr>
            <a:r>
              <a:rPr lang="en-US" dirty="0"/>
              <a:t>O </a:t>
            </a:r>
            <a:r>
              <a:rPr lang="en-US" dirty="0" err="1"/>
              <a:t>pecado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ter</a:t>
            </a:r>
            <a:r>
              <a:rPr lang="en-US" dirty="0"/>
              <a:t> bens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, mas sim se </a:t>
            </a:r>
            <a:r>
              <a:rPr lang="en-US" dirty="0" err="1"/>
              <a:t>apegar</a:t>
            </a:r>
            <a:r>
              <a:rPr lang="en-US" dirty="0"/>
              <a:t> as </a:t>
            </a:r>
            <a:r>
              <a:rPr lang="en-US" dirty="0" err="1"/>
              <a:t>riquezas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forma de </a:t>
            </a:r>
            <a:r>
              <a:rPr lang="en-US" dirty="0" err="1"/>
              <a:t>salvação</a:t>
            </a:r>
            <a:r>
              <a:rPr lang="en-US" dirty="0"/>
              <a:t> e </a:t>
            </a:r>
            <a:r>
              <a:rPr lang="en-US" dirty="0" err="1"/>
              <a:t>encontrar</a:t>
            </a:r>
            <a:r>
              <a:rPr lang="en-US" dirty="0"/>
              <a:t> </a:t>
            </a:r>
            <a:r>
              <a:rPr lang="en-US" dirty="0" err="1"/>
              <a:t>consolo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bens </a:t>
            </a:r>
            <a:r>
              <a:rPr lang="en-US" dirty="0" err="1"/>
              <a:t>materiais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r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moses-sees-god-pass-by.jpg" descr="moses-sees-god-pass-by.jpg"/>
          <p:cNvPicPr>
            <a:picLocks noGrp="1"/>
          </p:cNvPicPr>
          <p:nvPr>
            <p:ph type="pic" idx="21"/>
          </p:nvPr>
        </p:nvPicPr>
        <p:blipFill>
          <a:blip r:embed="rId2"/>
          <a:stretch>
            <a:fillRect/>
          </a:stretch>
        </p:blipFill>
        <p:spPr>
          <a:xfrm>
            <a:off x="889000" y="3638550"/>
            <a:ext cx="11049000" cy="9258301"/>
          </a:xfrm>
          <a:prstGeom prst="rect">
            <a:avLst/>
          </a:prstGeom>
        </p:spPr>
      </p:pic>
      <p:sp>
        <p:nvSpPr>
          <p:cNvPr id="191" name="Quero ver a Deu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Quero ver a Deus</a:t>
            </a:r>
          </a:p>
        </p:txBody>
      </p:sp>
      <p:sp>
        <p:nvSpPr>
          <p:cNvPr id="192" name="O desejo da felicidade verdadeira liberta o homem do apego imoderado aos bens deste mundo, que se realizará na visão e na bem-aventurança; Juntar tesouros no céu!…"/>
          <p:cNvSpPr txBox="1">
            <a:spLocks noGrp="1"/>
          </p:cNvSpPr>
          <p:nvPr>
            <p:ph type="body" sz="half" idx="1"/>
          </p:nvPr>
        </p:nvSpPr>
        <p:spPr>
          <a:xfrm>
            <a:off x="12579350" y="3803650"/>
            <a:ext cx="10909300" cy="89281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“</a:t>
            </a:r>
            <a:r>
              <a:rPr lang="en-US" dirty="0" err="1"/>
              <a:t>Quero</a:t>
            </a:r>
            <a:r>
              <a:rPr lang="en-US" dirty="0"/>
              <a:t> </a:t>
            </a:r>
            <a:r>
              <a:rPr lang="en-US" dirty="0" err="1"/>
              <a:t>ver</a:t>
            </a:r>
            <a:r>
              <a:rPr lang="en-US" dirty="0"/>
              <a:t> a Deus”: O </a:t>
            </a:r>
            <a:r>
              <a:rPr lang="en-US" dirty="0" err="1"/>
              <a:t>verdadeiro</a:t>
            </a:r>
            <a:r>
              <a:rPr lang="en-US" dirty="0"/>
              <a:t> </a:t>
            </a:r>
            <a:r>
              <a:rPr lang="en-US" dirty="0" err="1"/>
              <a:t>desejo</a:t>
            </a:r>
            <a:r>
              <a:rPr lang="en-US" dirty="0"/>
              <a:t> do </a:t>
            </a:r>
            <a:r>
              <a:rPr lang="en-US" dirty="0" err="1"/>
              <a:t>povo</a:t>
            </a:r>
            <a:r>
              <a:rPr lang="en-US" dirty="0"/>
              <a:t> de Deus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ver</a:t>
            </a:r>
            <a:r>
              <a:rPr lang="en-US" dirty="0"/>
              <a:t> a Deus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sua</a:t>
            </a:r>
            <a:r>
              <a:rPr lang="en-US" dirty="0"/>
              <a:t> Vida Eterna, </a:t>
            </a:r>
            <a:r>
              <a:rPr lang="en-US" dirty="0" err="1"/>
              <a:t>mortificando</a:t>
            </a:r>
            <a:r>
              <a:rPr lang="en-US" dirty="0"/>
              <a:t> </a:t>
            </a:r>
            <a:r>
              <a:rPr lang="en-US" dirty="0" err="1"/>
              <a:t>sua</a:t>
            </a:r>
            <a:r>
              <a:rPr lang="en-US" dirty="0"/>
              <a:t> </a:t>
            </a:r>
            <a:r>
              <a:rPr lang="en-US" dirty="0" err="1"/>
              <a:t>concupiscência</a:t>
            </a:r>
            <a:r>
              <a:rPr lang="en-US" dirty="0"/>
              <a:t> e e </a:t>
            </a:r>
            <a:r>
              <a:rPr lang="en-US" dirty="0" err="1"/>
              <a:t>superando</a:t>
            </a:r>
            <a:r>
              <a:rPr lang="en-US" dirty="0"/>
              <a:t> as </a:t>
            </a:r>
            <a:r>
              <a:rPr lang="en-US" dirty="0" err="1"/>
              <a:t>seduções</a:t>
            </a:r>
            <a:r>
              <a:rPr lang="en-US" dirty="0"/>
              <a:t> do </a:t>
            </a:r>
            <a:r>
              <a:rPr lang="en-US" dirty="0" err="1"/>
              <a:t>gozo</a:t>
            </a:r>
            <a:r>
              <a:rPr lang="en-US" dirty="0"/>
              <a:t> e do </a:t>
            </a:r>
            <a:r>
              <a:rPr lang="en-US" dirty="0" err="1"/>
              <a:t>poder</a:t>
            </a:r>
            <a:r>
              <a:rPr lang="en-US" dirty="0"/>
              <a:t> para </a:t>
            </a:r>
            <a:r>
              <a:rPr lang="en-US" dirty="0" err="1"/>
              <a:t>isso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r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p19140_p_v10_ac.jpg" descr="p19140_p_v10_ac.jpg"/>
          <p:cNvPicPr>
            <a:picLocks noGrp="1"/>
          </p:cNvPicPr>
          <p:nvPr>
            <p:ph type="pic" idx="21"/>
          </p:nvPr>
        </p:nvPicPr>
        <p:blipFill>
          <a:blip r:embed="rId2"/>
          <a:stretch>
            <a:fillRect/>
          </a:stretch>
        </p:blipFill>
        <p:spPr>
          <a:xfrm>
            <a:off x="12509500" y="3685598"/>
            <a:ext cx="11049001" cy="9258301"/>
          </a:xfrm>
          <a:prstGeom prst="rect">
            <a:avLst/>
          </a:prstGeom>
        </p:spPr>
      </p:pic>
      <p:sp>
        <p:nvSpPr>
          <p:cNvPr id="167" name="“8º Mandamento”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“8º Mandamento”</a:t>
            </a:r>
          </a:p>
        </p:txBody>
      </p:sp>
      <p:sp>
        <p:nvSpPr>
          <p:cNvPr id="168" name="“Não apresentarás falso testemunho contra teu próximo” – Ex 20,16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“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apresentarás</a:t>
            </a:r>
            <a:r>
              <a:rPr dirty="0"/>
              <a:t> </a:t>
            </a:r>
            <a:r>
              <a:rPr dirty="0" err="1"/>
              <a:t>falso</a:t>
            </a:r>
            <a:r>
              <a:rPr dirty="0"/>
              <a:t> </a:t>
            </a:r>
            <a:r>
              <a:rPr dirty="0" err="1"/>
              <a:t>testemunho</a:t>
            </a:r>
            <a:r>
              <a:rPr dirty="0"/>
              <a:t> contra </a:t>
            </a:r>
            <a:r>
              <a:rPr dirty="0" err="1"/>
              <a:t>teu</a:t>
            </a:r>
            <a:r>
              <a:rPr dirty="0"/>
              <a:t> </a:t>
            </a:r>
            <a:r>
              <a:rPr dirty="0" err="1"/>
              <a:t>próximo</a:t>
            </a:r>
            <a:r>
              <a:rPr dirty="0"/>
              <a:t>” – Ex 20,16</a:t>
            </a:r>
          </a:p>
          <a:p>
            <a:r>
              <a:rPr dirty="0"/>
              <a:t>“</a:t>
            </a:r>
            <a:r>
              <a:rPr dirty="0" err="1"/>
              <a:t>Ouvistes</a:t>
            </a:r>
            <a:r>
              <a:rPr dirty="0"/>
              <a:t> </a:t>
            </a:r>
            <a:r>
              <a:rPr dirty="0" err="1"/>
              <a:t>também</a:t>
            </a:r>
            <a:r>
              <a:rPr dirty="0"/>
              <a:t> que </a:t>
            </a:r>
            <a:r>
              <a:rPr dirty="0" err="1"/>
              <a:t>foi</a:t>
            </a:r>
            <a:r>
              <a:rPr dirty="0"/>
              <a:t> </a:t>
            </a:r>
            <a:r>
              <a:rPr dirty="0" err="1"/>
              <a:t>dito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antigos</a:t>
            </a:r>
            <a:r>
              <a:rPr dirty="0"/>
              <a:t>: ‘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jurarás</a:t>
            </a:r>
            <a:r>
              <a:rPr dirty="0"/>
              <a:t> </a:t>
            </a:r>
            <a:r>
              <a:rPr dirty="0" err="1"/>
              <a:t>falso</a:t>
            </a:r>
            <a:r>
              <a:rPr dirty="0"/>
              <a:t>‘, mas </a:t>
            </a:r>
            <a:r>
              <a:rPr dirty="0" err="1"/>
              <a:t>cumprirás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teus</a:t>
            </a:r>
            <a:r>
              <a:rPr dirty="0"/>
              <a:t> </a:t>
            </a:r>
            <a:r>
              <a:rPr dirty="0" err="1"/>
              <a:t>juramentos</a:t>
            </a:r>
            <a:r>
              <a:rPr dirty="0"/>
              <a:t> </a:t>
            </a:r>
            <a:r>
              <a:rPr dirty="0" err="1"/>
              <a:t>feitos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Senhor” – Mt 5,33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depositphotos_1523697-stock-photo-old-book-with-ray-of.jpg" descr="depositphotos_1523697-stock-photo-old-book-with-ray-of.jpg"/>
          <p:cNvPicPr>
            <a:picLocks noGrp="1"/>
          </p:cNvPicPr>
          <p:nvPr>
            <p:ph type="pic" idx="21"/>
          </p:nvPr>
        </p:nvPicPr>
        <p:blipFill>
          <a:blip r:embed="rId2"/>
          <a:stretch>
            <a:fillRect/>
          </a:stretch>
        </p:blipFill>
        <p:spPr>
          <a:xfrm>
            <a:off x="889000" y="3638549"/>
            <a:ext cx="11049000" cy="9258301"/>
          </a:xfrm>
          <a:prstGeom prst="rect">
            <a:avLst/>
          </a:prstGeom>
        </p:spPr>
      </p:pic>
      <p:sp>
        <p:nvSpPr>
          <p:cNvPr id="171" name="Viver na verdad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Viver na verdade</a:t>
            </a:r>
          </a:p>
        </p:txBody>
      </p:sp>
      <p:sp>
        <p:nvSpPr>
          <p:cNvPr id="172" name="Deus é fonte de toda a verdade. Sua Palavra é verdade. Sua Lei é verdade e sendo ele Verdade os membros do seu Povo são chamados a viver na verdade. (CIC 2465)…"/>
          <p:cNvSpPr txBox="1">
            <a:spLocks noGrp="1"/>
          </p:cNvSpPr>
          <p:nvPr>
            <p:ph type="body" sz="half" idx="1"/>
          </p:nvPr>
        </p:nvSpPr>
        <p:spPr>
          <a:xfrm>
            <a:off x="12579350" y="3803650"/>
            <a:ext cx="10909300" cy="8928100"/>
          </a:xfrm>
          <a:prstGeom prst="rect">
            <a:avLst/>
          </a:prstGeom>
        </p:spPr>
        <p:txBody>
          <a:bodyPr/>
          <a:lstStyle/>
          <a:p>
            <a:pPr marL="487679" indent="-487679" defTabSz="792479">
              <a:spcBef>
                <a:spcPts val="2400"/>
              </a:spcBef>
              <a:defRPr sz="4032"/>
            </a:pPr>
            <a:r>
              <a:rPr lang="en-US" dirty="0" err="1"/>
              <a:t>Viver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verdade</a:t>
            </a:r>
            <a:endParaRPr lang="en-US" dirty="0"/>
          </a:p>
          <a:p>
            <a:pPr marL="995679" lvl="1" indent="-487679" defTabSz="792479">
              <a:spcBef>
                <a:spcPts val="2400"/>
              </a:spcBef>
              <a:defRPr sz="4032"/>
            </a:pPr>
            <a:r>
              <a:rPr lang="en-US" dirty="0"/>
              <a:t>Jesus </a:t>
            </a:r>
            <a:r>
              <a:rPr lang="en-US" dirty="0" err="1"/>
              <a:t>ensina</a:t>
            </a:r>
            <a:r>
              <a:rPr lang="en-US" dirty="0"/>
              <a:t> o amor </a:t>
            </a:r>
            <a:r>
              <a:rPr lang="en-US" dirty="0" err="1"/>
              <a:t>incondicional</a:t>
            </a:r>
            <a:r>
              <a:rPr lang="en-US" dirty="0"/>
              <a:t> da </a:t>
            </a:r>
            <a:r>
              <a:rPr lang="en-US" dirty="0" err="1"/>
              <a:t>verdade</a:t>
            </a:r>
            <a:r>
              <a:rPr lang="en-US" dirty="0"/>
              <a:t>: “</a:t>
            </a:r>
            <a:r>
              <a:rPr lang="en-US" dirty="0" err="1"/>
              <a:t>Seja</a:t>
            </a:r>
            <a:r>
              <a:rPr lang="en-US" dirty="0"/>
              <a:t> o </a:t>
            </a:r>
            <a:r>
              <a:rPr lang="en-US" dirty="0" err="1"/>
              <a:t>vosso</a:t>
            </a:r>
            <a:r>
              <a:rPr lang="en-US" dirty="0"/>
              <a:t> sim, sim, e o </a:t>
            </a:r>
            <a:r>
              <a:rPr lang="en-US" dirty="0" err="1"/>
              <a:t>vosso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, </a:t>
            </a:r>
            <a:r>
              <a:rPr lang="en-US" dirty="0" err="1"/>
              <a:t>não</a:t>
            </a:r>
            <a:r>
              <a:rPr lang="en-US" dirty="0"/>
              <a:t>”.</a:t>
            </a:r>
          </a:p>
          <a:p>
            <a:pPr marL="995679" lvl="1" indent="-487679" defTabSz="792479">
              <a:spcBef>
                <a:spcPts val="2400"/>
              </a:spcBef>
              <a:defRPr sz="4032"/>
            </a:pPr>
            <a:r>
              <a:rPr lang="en-US" dirty="0"/>
              <a:t>A </a:t>
            </a:r>
            <a:r>
              <a:rPr lang="en-US" dirty="0" err="1"/>
              <a:t>retidão</a:t>
            </a:r>
            <a:r>
              <a:rPr lang="en-US" dirty="0"/>
              <a:t> do </a:t>
            </a:r>
            <a:r>
              <a:rPr lang="en-US" dirty="0" err="1"/>
              <a:t>agir</a:t>
            </a:r>
            <a:r>
              <a:rPr lang="en-US" dirty="0"/>
              <a:t> e da </a:t>
            </a:r>
            <a:r>
              <a:rPr lang="en-US" dirty="0" err="1"/>
              <a:t>palavra</a:t>
            </a:r>
            <a:r>
              <a:rPr lang="en-US" dirty="0"/>
              <a:t> </a:t>
            </a:r>
            <a:r>
              <a:rPr lang="en-US" dirty="0" err="1"/>
              <a:t>evita</a:t>
            </a:r>
            <a:r>
              <a:rPr lang="en-US" dirty="0"/>
              <a:t> a </a:t>
            </a:r>
            <a:r>
              <a:rPr lang="en-US" dirty="0" err="1"/>
              <a:t>duplicidade</a:t>
            </a:r>
            <a:r>
              <a:rPr lang="en-US" dirty="0"/>
              <a:t>, a </a:t>
            </a:r>
            <a:r>
              <a:rPr lang="en-US" dirty="0" err="1"/>
              <a:t>simulação</a:t>
            </a:r>
            <a:r>
              <a:rPr lang="en-US" dirty="0"/>
              <a:t> e a </a:t>
            </a:r>
            <a:r>
              <a:rPr lang="en-US" dirty="0" err="1"/>
              <a:t>hipocrisia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1200px-Crucifixion_of_Saint_Peter-Caravaggio_(c.1600).jpg" descr="1200px-Crucifixion_of_Saint_Peter-Caravaggio_(c.1600).jpg"/>
          <p:cNvPicPr>
            <a:picLocks noGrp="1"/>
          </p:cNvPicPr>
          <p:nvPr>
            <p:ph type="pic" idx="21"/>
          </p:nvPr>
        </p:nvPicPr>
        <p:blipFill>
          <a:blip r:embed="rId2"/>
          <a:stretch>
            <a:fillRect/>
          </a:stretch>
        </p:blipFill>
        <p:spPr>
          <a:xfrm>
            <a:off x="12509500" y="3685598"/>
            <a:ext cx="11049000" cy="9258301"/>
          </a:xfrm>
          <a:prstGeom prst="rect">
            <a:avLst/>
          </a:prstGeom>
        </p:spPr>
      </p:pic>
      <p:sp>
        <p:nvSpPr>
          <p:cNvPr id="175" name="“Dar testemunho da verdade”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“Dar testemunho da verdade”</a:t>
            </a:r>
          </a:p>
        </p:txBody>
      </p:sp>
      <p:sp>
        <p:nvSpPr>
          <p:cNvPr id="176" name="Dar testemunho do Deus Verdadeiro, mantendo “a consciência irrepreensível diante de Deus e dos homens”.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Dar </a:t>
            </a:r>
            <a:r>
              <a:rPr lang="en-US" dirty="0" err="1"/>
              <a:t>testemunho</a:t>
            </a:r>
            <a:r>
              <a:rPr lang="en-US" dirty="0"/>
              <a:t> da </a:t>
            </a:r>
            <a:r>
              <a:rPr lang="en-US" dirty="0" err="1"/>
              <a:t>verdade</a:t>
            </a:r>
            <a:endParaRPr lang="en-US" dirty="0"/>
          </a:p>
          <a:p>
            <a:pPr lvl="1"/>
            <a:r>
              <a:rPr lang="en-US" dirty="0"/>
              <a:t>O </a:t>
            </a:r>
            <a:r>
              <a:rPr lang="en-US" dirty="0" err="1"/>
              <a:t>Cristão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testemunho</a:t>
            </a:r>
            <a:r>
              <a:rPr lang="en-US" dirty="0"/>
              <a:t> da </a:t>
            </a:r>
            <a:r>
              <a:rPr lang="en-US" dirty="0" err="1"/>
              <a:t>verdade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equívoco</a:t>
            </a:r>
            <a:r>
              <a:rPr lang="en-US" dirty="0"/>
              <a:t>.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declarar</a:t>
            </a:r>
            <a:r>
              <a:rPr lang="en-US" dirty="0"/>
              <a:t> </a:t>
            </a:r>
            <a:r>
              <a:rPr lang="en-US" dirty="0" err="1"/>
              <a:t>sua</a:t>
            </a:r>
            <a:r>
              <a:rPr lang="en-US" dirty="0"/>
              <a:t> </a:t>
            </a:r>
            <a:r>
              <a:rPr lang="en-US" dirty="0" err="1"/>
              <a:t>fé</a:t>
            </a:r>
            <a:r>
              <a:rPr lang="en-US" dirty="0"/>
              <a:t> sempre que </a:t>
            </a:r>
            <a:r>
              <a:rPr lang="en-US" dirty="0" err="1"/>
              <a:t>necessário</a:t>
            </a:r>
            <a:r>
              <a:rPr lang="en-US" dirty="0"/>
              <a:t>.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dever</a:t>
            </a:r>
            <a:r>
              <a:rPr lang="en-US" dirty="0"/>
              <a:t> </a:t>
            </a:r>
            <a:r>
              <a:rPr lang="en-US" dirty="0" err="1"/>
              <a:t>cristão</a:t>
            </a:r>
            <a:r>
              <a:rPr lang="en-US" dirty="0"/>
              <a:t>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testemunho</a:t>
            </a:r>
            <a:r>
              <a:rPr lang="en-US" dirty="0"/>
              <a:t> da </a:t>
            </a:r>
            <a:r>
              <a:rPr lang="en-US" dirty="0" err="1"/>
              <a:t>verdade</a:t>
            </a:r>
            <a:r>
              <a:rPr lang="en-US" dirty="0"/>
              <a:t> </a:t>
            </a:r>
            <a:r>
              <a:rPr lang="en-US" dirty="0" err="1"/>
              <a:t>quando</a:t>
            </a:r>
            <a:r>
              <a:rPr lang="en-US" dirty="0"/>
              <a:t> </a:t>
            </a:r>
            <a:r>
              <a:rPr lang="en-US" dirty="0" err="1"/>
              <a:t>solicitado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Muitos</a:t>
            </a:r>
            <a:r>
              <a:rPr lang="en-US" dirty="0"/>
              <a:t> </a:t>
            </a:r>
            <a:r>
              <a:rPr lang="en-US" dirty="0" err="1"/>
              <a:t>cristãos</a:t>
            </a:r>
            <a:r>
              <a:rPr lang="en-US" dirty="0"/>
              <a:t> </a:t>
            </a:r>
            <a:r>
              <a:rPr lang="en-US" dirty="0" err="1"/>
              <a:t>chegaram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martírio</a:t>
            </a:r>
            <a:r>
              <a:rPr lang="en-US" dirty="0"/>
              <a:t> para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negar</a:t>
            </a:r>
            <a:r>
              <a:rPr lang="en-US" dirty="0"/>
              <a:t> a </a:t>
            </a:r>
            <a:r>
              <a:rPr lang="en-US" dirty="0" err="1"/>
              <a:t>verdade</a:t>
            </a:r>
            <a:r>
              <a:rPr lang="en-US" dirty="0"/>
              <a:t> de Cristo. O </a:t>
            </a:r>
            <a:r>
              <a:rPr lang="en-US" dirty="0" err="1"/>
              <a:t>Martírio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o </a:t>
            </a:r>
            <a:r>
              <a:rPr lang="en-US" dirty="0" err="1"/>
              <a:t>maior</a:t>
            </a:r>
            <a:r>
              <a:rPr lang="en-US" dirty="0"/>
              <a:t> </a:t>
            </a:r>
            <a:r>
              <a:rPr lang="en-US" dirty="0" err="1"/>
              <a:t>testemunho</a:t>
            </a:r>
            <a:r>
              <a:rPr lang="en-US" dirty="0"/>
              <a:t> da </a:t>
            </a:r>
            <a:r>
              <a:rPr lang="en-US" dirty="0" err="1"/>
              <a:t>verdade</a:t>
            </a:r>
            <a:r>
              <a:rPr lang="en-US" dirty="0"/>
              <a:t> </a:t>
            </a:r>
            <a:r>
              <a:rPr lang="en-US" dirty="0" err="1"/>
              <a:t>cristã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doenca-da-mentira-mitomania-1-1280x720.jpg" descr="doenca-da-mentira-mitomania-1-1280x720.jpg"/>
          <p:cNvPicPr>
            <a:picLocks noGrp="1"/>
          </p:cNvPicPr>
          <p:nvPr>
            <p:ph type="pic" idx="21"/>
          </p:nvPr>
        </p:nvPicPr>
        <p:blipFill>
          <a:blip r:embed="rId2"/>
          <a:stretch>
            <a:fillRect/>
          </a:stretch>
        </p:blipFill>
        <p:spPr>
          <a:xfrm>
            <a:off x="889000" y="3638550"/>
            <a:ext cx="11049000" cy="9258300"/>
          </a:xfrm>
          <a:prstGeom prst="rect">
            <a:avLst/>
          </a:prstGeom>
        </p:spPr>
      </p:pic>
      <p:sp>
        <p:nvSpPr>
          <p:cNvPr id="179" name="As ofensas à verdad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As ofensas à verdade</a:t>
            </a:r>
          </a:p>
        </p:txBody>
      </p:sp>
      <p:sp>
        <p:nvSpPr>
          <p:cNvPr id="180" name="Regra básica: “despojar de toda maldade, de toda mentira, hipocrisia e inveja, e de toda calúnia” (1Pd 2,1).…"/>
          <p:cNvSpPr txBox="1">
            <a:spLocks noGrp="1"/>
          </p:cNvSpPr>
          <p:nvPr>
            <p:ph type="body" sz="half" idx="1"/>
          </p:nvPr>
        </p:nvSpPr>
        <p:spPr>
          <a:xfrm>
            <a:off x="12579350" y="3803650"/>
            <a:ext cx="10909300" cy="892810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Regra</a:t>
            </a:r>
            <a:r>
              <a:rPr dirty="0"/>
              <a:t> </a:t>
            </a:r>
            <a:r>
              <a:rPr dirty="0" err="1"/>
              <a:t>básica</a:t>
            </a:r>
            <a:r>
              <a:rPr dirty="0"/>
              <a:t>: “</a:t>
            </a:r>
            <a:r>
              <a:rPr dirty="0" err="1"/>
              <a:t>despojar</a:t>
            </a:r>
            <a:r>
              <a:rPr dirty="0"/>
              <a:t> de </a:t>
            </a:r>
            <a:r>
              <a:rPr dirty="0" err="1"/>
              <a:t>toda</a:t>
            </a:r>
            <a:r>
              <a:rPr dirty="0"/>
              <a:t> </a:t>
            </a:r>
            <a:r>
              <a:rPr dirty="0" err="1"/>
              <a:t>maldade</a:t>
            </a:r>
            <a:r>
              <a:rPr dirty="0"/>
              <a:t>, de </a:t>
            </a:r>
            <a:r>
              <a:rPr dirty="0" err="1"/>
              <a:t>toda</a:t>
            </a:r>
            <a:r>
              <a:rPr dirty="0"/>
              <a:t> </a:t>
            </a:r>
            <a:r>
              <a:rPr dirty="0" err="1"/>
              <a:t>mentira</a:t>
            </a:r>
            <a:r>
              <a:rPr dirty="0"/>
              <a:t>, </a:t>
            </a:r>
            <a:r>
              <a:rPr dirty="0" err="1"/>
              <a:t>hipocrisia</a:t>
            </a:r>
            <a:r>
              <a:rPr dirty="0"/>
              <a:t> e </a:t>
            </a:r>
            <a:r>
              <a:rPr dirty="0" err="1"/>
              <a:t>inveja</a:t>
            </a:r>
            <a:r>
              <a:rPr dirty="0"/>
              <a:t>, e de </a:t>
            </a:r>
            <a:r>
              <a:rPr dirty="0" err="1"/>
              <a:t>toda</a:t>
            </a:r>
            <a:r>
              <a:rPr dirty="0"/>
              <a:t> </a:t>
            </a:r>
            <a:r>
              <a:rPr dirty="0" err="1"/>
              <a:t>calúnia</a:t>
            </a:r>
            <a:r>
              <a:rPr dirty="0"/>
              <a:t>” (1Pd 2,1)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xit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" grpId="0" animBg="1" advAuto="0"/>
      <p:bldP spid="180" grpId="0" animBg="1" advAuto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As ofensas à verdad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As ofensas à verdade</a:t>
            </a:r>
          </a:p>
        </p:txBody>
      </p:sp>
      <p:sp>
        <p:nvSpPr>
          <p:cNvPr id="180" name="Regra básica: “despojar de toda maldade, de toda mentira, hipocrisia e inveja, e de toda calúnia” (1Pd 2,1).…"/>
          <p:cNvSpPr txBox="1">
            <a:spLocks noGrp="1"/>
          </p:cNvSpPr>
          <p:nvPr>
            <p:ph type="body" sz="half" idx="1"/>
          </p:nvPr>
        </p:nvSpPr>
        <p:spPr>
          <a:xfrm>
            <a:off x="12579350" y="3803650"/>
            <a:ext cx="10909300" cy="8928100"/>
          </a:xfrm>
          <a:prstGeom prst="rect">
            <a:avLst/>
          </a:prstGeom>
        </p:spPr>
        <p:txBody>
          <a:bodyPr/>
          <a:lstStyle/>
          <a:p>
            <a:r>
              <a:rPr lang="en-US" dirty="0" err="1"/>
              <a:t>Falso</a:t>
            </a:r>
            <a:r>
              <a:rPr lang="en-US" dirty="0"/>
              <a:t> </a:t>
            </a:r>
            <a:r>
              <a:rPr lang="en-US" dirty="0" err="1"/>
              <a:t>testemunho</a:t>
            </a:r>
            <a:r>
              <a:rPr lang="en-US" dirty="0"/>
              <a:t> e </a:t>
            </a:r>
            <a:r>
              <a:rPr lang="en-US" dirty="0" err="1"/>
              <a:t>perjúrio</a:t>
            </a:r>
            <a:r>
              <a:rPr lang="en-US" dirty="0"/>
              <a:t>: </a:t>
            </a:r>
            <a:r>
              <a:rPr lang="en-US" dirty="0" err="1"/>
              <a:t>Trata</a:t>
            </a:r>
            <a:r>
              <a:rPr lang="en-US" dirty="0"/>
              <a:t>-se de </a:t>
            </a:r>
            <a:r>
              <a:rPr lang="en-US" dirty="0" err="1"/>
              <a:t>afirmações</a:t>
            </a:r>
            <a:r>
              <a:rPr lang="en-US" dirty="0"/>
              <a:t> </a:t>
            </a:r>
            <a:r>
              <a:rPr lang="en-US" dirty="0" err="1"/>
              <a:t>públicas</a:t>
            </a:r>
            <a:r>
              <a:rPr lang="en-US" dirty="0"/>
              <a:t> </a:t>
            </a:r>
            <a:r>
              <a:rPr lang="en-US" dirty="0" err="1"/>
              <a:t>contrárias</a:t>
            </a:r>
            <a:r>
              <a:rPr lang="en-US" dirty="0"/>
              <a:t> </a:t>
            </a:r>
            <a:r>
              <a:rPr lang="en-US" dirty="0" err="1"/>
              <a:t>à</a:t>
            </a:r>
            <a:r>
              <a:rPr lang="en-US" dirty="0"/>
              <a:t> </a:t>
            </a:r>
            <a:r>
              <a:rPr lang="en-US" dirty="0" err="1"/>
              <a:t>verdade</a:t>
            </a:r>
            <a:r>
              <a:rPr lang="en-US" dirty="0"/>
              <a:t>. São </a:t>
            </a:r>
            <a:r>
              <a:rPr lang="en-US" dirty="0" err="1"/>
              <a:t>faltas</a:t>
            </a:r>
            <a:r>
              <a:rPr lang="en-US" dirty="0"/>
              <a:t> graves, pois </a:t>
            </a:r>
            <a:r>
              <a:rPr lang="en-US" dirty="0" err="1"/>
              <a:t>podem</a:t>
            </a:r>
            <a:r>
              <a:rPr lang="en-US" dirty="0"/>
              <a:t> </a:t>
            </a:r>
            <a:r>
              <a:rPr lang="en-US" dirty="0" err="1"/>
              <a:t>inocentar</a:t>
            </a:r>
            <a:r>
              <a:rPr lang="en-US" dirty="0"/>
              <a:t> um </a:t>
            </a:r>
            <a:r>
              <a:rPr lang="en-US" dirty="0" err="1"/>
              <a:t>culpado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culpar</a:t>
            </a:r>
            <a:r>
              <a:rPr lang="en-US" dirty="0"/>
              <a:t> um </a:t>
            </a:r>
            <a:r>
              <a:rPr lang="en-US" dirty="0" err="1"/>
              <a:t>inocente.Torna</a:t>
            </a:r>
            <a:r>
              <a:rPr lang="en-US" dirty="0"/>
              <a:t>-se </a:t>
            </a:r>
            <a:r>
              <a:rPr lang="en-US" dirty="0" err="1"/>
              <a:t>perjúrio</a:t>
            </a:r>
            <a:r>
              <a:rPr lang="en-US" dirty="0"/>
              <a:t> </a:t>
            </a:r>
            <a:r>
              <a:rPr lang="en-US" dirty="0" err="1"/>
              <a:t>quando</a:t>
            </a:r>
            <a:r>
              <a:rPr lang="en-US" dirty="0"/>
              <a:t> se </a:t>
            </a:r>
            <a:r>
              <a:rPr lang="en-US" dirty="0" err="1"/>
              <a:t>está</a:t>
            </a:r>
            <a:r>
              <a:rPr lang="en-US" dirty="0"/>
              <a:t> sob </a:t>
            </a:r>
            <a:r>
              <a:rPr lang="en-US" dirty="0" err="1"/>
              <a:t>juramento</a:t>
            </a:r>
            <a:r>
              <a:rPr lang="en-US" dirty="0"/>
              <a:t>.</a:t>
            </a:r>
          </a:p>
        </p:txBody>
      </p:sp>
      <p:pic>
        <p:nvPicPr>
          <p:cNvPr id="10242" name="Picture 2" descr="A Escada (The Staircase): data dos episódios e onde assistir - Mix de Séries">
            <a:extLst>
              <a:ext uri="{FF2B5EF4-FFF2-40B4-BE49-F238E27FC236}">
                <a16:creationId xmlns:a16="http://schemas.microsoft.com/office/drawing/2014/main" id="{59B6003F-44F0-B604-07C3-745D28451A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50"/>
          <a:stretch/>
        </p:blipFill>
        <p:spPr bwMode="auto">
          <a:xfrm>
            <a:off x="1514475" y="3803650"/>
            <a:ext cx="9029700" cy="86360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375065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" grpId="0" animBg="1" advAuto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As ofensas à verdad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As ofensas à verdade</a:t>
            </a:r>
          </a:p>
        </p:txBody>
      </p:sp>
      <p:sp>
        <p:nvSpPr>
          <p:cNvPr id="180" name="Regra básica: “despojar de toda maldade, de toda mentira, hipocrisia e inveja, e de toda calúnia” (1Pd 2,1).…"/>
          <p:cNvSpPr txBox="1">
            <a:spLocks noGrp="1"/>
          </p:cNvSpPr>
          <p:nvPr>
            <p:ph type="body" sz="half" idx="1"/>
          </p:nvPr>
        </p:nvSpPr>
        <p:spPr>
          <a:xfrm>
            <a:off x="12579350" y="3803650"/>
            <a:ext cx="10909300" cy="8928100"/>
          </a:xfrm>
          <a:prstGeom prst="rect">
            <a:avLst/>
          </a:prstGeom>
        </p:spPr>
        <p:txBody>
          <a:bodyPr/>
          <a:lstStyle/>
          <a:p>
            <a:r>
              <a:rPr lang="en-US" dirty="0" err="1"/>
              <a:t>Maledicência</a:t>
            </a:r>
            <a:r>
              <a:rPr lang="en-US" dirty="0"/>
              <a:t>: </a:t>
            </a:r>
            <a:r>
              <a:rPr lang="en-US" dirty="0" err="1"/>
              <a:t>revelar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defeitos</a:t>
            </a:r>
            <a:r>
              <a:rPr lang="en-US" dirty="0"/>
              <a:t> e </a:t>
            </a:r>
            <a:r>
              <a:rPr lang="en-US" dirty="0" err="1"/>
              <a:t>faltas</a:t>
            </a:r>
            <a:r>
              <a:rPr lang="en-US" dirty="0"/>
              <a:t> (</a:t>
            </a:r>
            <a:r>
              <a:rPr lang="en-US" dirty="0" err="1"/>
              <a:t>verdadeiras</a:t>
            </a:r>
            <a:r>
              <a:rPr lang="en-US" dirty="0"/>
              <a:t>) dos outros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motivo</a:t>
            </a:r>
            <a:r>
              <a:rPr lang="en-US" dirty="0"/>
              <a:t> </a:t>
            </a:r>
            <a:r>
              <a:rPr lang="en-US" dirty="0" err="1"/>
              <a:t>válido</a:t>
            </a:r>
            <a:r>
              <a:rPr lang="en-US" dirty="0"/>
              <a:t>, </a:t>
            </a:r>
            <a:r>
              <a:rPr lang="en-US" dirty="0" err="1"/>
              <a:t>dando</a:t>
            </a:r>
            <a:r>
              <a:rPr lang="en-US" dirty="0"/>
              <a:t> a </a:t>
            </a:r>
            <a:r>
              <a:rPr lang="en-US" dirty="0" err="1"/>
              <a:t>conhecer</a:t>
            </a:r>
            <a:r>
              <a:rPr lang="en-US" dirty="0"/>
              <a:t>,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necessidade</a:t>
            </a:r>
            <a:r>
              <a:rPr lang="en-US" dirty="0"/>
              <a:t>, um </a:t>
            </a:r>
            <a:r>
              <a:rPr lang="en-US" dirty="0" err="1"/>
              <a:t>mau</a:t>
            </a:r>
            <a:r>
              <a:rPr lang="en-US" dirty="0"/>
              <a:t> </a:t>
            </a:r>
            <a:r>
              <a:rPr lang="en-US" dirty="0" err="1"/>
              <a:t>comportamento</a:t>
            </a:r>
            <a:r>
              <a:rPr lang="en-US" dirty="0"/>
              <a:t>. </a:t>
            </a:r>
            <a:r>
              <a:rPr lang="en-US" dirty="0" err="1"/>
              <a:t>Destrói</a:t>
            </a:r>
            <a:r>
              <a:rPr lang="en-US" dirty="0"/>
              <a:t> a </a:t>
            </a:r>
            <a:r>
              <a:rPr lang="en-US" dirty="0" err="1"/>
              <a:t>reputação</a:t>
            </a:r>
            <a:r>
              <a:rPr lang="en-US" dirty="0"/>
              <a:t> e a </a:t>
            </a:r>
            <a:r>
              <a:rPr lang="en-US" dirty="0" err="1"/>
              <a:t>honra</a:t>
            </a:r>
            <a:r>
              <a:rPr lang="en-US" dirty="0"/>
              <a:t> do </a:t>
            </a:r>
            <a:r>
              <a:rPr lang="en-US" dirty="0" err="1"/>
              <a:t>próximo</a:t>
            </a:r>
            <a:r>
              <a:rPr lang="en-US" dirty="0"/>
              <a:t>.</a:t>
            </a:r>
          </a:p>
          <a:p>
            <a:r>
              <a:rPr lang="en-US" dirty="0" err="1"/>
              <a:t>Juízo</a:t>
            </a:r>
            <a:r>
              <a:rPr lang="en-US" dirty="0"/>
              <a:t> </a:t>
            </a:r>
            <a:r>
              <a:rPr lang="en-US" dirty="0" err="1"/>
              <a:t>temerário</a:t>
            </a:r>
            <a:r>
              <a:rPr lang="en-US" dirty="0"/>
              <a:t>: </a:t>
            </a:r>
            <a:r>
              <a:rPr lang="en-US" dirty="0" err="1"/>
              <a:t>É</a:t>
            </a:r>
            <a:r>
              <a:rPr lang="en-US" dirty="0"/>
              <a:t> um </a:t>
            </a:r>
            <a:r>
              <a:rPr lang="en-US" dirty="0" err="1"/>
              <a:t>prejuízo</a:t>
            </a:r>
            <a:r>
              <a:rPr lang="en-US" dirty="0"/>
              <a:t> </a:t>
            </a:r>
            <a:r>
              <a:rPr lang="en-US" dirty="0" err="1"/>
              <a:t>sério</a:t>
            </a:r>
            <a:r>
              <a:rPr lang="en-US" dirty="0"/>
              <a:t> contra a </a:t>
            </a:r>
            <a:r>
              <a:rPr lang="en-US" dirty="0" err="1"/>
              <a:t>reputação</a:t>
            </a:r>
            <a:r>
              <a:rPr lang="en-US" dirty="0"/>
              <a:t> do outro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nossa</a:t>
            </a:r>
            <a:r>
              <a:rPr lang="en-US" dirty="0"/>
              <a:t> </a:t>
            </a:r>
            <a:r>
              <a:rPr lang="en-US" dirty="0" err="1"/>
              <a:t>própria</a:t>
            </a:r>
            <a:r>
              <a:rPr lang="en-US" dirty="0"/>
              <a:t> </a:t>
            </a:r>
            <a:r>
              <a:rPr lang="en-US" dirty="0" err="1"/>
              <a:t>mente</a:t>
            </a:r>
            <a:r>
              <a:rPr lang="en-US" dirty="0"/>
              <a:t>, </a:t>
            </a:r>
            <a:r>
              <a:rPr lang="en-US" dirty="0" err="1"/>
              <a:t>onde</a:t>
            </a:r>
            <a:r>
              <a:rPr lang="en-US" dirty="0"/>
              <a:t> </a:t>
            </a:r>
            <a:r>
              <a:rPr lang="en-US" dirty="0" err="1"/>
              <a:t>admitimos</a:t>
            </a:r>
            <a:r>
              <a:rPr lang="en-US" dirty="0"/>
              <a:t> um </a:t>
            </a:r>
            <a:r>
              <a:rPr lang="en-US" dirty="0" err="1"/>
              <a:t>defeito</a:t>
            </a:r>
            <a:r>
              <a:rPr lang="en-US" dirty="0"/>
              <a:t> de outro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fundamento</a:t>
            </a:r>
            <a:r>
              <a:rPr lang="en-US" dirty="0"/>
              <a:t> </a:t>
            </a:r>
            <a:r>
              <a:rPr lang="en-US" dirty="0" err="1"/>
              <a:t>suficiente</a:t>
            </a:r>
            <a:r>
              <a:rPr lang="en-US" dirty="0"/>
              <a:t>.</a:t>
            </a:r>
          </a:p>
        </p:txBody>
      </p:sp>
      <p:pic>
        <p:nvPicPr>
          <p:cNvPr id="11268" name="Picture 4" descr="9.811 imagens de Eavesdrop Imagens, fotos stock e vetores | Shutterstock">
            <a:extLst>
              <a:ext uri="{FF2B5EF4-FFF2-40B4-BE49-F238E27FC236}">
                <a16:creationId xmlns:a16="http://schemas.microsoft.com/office/drawing/2014/main" id="{71661BEB-E227-F6B1-6362-6D6647FD14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94"/>
          <a:stretch/>
        </p:blipFill>
        <p:spPr bwMode="auto">
          <a:xfrm>
            <a:off x="895350" y="4679949"/>
            <a:ext cx="10839281" cy="717550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937937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" grpId="0" animBg="1" advAuto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As ofensas à verdad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As ofensas à verdade</a:t>
            </a:r>
          </a:p>
        </p:txBody>
      </p:sp>
      <p:sp>
        <p:nvSpPr>
          <p:cNvPr id="184" name="Calúnia: prejudicar a reputação de outros através de inverdades. Detrói a reputação e a honra do próximo.…"/>
          <p:cNvSpPr txBox="1">
            <a:spLocks noGrp="1"/>
          </p:cNvSpPr>
          <p:nvPr>
            <p:ph type="body" sz="half" idx="1"/>
          </p:nvPr>
        </p:nvSpPr>
        <p:spPr>
          <a:xfrm>
            <a:off x="12579350" y="3803650"/>
            <a:ext cx="10909300" cy="8928100"/>
          </a:xfrm>
          <a:prstGeom prst="rect">
            <a:avLst/>
          </a:prstGeom>
        </p:spPr>
        <p:txBody>
          <a:bodyPr/>
          <a:lstStyle/>
          <a:p>
            <a:pPr marL="411480" indent="-411480" defTabSz="668655">
              <a:spcBef>
                <a:spcPts val="2000"/>
              </a:spcBef>
              <a:defRPr sz="3402"/>
            </a:pPr>
            <a:r>
              <a:rPr lang="en-US" dirty="0"/>
              <a:t>O </a:t>
            </a:r>
            <a:r>
              <a:rPr lang="en-US" dirty="0" err="1"/>
              <a:t>diabo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pai da </a:t>
            </a:r>
            <a:r>
              <a:rPr lang="en-US" dirty="0" err="1"/>
              <a:t>mentira</a:t>
            </a:r>
            <a:r>
              <a:rPr lang="en-US" dirty="0"/>
              <a:t>. A </a:t>
            </a:r>
            <a:r>
              <a:rPr lang="en-US" dirty="0" err="1"/>
              <a:t>mentira</a:t>
            </a:r>
            <a:r>
              <a:rPr lang="en-US" dirty="0"/>
              <a:t> </a:t>
            </a:r>
            <a:r>
              <a:rPr lang="en-US" dirty="0" err="1"/>
              <a:t>pode</a:t>
            </a:r>
            <a:r>
              <a:rPr lang="en-US" dirty="0"/>
              <a:t> ser </a:t>
            </a:r>
            <a:r>
              <a:rPr lang="en-US" dirty="0" err="1"/>
              <a:t>pecado</a:t>
            </a:r>
            <a:r>
              <a:rPr lang="en-US" dirty="0"/>
              <a:t> mortal </a:t>
            </a:r>
            <a:r>
              <a:rPr lang="en-US" dirty="0" err="1"/>
              <a:t>dependendo</a:t>
            </a:r>
            <a:r>
              <a:rPr lang="en-US" dirty="0"/>
              <a:t> dos </a:t>
            </a:r>
            <a:r>
              <a:rPr lang="en-US" dirty="0" err="1"/>
              <a:t>danos</a:t>
            </a:r>
            <a:r>
              <a:rPr lang="en-US" dirty="0"/>
              <a:t> que causa.</a:t>
            </a:r>
          </a:p>
          <a:p>
            <a:pPr marL="411480" indent="-411480" defTabSz="668655">
              <a:spcBef>
                <a:spcPts val="2000"/>
              </a:spcBef>
              <a:defRPr sz="3402"/>
            </a:pPr>
            <a:r>
              <a:rPr lang="en-US" dirty="0" err="1"/>
              <a:t>Posso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dizer</a:t>
            </a:r>
            <a:r>
              <a:rPr lang="en-US" dirty="0"/>
              <a:t> a </a:t>
            </a:r>
            <a:r>
              <a:rPr lang="en-US" dirty="0" err="1"/>
              <a:t>verdade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autodefesa</a:t>
            </a:r>
            <a:r>
              <a:rPr lang="en-US" dirty="0"/>
              <a:t>. </a:t>
            </a:r>
          </a:p>
          <a:p>
            <a:pPr marL="411480" indent="-411480" defTabSz="668655">
              <a:spcBef>
                <a:spcPts val="2000"/>
              </a:spcBef>
              <a:defRPr sz="3402"/>
            </a:pPr>
            <a:r>
              <a:rPr lang="en-US" dirty="0" err="1"/>
              <a:t>Todo</a:t>
            </a:r>
            <a:r>
              <a:rPr lang="en-US" dirty="0"/>
              <a:t> </a:t>
            </a:r>
            <a:r>
              <a:rPr lang="en-US" dirty="0" err="1"/>
              <a:t>dano</a:t>
            </a:r>
            <a:r>
              <a:rPr lang="en-US" dirty="0"/>
              <a:t> </a:t>
            </a:r>
            <a:r>
              <a:rPr lang="en-US" dirty="0" err="1"/>
              <a:t>causado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mentira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ser </a:t>
            </a:r>
            <a:r>
              <a:rPr lang="en-US" dirty="0" err="1"/>
              <a:t>reparado</a:t>
            </a:r>
            <a:r>
              <a:rPr lang="en-US" dirty="0"/>
              <a:t> </a:t>
            </a:r>
            <a:r>
              <a:rPr lang="en-US" dirty="0" err="1"/>
              <a:t>moralmente</a:t>
            </a:r>
            <a:r>
              <a:rPr lang="en-US" dirty="0"/>
              <a:t> e,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vezes</a:t>
            </a:r>
            <a:r>
              <a:rPr lang="en-US" dirty="0"/>
              <a:t>, </a:t>
            </a:r>
            <a:r>
              <a:rPr lang="en-US" dirty="0" err="1"/>
              <a:t>materialmente</a:t>
            </a:r>
            <a:r>
              <a:rPr lang="en-US" dirty="0"/>
              <a:t>. </a:t>
            </a:r>
            <a:r>
              <a:rPr lang="en-US" dirty="0" err="1"/>
              <a:t>Isso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associado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perdão</a:t>
            </a:r>
            <a:r>
              <a:rPr lang="en-US" dirty="0"/>
              <a:t> do </a:t>
            </a:r>
            <a:r>
              <a:rPr lang="en-US" dirty="0" err="1"/>
              <a:t>pecado</a:t>
            </a:r>
            <a:r>
              <a:rPr lang="en-US" dirty="0"/>
              <a:t>.</a:t>
            </a:r>
          </a:p>
        </p:txBody>
      </p:sp>
      <p:pic>
        <p:nvPicPr>
          <p:cNvPr id="12290" name="Picture 2" descr="4 MENTIRAS QUE O DIABO QUER QUE VOCÊ ACREDITE (A 4ª Acontece Muito) -  Pastor Antonio Junior - YouTube">
            <a:extLst>
              <a:ext uri="{FF2B5EF4-FFF2-40B4-BE49-F238E27FC236}">
                <a16:creationId xmlns:a16="http://schemas.microsoft.com/office/drawing/2014/main" id="{2963EEB0-C741-09DF-2170-9417E753FB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29"/>
          <a:stretch/>
        </p:blipFill>
        <p:spPr bwMode="auto">
          <a:xfrm>
            <a:off x="2259013" y="3587750"/>
            <a:ext cx="7375525" cy="91440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029232181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" grpId="0" animBg="1" advAuto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5-razoes-pelas-voce-deve-parar-de-fazer-fofoca_1510073893-960x640.jpg" descr="5-razoes-pelas-voce-deve-parar-de-fazer-fofoca_1510073893-960x640.jpg"/>
          <p:cNvPicPr>
            <a:picLocks noGrp="1"/>
          </p:cNvPicPr>
          <p:nvPr>
            <p:ph type="pic" idx="21"/>
          </p:nvPr>
        </p:nvPicPr>
        <p:blipFill>
          <a:blip r:embed="rId2"/>
          <a:stretch>
            <a:fillRect/>
          </a:stretch>
        </p:blipFill>
        <p:spPr>
          <a:xfrm>
            <a:off x="889000" y="3638550"/>
            <a:ext cx="11049001" cy="9258300"/>
          </a:xfrm>
          <a:prstGeom prst="rect">
            <a:avLst/>
          </a:prstGeom>
        </p:spPr>
      </p:pic>
      <p:sp>
        <p:nvSpPr>
          <p:cNvPr id="183" name="As ofensas à verdad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As ofensas à verdade</a:t>
            </a:r>
          </a:p>
        </p:txBody>
      </p:sp>
      <p:sp>
        <p:nvSpPr>
          <p:cNvPr id="184" name="Calúnia: prejudicar a reputação de outros através de inverdades. Detrói a reputação e a honra do próximo.…"/>
          <p:cNvSpPr txBox="1">
            <a:spLocks noGrp="1"/>
          </p:cNvSpPr>
          <p:nvPr>
            <p:ph type="body" sz="half" idx="1"/>
          </p:nvPr>
        </p:nvSpPr>
        <p:spPr>
          <a:xfrm>
            <a:off x="12579350" y="3803650"/>
            <a:ext cx="10909300" cy="8928100"/>
          </a:xfrm>
          <a:prstGeom prst="rect">
            <a:avLst/>
          </a:prstGeom>
        </p:spPr>
        <p:txBody>
          <a:bodyPr/>
          <a:lstStyle/>
          <a:p>
            <a:pPr marL="411480" indent="-411480" defTabSz="668655">
              <a:spcBef>
                <a:spcPts val="2000"/>
              </a:spcBef>
              <a:defRPr sz="3402"/>
            </a:pPr>
            <a:r>
              <a:rPr lang="en-US" dirty="0" err="1"/>
              <a:t>Calúnia</a:t>
            </a:r>
            <a:r>
              <a:rPr lang="en-US" dirty="0"/>
              <a:t>: </a:t>
            </a:r>
            <a:r>
              <a:rPr lang="en-US" dirty="0" err="1"/>
              <a:t>Prejudicar</a:t>
            </a:r>
            <a:r>
              <a:rPr lang="en-US" dirty="0"/>
              <a:t> a </a:t>
            </a:r>
            <a:r>
              <a:rPr lang="en-US" dirty="0" err="1"/>
              <a:t>reputação</a:t>
            </a:r>
            <a:r>
              <a:rPr lang="en-US" dirty="0"/>
              <a:t> de outros </a:t>
            </a:r>
            <a:r>
              <a:rPr lang="en-US" dirty="0" err="1"/>
              <a:t>através</a:t>
            </a:r>
            <a:r>
              <a:rPr lang="en-US" dirty="0"/>
              <a:t> de </a:t>
            </a:r>
            <a:r>
              <a:rPr lang="en-US" dirty="0" err="1"/>
              <a:t>mentiras</a:t>
            </a:r>
            <a:r>
              <a:rPr lang="en-US" dirty="0"/>
              <a:t>. </a:t>
            </a:r>
            <a:r>
              <a:rPr lang="en-US" dirty="0" err="1"/>
              <a:t>Combina</a:t>
            </a:r>
            <a:r>
              <a:rPr lang="en-US" dirty="0"/>
              <a:t> um </a:t>
            </a:r>
            <a:r>
              <a:rPr lang="en-US" dirty="0" err="1"/>
              <a:t>pecado</a:t>
            </a:r>
            <a:r>
              <a:rPr lang="en-US" dirty="0"/>
              <a:t> contra a </a:t>
            </a:r>
            <a:r>
              <a:rPr lang="en-US" dirty="0" err="1"/>
              <a:t>verdade</a:t>
            </a:r>
            <a:r>
              <a:rPr lang="en-US" dirty="0"/>
              <a:t> (</a:t>
            </a:r>
            <a:r>
              <a:rPr lang="en-US" dirty="0" err="1"/>
              <a:t>mentira</a:t>
            </a:r>
            <a:r>
              <a:rPr lang="en-US" dirty="0"/>
              <a:t>), com um </a:t>
            </a:r>
            <a:r>
              <a:rPr lang="en-US" dirty="0" err="1"/>
              <a:t>pecado</a:t>
            </a:r>
            <a:r>
              <a:rPr lang="en-US" dirty="0"/>
              <a:t> contra a </a:t>
            </a:r>
            <a:r>
              <a:rPr lang="en-US" dirty="0" err="1"/>
              <a:t>justiça</a:t>
            </a:r>
            <a:r>
              <a:rPr lang="en-US" dirty="0"/>
              <a:t> (</a:t>
            </a:r>
            <a:r>
              <a:rPr lang="en-US" dirty="0" err="1"/>
              <a:t>ferir</a:t>
            </a:r>
            <a:r>
              <a:rPr lang="en-US" dirty="0"/>
              <a:t> o </a:t>
            </a:r>
            <a:r>
              <a:rPr lang="en-US" dirty="0" err="1"/>
              <a:t>nome</a:t>
            </a:r>
            <a:r>
              <a:rPr lang="en-US" dirty="0"/>
              <a:t> do outro). </a:t>
            </a:r>
          </a:p>
          <a:p>
            <a:pPr marL="411480" indent="-411480" defTabSz="668655">
              <a:spcBef>
                <a:spcPts val="2000"/>
              </a:spcBef>
              <a:defRPr sz="3402"/>
            </a:pPr>
            <a:r>
              <a:rPr lang="en-US" dirty="0" err="1"/>
              <a:t>Pecamos</a:t>
            </a:r>
            <a:r>
              <a:rPr lang="en-US" dirty="0"/>
              <a:t> </a:t>
            </a:r>
            <a:r>
              <a:rPr lang="en-US" dirty="0" err="1"/>
              <a:t>também</a:t>
            </a:r>
            <a:r>
              <a:rPr lang="en-US" dirty="0"/>
              <a:t> </a:t>
            </a:r>
            <a:r>
              <a:rPr lang="en-US" dirty="0" err="1"/>
              <a:t>quando</a:t>
            </a:r>
            <a:r>
              <a:rPr lang="en-US" dirty="0"/>
              <a:t> </a:t>
            </a:r>
            <a:r>
              <a:rPr lang="en-US" dirty="0" err="1"/>
              <a:t>ouvimos</a:t>
            </a:r>
            <a:r>
              <a:rPr lang="en-US" dirty="0"/>
              <a:t> com </a:t>
            </a:r>
            <a:r>
              <a:rPr lang="en-US" dirty="0" err="1"/>
              <a:t>agrado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calúnia</a:t>
            </a:r>
            <a:r>
              <a:rPr lang="en-US" dirty="0"/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2590703913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" grpId="0" animBg="1" advAuto="0"/>
      <p:bldP spid="184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As ofensas à verdad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As ofensas à verdade</a:t>
            </a:r>
          </a:p>
        </p:txBody>
      </p:sp>
      <p:sp>
        <p:nvSpPr>
          <p:cNvPr id="184" name="Calúnia: prejudicar a reputação de outros através de inverdades. Detrói a reputação e a honra do próximo.…"/>
          <p:cNvSpPr txBox="1">
            <a:spLocks noGrp="1"/>
          </p:cNvSpPr>
          <p:nvPr>
            <p:ph type="body" sz="half" idx="1"/>
          </p:nvPr>
        </p:nvSpPr>
        <p:spPr>
          <a:xfrm>
            <a:off x="12579350" y="3803650"/>
            <a:ext cx="10909300" cy="8928100"/>
          </a:xfrm>
          <a:prstGeom prst="rect">
            <a:avLst/>
          </a:prstGeom>
        </p:spPr>
        <p:txBody>
          <a:bodyPr/>
          <a:lstStyle/>
          <a:p>
            <a:pPr marL="411480" indent="-411480" defTabSz="668655">
              <a:spcBef>
                <a:spcPts val="2000"/>
              </a:spcBef>
              <a:defRPr sz="3402"/>
            </a:pPr>
            <a:r>
              <a:rPr lang="en-US" dirty="0" err="1"/>
              <a:t>Bajulação</a:t>
            </a:r>
            <a:r>
              <a:rPr lang="en-US" dirty="0"/>
              <a:t> e </a:t>
            </a:r>
            <a:r>
              <a:rPr lang="en-US" dirty="0" err="1"/>
              <a:t>adulação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complacência</a:t>
            </a:r>
            <a:r>
              <a:rPr lang="en-US" dirty="0"/>
              <a:t>: </a:t>
            </a:r>
            <a:r>
              <a:rPr lang="en-US" dirty="0" err="1"/>
              <a:t>Ocorrem</a:t>
            </a:r>
            <a:r>
              <a:rPr lang="en-US" dirty="0"/>
              <a:t> </a:t>
            </a:r>
            <a:r>
              <a:rPr lang="en-US" dirty="0" err="1"/>
              <a:t>quando</a:t>
            </a:r>
            <a:r>
              <a:rPr lang="en-US" dirty="0"/>
              <a:t> se </a:t>
            </a:r>
            <a:r>
              <a:rPr lang="en-US" dirty="0" err="1"/>
              <a:t>fazem</a:t>
            </a:r>
            <a:r>
              <a:rPr lang="en-US" dirty="0"/>
              <a:t> </a:t>
            </a:r>
            <a:r>
              <a:rPr lang="en-US" dirty="0" err="1"/>
              <a:t>elogios</a:t>
            </a:r>
            <a:r>
              <a:rPr lang="en-US" dirty="0"/>
              <a:t> para se </a:t>
            </a:r>
            <a:r>
              <a:rPr lang="en-US" dirty="0" err="1"/>
              <a:t>obter</a:t>
            </a:r>
            <a:r>
              <a:rPr lang="en-US" dirty="0"/>
              <a:t> </a:t>
            </a:r>
            <a:r>
              <a:rPr lang="en-US" dirty="0" err="1"/>
              <a:t>vantagens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remediar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necessidade</a:t>
            </a:r>
            <a:r>
              <a:rPr lang="en-US" dirty="0"/>
              <a:t>.</a:t>
            </a:r>
          </a:p>
        </p:txBody>
      </p:sp>
      <p:pic>
        <p:nvPicPr>
          <p:cNvPr id="13314" name="Picture 2" descr="Bajuladores no ministério?">
            <a:extLst>
              <a:ext uri="{FF2B5EF4-FFF2-40B4-BE49-F238E27FC236}">
                <a16:creationId xmlns:a16="http://schemas.microsoft.com/office/drawing/2014/main" id="{924E5BCE-0539-F428-2782-88D818D93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50" y="4711700"/>
            <a:ext cx="10668000" cy="71120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952829774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" grpId="0" animBg="1" advAuto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As ofensas à verdad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As ofensas à verdade</a:t>
            </a:r>
          </a:p>
        </p:txBody>
      </p:sp>
      <p:sp>
        <p:nvSpPr>
          <p:cNvPr id="184" name="Calúnia: prejudicar a reputação de outros através de inverdades. Detrói a reputação e a honra do próximo.…"/>
          <p:cNvSpPr txBox="1">
            <a:spLocks noGrp="1"/>
          </p:cNvSpPr>
          <p:nvPr>
            <p:ph type="body" sz="half" idx="1"/>
          </p:nvPr>
        </p:nvSpPr>
        <p:spPr>
          <a:xfrm>
            <a:off x="12579350" y="3803650"/>
            <a:ext cx="10909300" cy="8928100"/>
          </a:xfrm>
          <a:prstGeom prst="rect">
            <a:avLst/>
          </a:prstGeom>
        </p:spPr>
        <p:txBody>
          <a:bodyPr/>
          <a:lstStyle/>
          <a:p>
            <a:pPr marL="411480" indent="-411480" defTabSz="668655">
              <a:spcBef>
                <a:spcPts val="2000"/>
              </a:spcBef>
              <a:defRPr sz="3402"/>
            </a:pPr>
            <a:r>
              <a:rPr lang="en-US" dirty="0" err="1"/>
              <a:t>Arrogância</a:t>
            </a:r>
            <a:endParaRPr lang="en-US" dirty="0"/>
          </a:p>
          <a:p>
            <a:pPr marL="411480" indent="-411480" defTabSz="668655">
              <a:spcBef>
                <a:spcPts val="2000"/>
              </a:spcBef>
              <a:defRPr sz="3402"/>
            </a:pPr>
            <a:r>
              <a:rPr lang="en-US" dirty="0" err="1"/>
              <a:t>Fanfarronice</a:t>
            </a:r>
            <a:r>
              <a:rPr lang="en-US" dirty="0"/>
              <a:t> (</a:t>
            </a:r>
            <a:r>
              <a:rPr lang="en-US" dirty="0" err="1"/>
              <a:t>contadores</a:t>
            </a:r>
            <a:r>
              <a:rPr lang="en-US" dirty="0"/>
              <a:t> de </a:t>
            </a:r>
            <a:r>
              <a:rPr lang="en-US" dirty="0" err="1"/>
              <a:t>história</a:t>
            </a:r>
            <a:r>
              <a:rPr lang="en-US" dirty="0"/>
              <a:t> – </a:t>
            </a:r>
            <a:r>
              <a:rPr lang="en-US" dirty="0" err="1"/>
              <a:t>pescadores</a:t>
            </a:r>
            <a:r>
              <a:rPr lang="en-US" dirty="0"/>
              <a:t>)</a:t>
            </a:r>
          </a:p>
          <a:p>
            <a:pPr marL="411480" indent="-411480" defTabSz="668655">
              <a:spcBef>
                <a:spcPts val="2000"/>
              </a:spcBef>
              <a:defRPr sz="3402"/>
            </a:pPr>
            <a:r>
              <a:rPr lang="en-US" dirty="0" err="1"/>
              <a:t>Brincadeiras</a:t>
            </a:r>
            <a:r>
              <a:rPr lang="en-US" dirty="0"/>
              <a:t> </a:t>
            </a:r>
            <a:r>
              <a:rPr lang="en-US" dirty="0" err="1"/>
              <a:t>depreciativas</a:t>
            </a:r>
            <a:endParaRPr lang="en-US" dirty="0"/>
          </a:p>
          <a:p>
            <a:pPr marL="411480" indent="-411480" defTabSz="668655">
              <a:spcBef>
                <a:spcPts val="2000"/>
              </a:spcBef>
              <a:defRPr sz="3402"/>
            </a:pPr>
            <a:r>
              <a:rPr lang="en-US" dirty="0" err="1"/>
              <a:t>Ironia</a:t>
            </a:r>
            <a:r>
              <a:rPr lang="en-US" dirty="0"/>
              <a:t> </a:t>
            </a:r>
          </a:p>
        </p:txBody>
      </p:sp>
      <p:pic>
        <p:nvPicPr>
          <p:cNvPr id="14338" name="Picture 2" descr="O problema em ser arrogante e como contornar isso!">
            <a:extLst>
              <a:ext uri="{FF2B5EF4-FFF2-40B4-BE49-F238E27FC236}">
                <a16:creationId xmlns:a16="http://schemas.microsoft.com/office/drawing/2014/main" id="{890C1EB9-05CF-AFE4-62CB-FC477AC0D6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26" t="7176"/>
          <a:stretch/>
        </p:blipFill>
        <p:spPr bwMode="auto">
          <a:xfrm>
            <a:off x="1771650" y="3593415"/>
            <a:ext cx="8635188" cy="934857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164454387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" grpId="0" animBg="1" advAuto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As ofensas à verdad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As ofensas à verdade</a:t>
            </a:r>
          </a:p>
        </p:txBody>
      </p:sp>
      <p:sp>
        <p:nvSpPr>
          <p:cNvPr id="184" name="Calúnia: prejudicar a reputação de outros através de inverdades. Detrói a reputação e a honra do próximo.…"/>
          <p:cNvSpPr txBox="1">
            <a:spLocks noGrp="1"/>
          </p:cNvSpPr>
          <p:nvPr>
            <p:ph type="body" sz="half" idx="1"/>
          </p:nvPr>
        </p:nvSpPr>
        <p:spPr>
          <a:xfrm>
            <a:off x="12579350" y="3803650"/>
            <a:ext cx="10909300" cy="8928100"/>
          </a:xfrm>
          <a:prstGeom prst="rect">
            <a:avLst/>
          </a:prstGeom>
        </p:spPr>
        <p:txBody>
          <a:bodyPr/>
          <a:lstStyle/>
          <a:p>
            <a:pPr marL="411480" indent="-411480" defTabSz="668655">
              <a:spcBef>
                <a:spcPts val="2000"/>
              </a:spcBef>
              <a:defRPr sz="3402"/>
            </a:pPr>
            <a:r>
              <a:rPr lang="en-US" dirty="0" err="1"/>
              <a:t>Insulto</a:t>
            </a:r>
            <a:r>
              <a:rPr lang="en-US" dirty="0"/>
              <a:t> </a:t>
            </a:r>
            <a:r>
              <a:rPr lang="en-US" dirty="0" err="1"/>
              <a:t>pessoal</a:t>
            </a:r>
            <a:r>
              <a:rPr lang="en-US" dirty="0"/>
              <a:t>: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cometido</a:t>
            </a:r>
            <a:r>
              <a:rPr lang="en-US" dirty="0"/>
              <a:t> contra o </a:t>
            </a:r>
            <a:r>
              <a:rPr lang="en-US" dirty="0" err="1"/>
              <a:t>próximo</a:t>
            </a:r>
            <a:r>
              <a:rPr lang="en-US" dirty="0"/>
              <a:t>,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sua</a:t>
            </a:r>
            <a:r>
              <a:rPr lang="en-US" dirty="0"/>
              <a:t> </a:t>
            </a:r>
            <a:r>
              <a:rPr lang="en-US" dirty="0" err="1"/>
              <a:t>presença</a:t>
            </a:r>
            <a:r>
              <a:rPr lang="en-US" dirty="0"/>
              <a:t>. Por </a:t>
            </a:r>
            <a:r>
              <a:rPr lang="en-US" dirty="0" err="1"/>
              <a:t>palavras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obras</a:t>
            </a:r>
            <a:r>
              <a:rPr lang="en-US" dirty="0"/>
              <a:t>, </a:t>
            </a:r>
            <a:r>
              <a:rPr lang="en-US" dirty="0" err="1"/>
              <a:t>recusamos</a:t>
            </a:r>
            <a:r>
              <a:rPr lang="en-US" dirty="0"/>
              <a:t> </a:t>
            </a:r>
            <a:r>
              <a:rPr lang="en-US" dirty="0" err="1"/>
              <a:t>manifestações</a:t>
            </a:r>
            <a:r>
              <a:rPr lang="en-US" dirty="0"/>
              <a:t> de </a:t>
            </a:r>
            <a:r>
              <a:rPr lang="en-US" dirty="0" err="1"/>
              <a:t>respeito</a:t>
            </a:r>
            <a:r>
              <a:rPr lang="en-US" dirty="0"/>
              <a:t> e </a:t>
            </a:r>
            <a:r>
              <a:rPr lang="en-US" dirty="0" err="1"/>
              <a:t>amizade</a:t>
            </a:r>
            <a:r>
              <a:rPr lang="en-US" dirty="0"/>
              <a:t> que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devidas</a:t>
            </a:r>
            <a:r>
              <a:rPr lang="en-US" dirty="0"/>
              <a:t>.</a:t>
            </a:r>
          </a:p>
        </p:txBody>
      </p:sp>
      <p:pic>
        <p:nvPicPr>
          <p:cNvPr id="15362" name="Picture 2" descr="Bullying: o que é, exemplos, consequências, leis - Mundo Educação">
            <a:extLst>
              <a:ext uri="{FF2B5EF4-FFF2-40B4-BE49-F238E27FC236}">
                <a16:creationId xmlns:a16="http://schemas.microsoft.com/office/drawing/2014/main" id="{72FD5645-BECB-4D57-025F-C1DEF9DA0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765" y="4778374"/>
            <a:ext cx="10741290" cy="71659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149367334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" grpId="0" animBg="1" advAuto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As ofensas à verdad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As ofensas à verdade</a:t>
            </a:r>
          </a:p>
        </p:txBody>
      </p:sp>
      <p:sp>
        <p:nvSpPr>
          <p:cNvPr id="184" name="Calúnia: prejudicar a reputação de outros através de inverdades. Detrói a reputação e a honra do próximo.…"/>
          <p:cNvSpPr txBox="1">
            <a:spLocks noGrp="1"/>
          </p:cNvSpPr>
          <p:nvPr>
            <p:ph type="body" sz="half" idx="1"/>
          </p:nvPr>
        </p:nvSpPr>
        <p:spPr>
          <a:xfrm>
            <a:off x="12579350" y="3803650"/>
            <a:ext cx="10909300" cy="8928100"/>
          </a:xfrm>
          <a:prstGeom prst="rect">
            <a:avLst/>
          </a:prstGeom>
        </p:spPr>
        <p:txBody>
          <a:bodyPr/>
          <a:lstStyle/>
          <a:p>
            <a:pPr marL="411480" indent="-411480" defTabSz="668655">
              <a:spcBef>
                <a:spcPts val="2000"/>
              </a:spcBef>
              <a:defRPr sz="3402"/>
            </a:pPr>
            <a:r>
              <a:rPr lang="en-US" dirty="0" err="1"/>
              <a:t>Intriga</a:t>
            </a:r>
            <a:r>
              <a:rPr lang="en-US" dirty="0"/>
              <a:t>: </a:t>
            </a:r>
            <a:r>
              <a:rPr lang="en-US" dirty="0" err="1"/>
              <a:t>Trata</a:t>
            </a:r>
            <a:r>
              <a:rPr lang="en-US" dirty="0"/>
              <a:t>-se do </a:t>
            </a:r>
            <a:r>
              <a:rPr lang="en-US" dirty="0" err="1"/>
              <a:t>mexerico</a:t>
            </a:r>
            <a:r>
              <a:rPr lang="en-US" dirty="0"/>
              <a:t> que semeia </a:t>
            </a:r>
            <a:r>
              <a:rPr lang="en-US" dirty="0" err="1"/>
              <a:t>discórdia</a:t>
            </a:r>
            <a:r>
              <a:rPr lang="en-US" dirty="0"/>
              <a:t>. </a:t>
            </a:r>
          </a:p>
        </p:txBody>
      </p:sp>
      <p:pic>
        <p:nvPicPr>
          <p:cNvPr id="16386" name="Picture 2" descr="6 táticas para lidar com a fofoca no trabalho - e não ser engolido por ela  - 18/10/2017 - UOL Universa">
            <a:extLst>
              <a:ext uri="{FF2B5EF4-FFF2-40B4-BE49-F238E27FC236}">
                <a16:creationId xmlns:a16="http://schemas.microsoft.com/office/drawing/2014/main" id="{BDE11C48-E0B6-2652-CF64-D0E0BF0C8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608" y="3803650"/>
            <a:ext cx="8920867" cy="89281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394744639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" grpId="0" animBg="1" advAuto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unnamed.jpg" descr="unnamed.jpg"/>
          <p:cNvPicPr>
            <a:picLocks noGrp="1"/>
          </p:cNvPicPr>
          <p:nvPr>
            <p:ph type="pic" idx="21"/>
          </p:nvPr>
        </p:nvPicPr>
        <p:blipFill>
          <a:blip r:embed="rId2"/>
          <a:stretch>
            <a:fillRect/>
          </a:stretch>
        </p:blipFill>
        <p:spPr>
          <a:xfrm>
            <a:off x="12509500" y="3685598"/>
            <a:ext cx="11049000" cy="9258301"/>
          </a:xfrm>
          <a:prstGeom prst="rect">
            <a:avLst/>
          </a:prstGeom>
        </p:spPr>
      </p:pic>
      <p:sp>
        <p:nvSpPr>
          <p:cNvPr id="187" name="O respeito à verdad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 respeito à verdade</a:t>
            </a:r>
          </a:p>
        </p:txBody>
      </p:sp>
      <p:sp>
        <p:nvSpPr>
          <p:cNvPr id="188" name="A revelação da verdade não é incondicional, e deve ser avaliado se é conveniente ou não essa revelação. Deve se levar em consideração o bem comum, a segurança do outro e o direito à vida privada.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487679" indent="-487679" defTabSz="792479">
              <a:spcBef>
                <a:spcPts val="2400"/>
              </a:spcBef>
              <a:defRPr sz="4032"/>
            </a:pPr>
            <a:r>
              <a:rPr dirty="0"/>
              <a:t>A </a:t>
            </a:r>
            <a:r>
              <a:rPr dirty="0" err="1"/>
              <a:t>revelação</a:t>
            </a:r>
            <a:r>
              <a:rPr dirty="0"/>
              <a:t> da </a:t>
            </a:r>
            <a:r>
              <a:rPr dirty="0" err="1"/>
              <a:t>verdade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incondicional</a:t>
            </a:r>
            <a:r>
              <a:rPr dirty="0"/>
              <a:t>, e </a:t>
            </a:r>
            <a:r>
              <a:rPr dirty="0" err="1"/>
              <a:t>deve</a:t>
            </a:r>
            <a:r>
              <a:rPr dirty="0"/>
              <a:t> ser </a:t>
            </a:r>
            <a:r>
              <a:rPr dirty="0" err="1"/>
              <a:t>avaliado</a:t>
            </a:r>
            <a:r>
              <a:rPr dirty="0"/>
              <a:t> se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conveniente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essa</a:t>
            </a:r>
            <a:r>
              <a:rPr dirty="0"/>
              <a:t> </a:t>
            </a:r>
            <a:r>
              <a:rPr dirty="0" err="1"/>
              <a:t>revelação</a:t>
            </a:r>
            <a:r>
              <a:rPr dirty="0"/>
              <a:t>. </a:t>
            </a:r>
            <a:r>
              <a:rPr dirty="0" err="1"/>
              <a:t>Deve</a:t>
            </a:r>
            <a:r>
              <a:rPr dirty="0"/>
              <a:t> se </a:t>
            </a:r>
            <a:r>
              <a:rPr dirty="0" err="1"/>
              <a:t>levar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consideração</a:t>
            </a:r>
            <a:r>
              <a:rPr dirty="0"/>
              <a:t> o </a:t>
            </a:r>
            <a:r>
              <a:rPr dirty="0" err="1"/>
              <a:t>bem</a:t>
            </a:r>
            <a:r>
              <a:rPr dirty="0"/>
              <a:t> </a:t>
            </a:r>
            <a:r>
              <a:rPr dirty="0" err="1"/>
              <a:t>comum</a:t>
            </a:r>
            <a:r>
              <a:rPr dirty="0"/>
              <a:t>, a </a:t>
            </a:r>
            <a:r>
              <a:rPr dirty="0" err="1"/>
              <a:t>segurança</a:t>
            </a:r>
            <a:r>
              <a:rPr dirty="0"/>
              <a:t> do outro e o </a:t>
            </a:r>
            <a:r>
              <a:rPr dirty="0" err="1"/>
              <a:t>direito</a:t>
            </a:r>
            <a:r>
              <a:rPr dirty="0"/>
              <a:t> </a:t>
            </a:r>
            <a:r>
              <a:rPr dirty="0" err="1"/>
              <a:t>à</a:t>
            </a:r>
            <a:r>
              <a:rPr dirty="0"/>
              <a:t> </a:t>
            </a:r>
            <a:r>
              <a:rPr dirty="0" err="1"/>
              <a:t>vida</a:t>
            </a:r>
            <a:r>
              <a:rPr dirty="0"/>
              <a:t> </a:t>
            </a:r>
            <a:r>
              <a:rPr dirty="0" err="1"/>
              <a:t>privada</a:t>
            </a:r>
            <a:r>
              <a:rPr dirty="0"/>
              <a:t>.</a:t>
            </a:r>
          </a:p>
          <a:p>
            <a:pPr marL="487679" indent="-487679" defTabSz="792479">
              <a:spcBef>
                <a:spcPts val="2400"/>
              </a:spcBef>
              <a:defRPr sz="4032"/>
            </a:pPr>
            <a:r>
              <a:rPr dirty="0"/>
              <a:t>O </a:t>
            </a:r>
            <a:r>
              <a:rPr dirty="0" err="1"/>
              <a:t>sigilo</a:t>
            </a:r>
            <a:r>
              <a:rPr dirty="0"/>
              <a:t> do </a:t>
            </a:r>
            <a:r>
              <a:rPr dirty="0" err="1"/>
              <a:t>sacramento</a:t>
            </a:r>
            <a:r>
              <a:rPr dirty="0"/>
              <a:t> da </a:t>
            </a:r>
            <a:r>
              <a:rPr dirty="0" err="1"/>
              <a:t>confissão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sagrado</a:t>
            </a:r>
            <a:r>
              <a:rPr dirty="0"/>
              <a:t> e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ser </a:t>
            </a:r>
            <a:r>
              <a:rPr dirty="0" err="1"/>
              <a:t>traído</a:t>
            </a:r>
            <a:r>
              <a:rPr dirty="0"/>
              <a:t> sob </a:t>
            </a:r>
            <a:r>
              <a:rPr dirty="0" err="1"/>
              <a:t>nenhum</a:t>
            </a:r>
            <a:r>
              <a:rPr dirty="0"/>
              <a:t> </a:t>
            </a:r>
            <a:r>
              <a:rPr dirty="0" err="1"/>
              <a:t>pretexto</a:t>
            </a:r>
            <a:r>
              <a:rPr dirty="0"/>
              <a:t> (sob </a:t>
            </a:r>
            <a:r>
              <a:rPr dirty="0" err="1"/>
              <a:t>pena</a:t>
            </a:r>
            <a:r>
              <a:rPr dirty="0"/>
              <a:t> de </a:t>
            </a:r>
            <a:r>
              <a:rPr dirty="0" err="1"/>
              <a:t>excomunhão</a:t>
            </a:r>
            <a:r>
              <a:rPr dirty="0"/>
              <a:t> </a:t>
            </a:r>
            <a:r>
              <a:rPr dirty="0" err="1"/>
              <a:t>automática</a:t>
            </a:r>
            <a:r>
              <a:rPr dirty="0"/>
              <a:t>).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lícito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confessor </a:t>
            </a:r>
            <a:r>
              <a:rPr dirty="0" err="1"/>
              <a:t>revelar</a:t>
            </a:r>
            <a:r>
              <a:rPr dirty="0"/>
              <a:t> o </a:t>
            </a:r>
            <a:r>
              <a:rPr dirty="0" err="1"/>
              <a:t>penitente</a:t>
            </a:r>
            <a:r>
              <a:rPr dirty="0"/>
              <a:t> de forma </a:t>
            </a:r>
            <a:r>
              <a:rPr dirty="0" err="1"/>
              <a:t>alguma</a:t>
            </a:r>
            <a:r>
              <a:rPr dirty="0"/>
              <a:t>.</a:t>
            </a:r>
          </a:p>
          <a:p>
            <a:pPr marL="487679" indent="-487679" defTabSz="792479">
              <a:spcBef>
                <a:spcPts val="2400"/>
              </a:spcBef>
              <a:defRPr sz="4032"/>
            </a:pPr>
            <a:r>
              <a:rPr dirty="0" err="1"/>
              <a:t>Cada</a:t>
            </a:r>
            <a:r>
              <a:rPr dirty="0"/>
              <a:t> um </a:t>
            </a:r>
            <a:r>
              <a:rPr dirty="0" err="1"/>
              <a:t>deve</a:t>
            </a:r>
            <a:r>
              <a:rPr dirty="0"/>
              <a:t> </a:t>
            </a:r>
            <a:r>
              <a:rPr dirty="0" err="1"/>
              <a:t>manter</a:t>
            </a:r>
            <a:r>
              <a:rPr dirty="0"/>
              <a:t> a </a:t>
            </a:r>
            <a:r>
              <a:rPr dirty="0" err="1"/>
              <a:t>justa</a:t>
            </a:r>
            <a:r>
              <a:rPr dirty="0"/>
              <a:t> </a:t>
            </a:r>
            <a:r>
              <a:rPr dirty="0" err="1"/>
              <a:t>reserva</a:t>
            </a:r>
            <a:r>
              <a:rPr dirty="0"/>
              <a:t> da </a:t>
            </a:r>
            <a:r>
              <a:rPr dirty="0" err="1"/>
              <a:t>vida</a:t>
            </a:r>
            <a:r>
              <a:rPr dirty="0"/>
              <a:t> </a:t>
            </a:r>
            <a:r>
              <a:rPr dirty="0" err="1"/>
              <a:t>privada</a:t>
            </a:r>
            <a:r>
              <a:rPr dirty="0"/>
              <a:t> de </a:t>
            </a:r>
            <a:r>
              <a:rPr dirty="0" err="1"/>
              <a:t>terceiros</a:t>
            </a:r>
            <a:r>
              <a:rPr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O respeito à verdad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 respeito à verdade</a:t>
            </a:r>
          </a:p>
        </p:txBody>
      </p:sp>
      <p:sp>
        <p:nvSpPr>
          <p:cNvPr id="188" name="A revelação da verdade não é incondicional, e deve ser avaliado se é conveniente ou não essa revelação. Deve se levar em consideração o bem comum, a segurança do outro e o direito à vida privada.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487679" indent="-487679" defTabSz="792479">
              <a:spcBef>
                <a:spcPts val="2400"/>
              </a:spcBef>
              <a:defRPr sz="4032"/>
            </a:pPr>
            <a:r>
              <a:rPr lang="en-US" dirty="0" err="1"/>
              <a:t>Pode</a:t>
            </a:r>
            <a:r>
              <a:rPr lang="en-US" dirty="0"/>
              <a:t>-se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dizer</a:t>
            </a:r>
            <a:r>
              <a:rPr lang="en-US" dirty="0"/>
              <a:t> </a:t>
            </a:r>
            <a:r>
              <a:rPr lang="en-US" dirty="0" err="1"/>
              <a:t>toda</a:t>
            </a:r>
            <a:r>
              <a:rPr lang="en-US" dirty="0"/>
              <a:t> a </a:t>
            </a:r>
            <a:r>
              <a:rPr lang="en-US" dirty="0" err="1"/>
              <a:t>verdade</a:t>
            </a:r>
            <a:r>
              <a:rPr lang="en-US" dirty="0"/>
              <a:t>, </a:t>
            </a:r>
            <a:r>
              <a:rPr lang="en-US" dirty="0" err="1"/>
              <a:t>quando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perguntam</a:t>
            </a:r>
            <a:r>
              <a:rPr lang="en-US" dirty="0"/>
              <a:t> algo que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tinham</a:t>
            </a:r>
            <a:r>
              <a:rPr lang="en-US" dirty="0"/>
              <a:t> </a:t>
            </a:r>
            <a:r>
              <a:rPr lang="en-US" dirty="0" err="1"/>
              <a:t>direito</a:t>
            </a:r>
            <a:r>
              <a:rPr lang="en-US" dirty="0"/>
              <a:t> de saber,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resposta</a:t>
            </a:r>
            <a:r>
              <a:rPr lang="en-US" dirty="0"/>
              <a:t> </a:t>
            </a:r>
            <a:r>
              <a:rPr lang="en-US" dirty="0" err="1"/>
              <a:t>evasiva</a:t>
            </a:r>
            <a:r>
              <a:rPr lang="en-US" dirty="0"/>
              <a:t>. </a:t>
            </a:r>
          </a:p>
          <a:p>
            <a:pPr marL="487679" indent="-487679" defTabSz="792479">
              <a:spcBef>
                <a:spcPts val="2400"/>
              </a:spcBef>
              <a:defRPr sz="4032"/>
            </a:pPr>
            <a:r>
              <a:rPr lang="en-US" dirty="0" err="1"/>
              <a:t>Também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pecado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falar</a:t>
            </a:r>
            <a:r>
              <a:rPr lang="en-US" dirty="0"/>
              <a:t> a </a:t>
            </a:r>
            <a:r>
              <a:rPr lang="en-US" dirty="0" err="1"/>
              <a:t>verdade</a:t>
            </a:r>
            <a:r>
              <a:rPr lang="en-US" dirty="0"/>
              <a:t> </a:t>
            </a:r>
            <a:r>
              <a:rPr lang="en-US" dirty="0" err="1"/>
              <a:t>quando</a:t>
            </a:r>
            <a:r>
              <a:rPr lang="en-US" dirty="0"/>
              <a:t> </a:t>
            </a:r>
            <a:r>
              <a:rPr lang="en-US" dirty="0" err="1"/>
              <a:t>tentam</a:t>
            </a:r>
            <a:r>
              <a:rPr lang="en-US" dirty="0"/>
              <a:t> </a:t>
            </a:r>
            <a:r>
              <a:rPr lang="en-US" dirty="0" err="1"/>
              <a:t>tirar</a:t>
            </a:r>
            <a:r>
              <a:rPr lang="en-US" dirty="0"/>
              <a:t> </a:t>
            </a:r>
            <a:r>
              <a:rPr lang="en-US" dirty="0" err="1"/>
              <a:t>informações</a:t>
            </a:r>
            <a:r>
              <a:rPr lang="en-US" dirty="0"/>
              <a:t> </a:t>
            </a:r>
            <a:r>
              <a:rPr lang="en-US" dirty="0" err="1"/>
              <a:t>confidenciais</a:t>
            </a:r>
            <a:r>
              <a:rPr lang="en-US" dirty="0"/>
              <a:t> (</a:t>
            </a:r>
            <a:r>
              <a:rPr lang="en-US" dirty="0" err="1"/>
              <a:t>médico</a:t>
            </a:r>
            <a:r>
              <a:rPr lang="en-US" dirty="0"/>
              <a:t>, </a:t>
            </a:r>
            <a:r>
              <a:rPr lang="en-US" dirty="0" err="1"/>
              <a:t>advogado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sacerdote</a:t>
            </a:r>
            <a:r>
              <a:rPr lang="en-US" dirty="0"/>
              <a:t>). </a:t>
            </a:r>
          </a:p>
          <a:p>
            <a:pPr marL="487679" indent="-487679" defTabSz="792479">
              <a:spcBef>
                <a:spcPts val="2400"/>
              </a:spcBef>
              <a:defRPr sz="4032"/>
            </a:pP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sigilos</a:t>
            </a:r>
            <a:r>
              <a:rPr lang="en-US" dirty="0"/>
              <a:t> </a:t>
            </a:r>
            <a:r>
              <a:rPr lang="en-US" dirty="0" err="1"/>
              <a:t>profissionais</a:t>
            </a:r>
            <a:r>
              <a:rPr lang="en-US" dirty="0"/>
              <a:t> </a:t>
            </a:r>
            <a:r>
              <a:rPr lang="en-US" dirty="0" err="1"/>
              <a:t>devem</a:t>
            </a:r>
            <a:r>
              <a:rPr lang="en-US" dirty="0"/>
              <a:t> ser </a:t>
            </a:r>
            <a:r>
              <a:rPr lang="en-US" dirty="0" err="1"/>
              <a:t>guardados</a:t>
            </a:r>
            <a:r>
              <a:rPr lang="en-US" dirty="0"/>
              <a:t> </a:t>
            </a:r>
            <a:r>
              <a:rPr lang="en-US" dirty="0" err="1"/>
              <a:t>exceto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de </a:t>
            </a:r>
            <a:r>
              <a:rPr lang="en-US" dirty="0" err="1"/>
              <a:t>bem</a:t>
            </a:r>
            <a:r>
              <a:rPr lang="en-US" dirty="0"/>
              <a:t> </a:t>
            </a:r>
            <a:r>
              <a:rPr lang="en-US" dirty="0" err="1"/>
              <a:t>maior</a:t>
            </a:r>
            <a:r>
              <a:rPr lang="en-US" dirty="0"/>
              <a:t>.</a:t>
            </a:r>
          </a:p>
          <a:p>
            <a:pPr marL="487679" indent="-487679" defTabSz="792479">
              <a:spcBef>
                <a:spcPts val="2400"/>
              </a:spcBef>
              <a:defRPr sz="4032"/>
            </a:pPr>
            <a:r>
              <a:rPr lang="en-US" dirty="0" err="1"/>
              <a:t>Também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pecado</a:t>
            </a:r>
            <a:r>
              <a:rPr lang="en-US" dirty="0"/>
              <a:t> contra o </a:t>
            </a:r>
            <a:r>
              <a:rPr lang="en-US" dirty="0" err="1"/>
              <a:t>sigilo</a:t>
            </a:r>
            <a:r>
              <a:rPr lang="en-US" dirty="0"/>
              <a:t> </a:t>
            </a:r>
            <a:r>
              <a:rPr lang="en-US" dirty="0" err="1"/>
              <a:t>ler</a:t>
            </a:r>
            <a:r>
              <a:rPr lang="en-US" dirty="0"/>
              <a:t> </a:t>
            </a:r>
            <a:r>
              <a:rPr lang="en-US" dirty="0" err="1"/>
              <a:t>correspondências</a:t>
            </a:r>
            <a:r>
              <a:rPr lang="en-US" dirty="0"/>
              <a:t> </a:t>
            </a:r>
            <a:r>
              <a:rPr lang="en-US" dirty="0" err="1"/>
              <a:t>alheias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procurar</a:t>
            </a:r>
            <a:r>
              <a:rPr lang="en-US" dirty="0"/>
              <a:t> </a:t>
            </a:r>
            <a:r>
              <a:rPr lang="en-US" dirty="0" err="1"/>
              <a:t>ouvir</a:t>
            </a:r>
            <a:r>
              <a:rPr lang="en-US" dirty="0"/>
              <a:t> conversas </a:t>
            </a:r>
            <a:r>
              <a:rPr lang="en-US" dirty="0" err="1"/>
              <a:t>privadas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17410" name="Picture 2" descr="Blog: Como lidar e resolver problemas de traição no casamento? | Sociedade  Brasileira de Inteligência Emocional">
            <a:extLst>
              <a:ext uri="{FF2B5EF4-FFF2-40B4-BE49-F238E27FC236}">
                <a16:creationId xmlns:a16="http://schemas.microsoft.com/office/drawing/2014/main" id="{7ECA53B5-D32D-C9B3-F70A-5DBD8321EF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35" r="8100"/>
          <a:stretch/>
        </p:blipFill>
        <p:spPr bwMode="auto">
          <a:xfrm>
            <a:off x="12352163" y="4314825"/>
            <a:ext cx="11079337" cy="73437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958807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fake-news-fact.jpg" descr="fake-news-fact.jpg"/>
          <p:cNvPicPr>
            <a:picLocks noGrp="1"/>
          </p:cNvPicPr>
          <p:nvPr>
            <p:ph type="pic" idx="21"/>
          </p:nvPr>
        </p:nvPicPr>
        <p:blipFill>
          <a:blip r:embed="rId2"/>
          <a:stretch>
            <a:fillRect/>
          </a:stretch>
        </p:blipFill>
        <p:spPr>
          <a:xfrm>
            <a:off x="889000" y="3638550"/>
            <a:ext cx="11049000" cy="9258300"/>
          </a:xfrm>
          <a:prstGeom prst="rect">
            <a:avLst/>
          </a:prstGeom>
        </p:spPr>
      </p:pic>
      <p:sp>
        <p:nvSpPr>
          <p:cNvPr id="191" name="O uso dos meios de comunicação socia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 uso dos meios de comunicação social</a:t>
            </a:r>
          </a:p>
        </p:txBody>
      </p:sp>
      <p:sp>
        <p:nvSpPr>
          <p:cNvPr id="192" name="Deve-se não só não espalhar falsas notícias, mas promover a verdade.…"/>
          <p:cNvSpPr txBox="1">
            <a:spLocks noGrp="1"/>
          </p:cNvSpPr>
          <p:nvPr>
            <p:ph type="body" sz="half" idx="1"/>
          </p:nvPr>
        </p:nvSpPr>
        <p:spPr>
          <a:xfrm>
            <a:off x="12579350" y="3803650"/>
            <a:ext cx="10909300" cy="892810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Deve</a:t>
            </a:r>
            <a:r>
              <a:rPr dirty="0"/>
              <a:t>-se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só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espalhar</a:t>
            </a:r>
            <a:r>
              <a:rPr dirty="0"/>
              <a:t> falsas </a:t>
            </a:r>
            <a:r>
              <a:rPr dirty="0" err="1"/>
              <a:t>notícias</a:t>
            </a:r>
            <a:r>
              <a:rPr dirty="0"/>
              <a:t>, mas </a:t>
            </a:r>
            <a:r>
              <a:rPr dirty="0" err="1"/>
              <a:t>promover</a:t>
            </a:r>
            <a:r>
              <a:rPr dirty="0"/>
              <a:t> a </a:t>
            </a:r>
            <a:r>
              <a:rPr dirty="0" err="1"/>
              <a:t>verdade</a:t>
            </a:r>
            <a:r>
              <a:rPr dirty="0"/>
              <a:t>.</a:t>
            </a:r>
          </a:p>
          <a:p>
            <a:r>
              <a:rPr dirty="0" err="1"/>
              <a:t>Cuide</a:t>
            </a:r>
            <a:r>
              <a:rPr dirty="0"/>
              <a:t> de se </a:t>
            </a:r>
            <a:r>
              <a:rPr dirty="0" err="1"/>
              <a:t>impor</a:t>
            </a:r>
            <a:r>
              <a:rPr dirty="0"/>
              <a:t> a </a:t>
            </a:r>
            <a:r>
              <a:rPr dirty="0" err="1"/>
              <a:t>moderação</a:t>
            </a:r>
            <a:r>
              <a:rPr dirty="0"/>
              <a:t> e a </a:t>
            </a:r>
            <a:r>
              <a:rPr dirty="0" err="1"/>
              <a:t>disciplina</a:t>
            </a:r>
            <a:r>
              <a:rPr dirty="0"/>
              <a:t> </a:t>
            </a:r>
            <a:r>
              <a:rPr dirty="0" err="1"/>
              <a:t>quanto</a:t>
            </a:r>
            <a:r>
              <a:rPr dirty="0"/>
              <a:t> </a:t>
            </a:r>
            <a:r>
              <a:rPr dirty="0" err="1"/>
              <a:t>à</a:t>
            </a:r>
            <a:r>
              <a:rPr dirty="0"/>
              <a:t> </a:t>
            </a:r>
            <a:r>
              <a:rPr dirty="0" err="1"/>
              <a:t>mídia</a:t>
            </a:r>
            <a:r>
              <a:rPr dirty="0"/>
              <a:t>. </a:t>
            </a:r>
            <a:r>
              <a:rPr dirty="0" err="1"/>
              <a:t>Forme</a:t>
            </a:r>
            <a:r>
              <a:rPr dirty="0"/>
              <a:t> para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consciência</a:t>
            </a:r>
            <a:r>
              <a:rPr dirty="0"/>
              <a:t> </a:t>
            </a:r>
            <a:r>
              <a:rPr dirty="0" err="1"/>
              <a:t>esclarecida</a:t>
            </a:r>
            <a:r>
              <a:rPr dirty="0"/>
              <a:t> e </a:t>
            </a:r>
            <a:r>
              <a:rPr dirty="0" err="1"/>
              <a:t>correta</a:t>
            </a:r>
            <a:r>
              <a:rPr dirty="0"/>
              <a:t> para </a:t>
            </a:r>
            <a:r>
              <a:rPr dirty="0" err="1"/>
              <a:t>resistir</a:t>
            </a:r>
            <a:r>
              <a:rPr dirty="0"/>
              <a:t> </a:t>
            </a:r>
            <a:r>
              <a:rPr dirty="0" err="1"/>
              <a:t>à</a:t>
            </a:r>
            <a:r>
              <a:rPr dirty="0"/>
              <a:t> </a:t>
            </a:r>
            <a:r>
              <a:rPr dirty="0" err="1"/>
              <a:t>desonestidade</a:t>
            </a:r>
            <a:r>
              <a:rPr dirty="0"/>
              <a:t> da </a:t>
            </a:r>
            <a:r>
              <a:rPr dirty="0" err="1"/>
              <a:t>informação</a:t>
            </a:r>
            <a:r>
              <a:rPr lang="pt-BR" dirty="0"/>
              <a:t>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xit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" grpId="0" animBg="1" advAuto="0"/>
      <p:bldP spid="192" grpId="0" animBg="1" advAuto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destaques_fake_news_01.jpg" descr="destaques_fake_news_01.jpg"/>
          <p:cNvPicPr>
            <a:picLocks noGrp="1"/>
          </p:cNvPicPr>
          <p:nvPr>
            <p:ph type="pic" idx="21"/>
          </p:nvPr>
        </p:nvPicPr>
        <p:blipFill>
          <a:blip r:embed="rId2"/>
          <a:stretch>
            <a:fillRect/>
          </a:stretch>
        </p:blipFill>
        <p:spPr>
          <a:xfrm>
            <a:off x="889000" y="3638550"/>
            <a:ext cx="11049000" cy="9258300"/>
          </a:xfrm>
          <a:prstGeom prst="rect">
            <a:avLst/>
          </a:prstGeom>
        </p:spPr>
      </p:pic>
      <p:sp>
        <p:nvSpPr>
          <p:cNvPr id="195" name="O uso dos meios de comunicação socia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 uso dos meios de comunicação social</a:t>
            </a:r>
          </a:p>
        </p:txBody>
      </p:sp>
      <p:sp>
        <p:nvSpPr>
          <p:cNvPr id="196" name="Cuidado com a dualidade do raciocínio, ou seja, se meu irmão tem um pensamento diferente do meu, “logo ele é meu inimigo e por isso posso repercutir, sem averiguar, qualquer coisa que seja contra o que ele pensa ou acredita, porque eu tenho de convencê-l"/>
          <p:cNvSpPr txBox="1">
            <a:spLocks noGrp="1"/>
          </p:cNvSpPr>
          <p:nvPr>
            <p:ph type="body" sz="half" idx="1"/>
          </p:nvPr>
        </p:nvSpPr>
        <p:spPr>
          <a:xfrm>
            <a:off x="12579350" y="3803650"/>
            <a:ext cx="10909300" cy="8928100"/>
          </a:xfrm>
          <a:prstGeom prst="rect">
            <a:avLst/>
          </a:prstGeom>
        </p:spPr>
        <p:txBody>
          <a:bodyPr/>
          <a:lstStyle/>
          <a:p>
            <a:pPr marL="462280" indent="-462280" defTabSz="751205">
              <a:spcBef>
                <a:spcPts val="2200"/>
              </a:spcBef>
              <a:defRPr sz="3822"/>
            </a:pPr>
            <a:r>
              <a:rPr dirty="0" err="1"/>
              <a:t>Cuidado</a:t>
            </a:r>
            <a:r>
              <a:rPr dirty="0"/>
              <a:t> com a </a:t>
            </a:r>
            <a:r>
              <a:rPr dirty="0" err="1"/>
              <a:t>dualidade</a:t>
            </a:r>
            <a:r>
              <a:rPr dirty="0"/>
              <a:t> do </a:t>
            </a:r>
            <a:r>
              <a:rPr dirty="0" err="1"/>
              <a:t>raciocínio</a:t>
            </a:r>
            <a:r>
              <a:rPr dirty="0"/>
              <a:t>,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seja</a:t>
            </a:r>
            <a:r>
              <a:rPr dirty="0"/>
              <a:t>, se meu </a:t>
            </a:r>
            <a:r>
              <a:rPr dirty="0" err="1"/>
              <a:t>irmão</a:t>
            </a:r>
            <a:r>
              <a:rPr dirty="0"/>
              <a:t> </a:t>
            </a:r>
            <a:r>
              <a:rPr dirty="0" err="1"/>
              <a:t>tem</a:t>
            </a:r>
            <a:r>
              <a:rPr dirty="0"/>
              <a:t> um </a:t>
            </a:r>
            <a:r>
              <a:rPr dirty="0" err="1"/>
              <a:t>pensamento</a:t>
            </a:r>
            <a:r>
              <a:rPr dirty="0"/>
              <a:t> </a:t>
            </a:r>
            <a:r>
              <a:rPr dirty="0" err="1"/>
              <a:t>diferente</a:t>
            </a:r>
            <a:r>
              <a:rPr dirty="0"/>
              <a:t> do meu, “logo </a:t>
            </a:r>
            <a:r>
              <a:rPr dirty="0" err="1"/>
              <a:t>ele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meu </a:t>
            </a:r>
            <a:r>
              <a:rPr dirty="0" err="1"/>
              <a:t>inimigo</a:t>
            </a:r>
            <a:r>
              <a:rPr dirty="0"/>
              <a:t> e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isso</a:t>
            </a:r>
            <a:r>
              <a:rPr dirty="0"/>
              <a:t> </a:t>
            </a:r>
            <a:r>
              <a:rPr dirty="0" err="1"/>
              <a:t>posso</a:t>
            </a:r>
            <a:r>
              <a:rPr dirty="0"/>
              <a:t> </a:t>
            </a:r>
            <a:r>
              <a:rPr dirty="0" err="1"/>
              <a:t>repercutir</a:t>
            </a:r>
            <a:r>
              <a:rPr dirty="0"/>
              <a:t>,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averiguar</a:t>
            </a:r>
            <a:r>
              <a:rPr dirty="0"/>
              <a:t>, </a:t>
            </a:r>
            <a:r>
              <a:rPr dirty="0" err="1"/>
              <a:t>qualquer</a:t>
            </a:r>
            <a:r>
              <a:rPr dirty="0"/>
              <a:t> </a:t>
            </a:r>
            <a:r>
              <a:rPr dirty="0" err="1"/>
              <a:t>coisa</a:t>
            </a:r>
            <a:r>
              <a:rPr dirty="0"/>
              <a:t> que </a:t>
            </a:r>
            <a:r>
              <a:rPr dirty="0" err="1"/>
              <a:t>seja</a:t>
            </a:r>
            <a:r>
              <a:rPr dirty="0"/>
              <a:t> contra o que </a:t>
            </a:r>
            <a:r>
              <a:rPr dirty="0" err="1"/>
              <a:t>ele</a:t>
            </a:r>
            <a:r>
              <a:rPr dirty="0"/>
              <a:t> </a:t>
            </a:r>
            <a:r>
              <a:rPr dirty="0" err="1"/>
              <a:t>pensa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acredita</a:t>
            </a:r>
            <a:r>
              <a:rPr dirty="0"/>
              <a:t>, </a:t>
            </a:r>
            <a:r>
              <a:rPr dirty="0" err="1"/>
              <a:t>porque</a:t>
            </a:r>
            <a:r>
              <a:rPr dirty="0"/>
              <a:t> </a:t>
            </a:r>
            <a:r>
              <a:rPr dirty="0" err="1"/>
              <a:t>eu</a:t>
            </a:r>
            <a:r>
              <a:rPr dirty="0"/>
              <a:t> </a:t>
            </a:r>
            <a:r>
              <a:rPr dirty="0" err="1"/>
              <a:t>tenho</a:t>
            </a:r>
            <a:r>
              <a:rPr dirty="0"/>
              <a:t> de </a:t>
            </a:r>
            <a:r>
              <a:rPr dirty="0" err="1"/>
              <a:t>convencê</a:t>
            </a:r>
            <a:r>
              <a:rPr dirty="0"/>
              <a:t>-lo de que </a:t>
            </a:r>
            <a:r>
              <a:rPr dirty="0" err="1"/>
              <a:t>ele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errado</a:t>
            </a:r>
            <a:r>
              <a:rPr dirty="0"/>
              <a:t> e </a:t>
            </a:r>
            <a:r>
              <a:rPr dirty="0" err="1"/>
              <a:t>eu</a:t>
            </a:r>
            <a:r>
              <a:rPr dirty="0"/>
              <a:t> </a:t>
            </a:r>
            <a:r>
              <a:rPr dirty="0" err="1"/>
              <a:t>tenho</a:t>
            </a:r>
            <a:r>
              <a:rPr dirty="0"/>
              <a:t> a </a:t>
            </a:r>
            <a:r>
              <a:rPr dirty="0" err="1"/>
              <a:t>verdade</a:t>
            </a:r>
            <a:r>
              <a:rPr dirty="0"/>
              <a:t>”.</a:t>
            </a:r>
          </a:p>
          <a:p>
            <a:pPr marL="462280" indent="-462280" defTabSz="751205">
              <a:spcBef>
                <a:spcPts val="2200"/>
              </a:spcBef>
              <a:defRPr sz="3822"/>
            </a:pP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responsáveis</a:t>
            </a:r>
            <a:r>
              <a:rPr dirty="0"/>
              <a:t> pela </a:t>
            </a:r>
            <a:r>
              <a:rPr dirty="0" err="1"/>
              <a:t>imprensa</a:t>
            </a:r>
            <a:r>
              <a:rPr dirty="0"/>
              <a:t> (e </a:t>
            </a:r>
            <a:r>
              <a:rPr dirty="0" err="1"/>
              <a:t>autoridades</a:t>
            </a:r>
            <a:r>
              <a:rPr dirty="0"/>
              <a:t> </a:t>
            </a:r>
            <a:r>
              <a:rPr dirty="0" err="1"/>
              <a:t>públicas</a:t>
            </a:r>
            <a:r>
              <a:rPr dirty="0"/>
              <a:t>) </a:t>
            </a:r>
            <a:r>
              <a:rPr dirty="0" err="1"/>
              <a:t>devem</a:t>
            </a:r>
            <a:r>
              <a:rPr dirty="0"/>
              <a:t> </a:t>
            </a:r>
            <a:r>
              <a:rPr dirty="0" err="1"/>
              <a:t>servir</a:t>
            </a:r>
            <a:r>
              <a:rPr dirty="0"/>
              <a:t> </a:t>
            </a:r>
            <a:r>
              <a:rPr dirty="0" err="1"/>
              <a:t>à</a:t>
            </a:r>
            <a:r>
              <a:rPr dirty="0"/>
              <a:t> </a:t>
            </a:r>
            <a:r>
              <a:rPr dirty="0" err="1"/>
              <a:t>verdade</a:t>
            </a:r>
            <a:r>
              <a:rPr dirty="0"/>
              <a:t> e </a:t>
            </a:r>
            <a:r>
              <a:rPr dirty="0" err="1"/>
              <a:t>hão</a:t>
            </a:r>
            <a:r>
              <a:rPr dirty="0"/>
              <a:t> de se </a:t>
            </a:r>
            <a:r>
              <a:rPr dirty="0" err="1"/>
              <a:t>esforçar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respeitar</a:t>
            </a:r>
            <a:r>
              <a:rPr dirty="0"/>
              <a:t>, com </a:t>
            </a:r>
            <a:r>
              <a:rPr dirty="0" err="1"/>
              <a:t>igual</a:t>
            </a:r>
            <a:r>
              <a:rPr dirty="0"/>
              <a:t> </a:t>
            </a:r>
            <a:r>
              <a:rPr dirty="0" err="1"/>
              <a:t>cuidado</a:t>
            </a:r>
            <a:r>
              <a:rPr dirty="0"/>
              <a:t> a </a:t>
            </a:r>
            <a:r>
              <a:rPr dirty="0" err="1"/>
              <a:t>natureza</a:t>
            </a:r>
            <a:r>
              <a:rPr dirty="0"/>
              <a:t> dos </a:t>
            </a:r>
            <a:r>
              <a:rPr dirty="0" err="1"/>
              <a:t>fatos</a:t>
            </a:r>
            <a:r>
              <a:rPr dirty="0"/>
              <a:t> e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limites</a:t>
            </a:r>
            <a:r>
              <a:rPr dirty="0"/>
              <a:t> do </a:t>
            </a:r>
            <a:r>
              <a:rPr dirty="0" err="1"/>
              <a:t>juízo</a:t>
            </a:r>
            <a:r>
              <a:rPr dirty="0"/>
              <a:t> </a:t>
            </a:r>
            <a:r>
              <a:rPr dirty="0" err="1"/>
              <a:t>crítico</a:t>
            </a:r>
            <a:r>
              <a:rPr dirty="0"/>
              <a:t> a </a:t>
            </a:r>
            <a:r>
              <a:rPr dirty="0" err="1"/>
              <a:t>respeito</a:t>
            </a:r>
            <a:r>
              <a:rPr dirty="0"/>
              <a:t> das </a:t>
            </a:r>
            <a:r>
              <a:rPr dirty="0" err="1"/>
              <a:t>pessoas</a:t>
            </a:r>
            <a:r>
              <a:rPr dirty="0"/>
              <a:t>. </a:t>
            </a:r>
            <a:r>
              <a:rPr dirty="0" err="1"/>
              <a:t>Devem</a:t>
            </a:r>
            <a:r>
              <a:rPr dirty="0"/>
              <a:t> </a:t>
            </a:r>
            <a:r>
              <a:rPr dirty="0" err="1"/>
              <a:t>evitar</a:t>
            </a:r>
            <a:r>
              <a:rPr dirty="0"/>
              <a:t> </a:t>
            </a:r>
            <a:r>
              <a:rPr dirty="0" err="1"/>
              <a:t>ceder</a:t>
            </a:r>
            <a:r>
              <a:rPr dirty="0"/>
              <a:t> </a:t>
            </a:r>
            <a:r>
              <a:rPr dirty="0" err="1"/>
              <a:t>à</a:t>
            </a:r>
            <a:r>
              <a:rPr dirty="0"/>
              <a:t> </a:t>
            </a:r>
            <a:r>
              <a:rPr dirty="0" err="1"/>
              <a:t>difamação</a:t>
            </a:r>
            <a:r>
              <a:rPr dirty="0"/>
              <a:t>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" grpId="0" animBg="1" advAuto="0"/>
      <p:bldP spid="196" grpId="0" animBg="1" advAuto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pieta-782214787.jpg" descr="pieta-782214787.jpg"/>
          <p:cNvPicPr>
            <a:picLocks noGrp="1"/>
          </p:cNvPicPr>
          <p:nvPr>
            <p:ph type="pic" idx="21"/>
          </p:nvPr>
        </p:nvPicPr>
        <p:blipFill>
          <a:blip r:embed="rId2"/>
          <a:stretch>
            <a:fillRect/>
          </a:stretch>
        </p:blipFill>
        <p:spPr>
          <a:xfrm>
            <a:off x="12509500" y="3685598"/>
            <a:ext cx="11049000" cy="9258301"/>
          </a:xfrm>
          <a:prstGeom prst="rect">
            <a:avLst/>
          </a:prstGeom>
        </p:spPr>
      </p:pic>
      <p:sp>
        <p:nvSpPr>
          <p:cNvPr id="199" name="Verdade, beleza e arte sacra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Verdade, beleza e arte sacra</a:t>
            </a:r>
          </a:p>
        </p:txBody>
      </p:sp>
      <p:sp>
        <p:nvSpPr>
          <p:cNvPr id="200" name="Criado à imagem de Deus o homem exprime também a verdade de sua relação com o criador por suas obras artísticas;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Criado</a:t>
            </a:r>
            <a:r>
              <a:rPr dirty="0"/>
              <a:t> </a:t>
            </a:r>
            <a:r>
              <a:rPr dirty="0" err="1"/>
              <a:t>à</a:t>
            </a:r>
            <a:r>
              <a:rPr dirty="0"/>
              <a:t> </a:t>
            </a:r>
            <a:r>
              <a:rPr dirty="0" err="1"/>
              <a:t>imagem</a:t>
            </a:r>
            <a:r>
              <a:rPr dirty="0"/>
              <a:t> de Deus o </a:t>
            </a:r>
            <a:r>
              <a:rPr dirty="0" err="1"/>
              <a:t>homem</a:t>
            </a:r>
            <a:r>
              <a:rPr dirty="0"/>
              <a:t> </a:t>
            </a:r>
            <a:r>
              <a:rPr dirty="0" err="1"/>
              <a:t>exprime</a:t>
            </a:r>
            <a:r>
              <a:rPr dirty="0"/>
              <a:t> </a:t>
            </a:r>
            <a:r>
              <a:rPr dirty="0" err="1"/>
              <a:t>também</a:t>
            </a:r>
            <a:r>
              <a:rPr dirty="0"/>
              <a:t> a </a:t>
            </a:r>
            <a:r>
              <a:rPr dirty="0" err="1"/>
              <a:t>verdade</a:t>
            </a:r>
            <a:r>
              <a:rPr dirty="0"/>
              <a:t> de </a:t>
            </a:r>
            <a:r>
              <a:rPr dirty="0" err="1"/>
              <a:t>sua</a:t>
            </a:r>
            <a:r>
              <a:rPr dirty="0"/>
              <a:t> </a:t>
            </a:r>
            <a:r>
              <a:rPr dirty="0" err="1"/>
              <a:t>relação</a:t>
            </a:r>
            <a:r>
              <a:rPr dirty="0"/>
              <a:t> com o </a:t>
            </a:r>
            <a:r>
              <a:rPr dirty="0" err="1"/>
              <a:t>criador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suas</a:t>
            </a:r>
            <a:r>
              <a:rPr dirty="0"/>
              <a:t> </a:t>
            </a:r>
            <a:r>
              <a:rPr dirty="0" err="1"/>
              <a:t>obras</a:t>
            </a:r>
            <a:r>
              <a:rPr dirty="0"/>
              <a:t> </a:t>
            </a:r>
            <a:r>
              <a:rPr dirty="0" err="1"/>
              <a:t>artísticas</a:t>
            </a:r>
            <a:r>
              <a:rPr dirty="0"/>
              <a:t>;</a:t>
            </a:r>
          </a:p>
          <a:p>
            <a:r>
              <a:rPr dirty="0"/>
              <a:t>A </a:t>
            </a:r>
            <a:r>
              <a:rPr dirty="0" err="1"/>
              <a:t>arte</a:t>
            </a:r>
            <a:r>
              <a:rPr dirty="0"/>
              <a:t> sacra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verdadeira</a:t>
            </a:r>
            <a:r>
              <a:rPr dirty="0"/>
              <a:t> e </a:t>
            </a:r>
            <a:r>
              <a:rPr dirty="0" err="1"/>
              <a:t>bela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corresponde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sua</a:t>
            </a:r>
            <a:r>
              <a:rPr dirty="0"/>
              <a:t> forma, </a:t>
            </a:r>
            <a:r>
              <a:rPr dirty="0" err="1"/>
              <a:t>à</a:t>
            </a:r>
            <a:r>
              <a:rPr dirty="0"/>
              <a:t> </a:t>
            </a:r>
            <a:r>
              <a:rPr dirty="0" err="1"/>
              <a:t>vocação</a:t>
            </a:r>
            <a:r>
              <a:rPr dirty="0"/>
              <a:t> que </a:t>
            </a:r>
            <a:r>
              <a:rPr dirty="0" err="1"/>
              <a:t>lhe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própria</a:t>
            </a:r>
            <a:r>
              <a:rPr dirty="0"/>
              <a:t>: e </a:t>
            </a:r>
            <a:r>
              <a:rPr dirty="0" err="1"/>
              <a:t>glorificar</a:t>
            </a:r>
            <a:r>
              <a:rPr dirty="0"/>
              <a:t>,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fé</a:t>
            </a:r>
            <a:r>
              <a:rPr dirty="0"/>
              <a:t> e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adoração</a:t>
            </a:r>
            <a:r>
              <a:rPr dirty="0"/>
              <a:t>, o </a:t>
            </a:r>
            <a:r>
              <a:rPr dirty="0" err="1"/>
              <a:t>mistério</a:t>
            </a:r>
            <a:r>
              <a:rPr dirty="0"/>
              <a:t> </a:t>
            </a:r>
            <a:r>
              <a:rPr dirty="0" err="1"/>
              <a:t>transcendente</a:t>
            </a:r>
            <a:r>
              <a:rPr dirty="0"/>
              <a:t> de Deus, </a:t>
            </a:r>
            <a:r>
              <a:rPr dirty="0" err="1"/>
              <a:t>beleza</a:t>
            </a:r>
            <a:r>
              <a:rPr dirty="0"/>
              <a:t> </a:t>
            </a:r>
            <a:r>
              <a:rPr dirty="0" err="1"/>
              <a:t>excelsa</a:t>
            </a:r>
            <a:r>
              <a:rPr dirty="0"/>
              <a:t> de </a:t>
            </a:r>
            <a:r>
              <a:rPr dirty="0" err="1"/>
              <a:t>verdade</a:t>
            </a:r>
            <a:r>
              <a:rPr dirty="0"/>
              <a:t> e de amor, </a:t>
            </a:r>
            <a:r>
              <a:rPr dirty="0" err="1"/>
              <a:t>revelada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Cristo, “</a:t>
            </a:r>
            <a:r>
              <a:rPr dirty="0" err="1"/>
              <a:t>resplendor</a:t>
            </a:r>
            <a:r>
              <a:rPr dirty="0"/>
              <a:t> da gloria do Pai, a </a:t>
            </a:r>
            <a:r>
              <a:rPr dirty="0" err="1"/>
              <a:t>expressão</a:t>
            </a:r>
            <a:r>
              <a:rPr dirty="0"/>
              <a:t> do </a:t>
            </a:r>
            <a:r>
              <a:rPr dirty="0" err="1"/>
              <a:t>seu</a:t>
            </a:r>
            <a:r>
              <a:rPr dirty="0"/>
              <a:t> ser” (Hb 1,3).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New_Template4">
  <a:themeElements>
    <a:clrScheme name="New_Template4">
      <a:dk1>
        <a:srgbClr val="414141"/>
      </a:dk1>
      <a:lt1>
        <a:srgbClr val="004141"/>
      </a:lt1>
      <a:dk2>
        <a:srgbClr val="66635F"/>
      </a:dk2>
      <a:lt2>
        <a:srgbClr val="C9C3BA"/>
      </a:lt2>
      <a:accent1>
        <a:srgbClr val="738FAF"/>
      </a:accent1>
      <a:accent2>
        <a:srgbClr val="74B6A8"/>
      </a:accent2>
      <a:accent3>
        <a:srgbClr val="A0AA69"/>
      </a:accent3>
      <a:accent4>
        <a:srgbClr val="CBA968"/>
      </a:accent4>
      <a:accent5>
        <a:srgbClr val="D08A7A"/>
      </a:accent5>
      <a:accent6>
        <a:srgbClr val="9E95A9"/>
      </a:accent6>
      <a:hlink>
        <a:srgbClr val="0000FF"/>
      </a:hlink>
      <a:folHlink>
        <a:srgbClr val="FF00FF"/>
      </a:folHlink>
    </a:clrScheme>
    <a:fontScheme name="New_Template4">
      <a:majorFont>
        <a:latin typeface="Bodoni SvtyTwo ITC TT-Book"/>
        <a:ea typeface="Bodoni SvtyTwo ITC TT-Book"/>
        <a:cs typeface="Bodoni SvtyTwo ITC TT-Book"/>
      </a:majorFont>
      <a:minorFont>
        <a:latin typeface="Bodoni SvtyTwo ITC TT-Book"/>
        <a:ea typeface="Bodoni SvtyTwo ITC TT-Book"/>
        <a:cs typeface="Bodoni SvtyTwo ITC TT-Book"/>
      </a:minorFont>
    </a:fontScheme>
    <a:fmtScheme name="New_Template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4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25400" dist="33948" dir="2700000" rotWithShape="0">
                <a:srgbClr val="3B3936"/>
              </a:outerShdw>
            </a:effectLst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41414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414141"/>
            </a:solidFill>
            <a:effectLst/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New_Template4">
  <a:themeElements>
    <a:clrScheme name="New_Template4">
      <a:dk1>
        <a:srgbClr val="000000"/>
      </a:dk1>
      <a:lt1>
        <a:srgbClr val="FFFFFF"/>
      </a:lt1>
      <a:dk2>
        <a:srgbClr val="66635F"/>
      </a:dk2>
      <a:lt2>
        <a:srgbClr val="C9C3BA"/>
      </a:lt2>
      <a:accent1>
        <a:srgbClr val="738FAF"/>
      </a:accent1>
      <a:accent2>
        <a:srgbClr val="74B6A8"/>
      </a:accent2>
      <a:accent3>
        <a:srgbClr val="A0AA69"/>
      </a:accent3>
      <a:accent4>
        <a:srgbClr val="CBA968"/>
      </a:accent4>
      <a:accent5>
        <a:srgbClr val="D08A7A"/>
      </a:accent5>
      <a:accent6>
        <a:srgbClr val="9E95A9"/>
      </a:accent6>
      <a:hlink>
        <a:srgbClr val="0000FF"/>
      </a:hlink>
      <a:folHlink>
        <a:srgbClr val="FF00FF"/>
      </a:folHlink>
    </a:clrScheme>
    <a:fontScheme name="New_Template4">
      <a:majorFont>
        <a:latin typeface="Bodoni SvtyTwo ITC TT-Book"/>
        <a:ea typeface="Bodoni SvtyTwo ITC TT-Book"/>
        <a:cs typeface="Bodoni SvtyTwo ITC TT-Book"/>
      </a:majorFont>
      <a:minorFont>
        <a:latin typeface="Bodoni SvtyTwo ITC TT-Book"/>
        <a:ea typeface="Bodoni SvtyTwo ITC TT-Book"/>
        <a:cs typeface="Bodoni SvtyTwo ITC TT-Book"/>
      </a:minorFont>
    </a:fontScheme>
    <a:fmtScheme name="New_Template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4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25400" dist="33948" dir="2700000" rotWithShape="0">
                <a:srgbClr val="3B3936"/>
              </a:outerShdw>
            </a:effectLst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41414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414141"/>
            </a:solidFill>
            <a:effectLst/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1862</Words>
  <Application>Microsoft Office PowerPoint</Application>
  <PresentationFormat>Personalizar</PresentationFormat>
  <Paragraphs>155</Paragraphs>
  <Slides>41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7" baseType="lpstr">
      <vt:lpstr>Bodoni SvtyTwo ITC TT-Book</vt:lpstr>
      <vt:lpstr>Helvetica</vt:lpstr>
      <vt:lpstr>Helvetica Neue</vt:lpstr>
      <vt:lpstr>Palatino</vt:lpstr>
      <vt:lpstr>Zapf Dingbats</vt:lpstr>
      <vt:lpstr>New_Template4</vt:lpstr>
      <vt:lpstr>Os Dez Mandamentos</vt:lpstr>
      <vt:lpstr>Relação entre os Mandamentos</vt:lpstr>
      <vt:lpstr>“7º Mandamento”</vt:lpstr>
      <vt:lpstr>A destinação universal e a propriedade privada dos bens</vt:lpstr>
      <vt:lpstr>Existe roubo justo?</vt:lpstr>
      <vt:lpstr>O que é roubo?</vt:lpstr>
      <vt:lpstr>O que é roubo?</vt:lpstr>
      <vt:lpstr>O que é roubo?</vt:lpstr>
      <vt:lpstr>O que é roubo?</vt:lpstr>
      <vt:lpstr>O que é roubo?</vt:lpstr>
      <vt:lpstr>Promessas e contratos</vt:lpstr>
      <vt:lpstr>Jogos de azar</vt:lpstr>
      <vt:lpstr>Restituição dos bens</vt:lpstr>
      <vt:lpstr>O respeito pela integridade da criação</vt:lpstr>
      <vt:lpstr>A Doutrina social da Igreja</vt:lpstr>
      <vt:lpstr>O valor do trabalho</vt:lpstr>
      <vt:lpstr>Justiça e solidariedade entre as nações</vt:lpstr>
      <vt:lpstr>O amor aos pobres</vt:lpstr>
      <vt:lpstr>“10º Mandamento”</vt:lpstr>
      <vt:lpstr>“10º Mandamento”</vt:lpstr>
      <vt:lpstr>A desordem das concupiscências</vt:lpstr>
      <vt:lpstr>Os desejos do espírito</vt:lpstr>
      <vt:lpstr>A pobreza de oração</vt:lpstr>
      <vt:lpstr>Quero ver a Deus</vt:lpstr>
      <vt:lpstr>“8º Mandamento”</vt:lpstr>
      <vt:lpstr>Viver na verdade</vt:lpstr>
      <vt:lpstr>“Dar testemunho da verdade”</vt:lpstr>
      <vt:lpstr>As ofensas à verdade</vt:lpstr>
      <vt:lpstr>As ofensas à verdade</vt:lpstr>
      <vt:lpstr>As ofensas à verdade</vt:lpstr>
      <vt:lpstr>As ofensas à verdade</vt:lpstr>
      <vt:lpstr>As ofensas à verdade</vt:lpstr>
      <vt:lpstr>As ofensas à verdade</vt:lpstr>
      <vt:lpstr>As ofensas à verdade</vt:lpstr>
      <vt:lpstr>As ofensas à verdade</vt:lpstr>
      <vt:lpstr>As ofensas à verdade</vt:lpstr>
      <vt:lpstr>O respeito à verdade</vt:lpstr>
      <vt:lpstr>O respeito à verdade</vt:lpstr>
      <vt:lpstr>O uso dos meios de comunicação social</vt:lpstr>
      <vt:lpstr>O uso dos meios de comunicação social</vt:lpstr>
      <vt:lpstr>Verdade, beleza e arte sacra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 Dez Mandamentos</dc:title>
  <dc:creator>Lorena Moraes</dc:creator>
  <cp:lastModifiedBy>Lorena Moraes</cp:lastModifiedBy>
  <cp:revision>2</cp:revision>
  <dcterms:modified xsi:type="dcterms:W3CDTF">2023-03-03T20:14:07Z</dcterms:modified>
</cp:coreProperties>
</file>