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88" r:id="rId5"/>
    <p:sldId id="287" r:id="rId6"/>
    <p:sldId id="317" r:id="rId7"/>
    <p:sldId id="320" r:id="rId8"/>
    <p:sldId id="304" r:id="rId9"/>
    <p:sldId id="305" r:id="rId10"/>
    <p:sldId id="306" r:id="rId11"/>
    <p:sldId id="322" r:id="rId12"/>
    <p:sldId id="309" r:id="rId13"/>
    <p:sldId id="310" r:id="rId14"/>
    <p:sldId id="311" r:id="rId15"/>
    <p:sldId id="324" r:id="rId16"/>
    <p:sldId id="323" r:id="rId17"/>
    <p:sldId id="325" r:id="rId18"/>
    <p:sldId id="313" r:id="rId19"/>
    <p:sldId id="326" r:id="rId20"/>
    <p:sldId id="316" r:id="rId21"/>
    <p:sldId id="334" r:id="rId22"/>
    <p:sldId id="328" r:id="rId23"/>
    <p:sldId id="336" r:id="rId24"/>
    <p:sldId id="330" r:id="rId25"/>
    <p:sldId id="335" r:id="rId26"/>
    <p:sldId id="331" r:id="rId27"/>
    <p:sldId id="337" r:id="rId28"/>
    <p:sldId id="333" r:id="rId29"/>
    <p:sldId id="332" r:id="rId30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ca Chaves Ribeiro Nascimento - SESA" initials="ACRN-S" lastIdx="1" clrIdx="0">
    <p:extLst>
      <p:ext uri="{19B8F6BF-5375-455C-9EA6-DF929625EA0E}">
        <p15:presenceInfo xmlns:p15="http://schemas.microsoft.com/office/powerpoint/2012/main" userId="S-1-5-21-4274485286-545896326-3566609872-573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>
      <p:cViewPr varScale="1">
        <p:scale>
          <a:sx n="70" d="100"/>
          <a:sy n="70" d="100"/>
        </p:scale>
        <p:origin x="738" y="6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02/08/2016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9C567D4A-04CB-4EDF-8FB1-342A02FC8EC5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02/08/2016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2E61351F-DBB1-4664-ADA9-83BC7CB8848D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 rtlCol="0">
            <a:normAutofit/>
          </a:bodyPr>
          <a:lstStyle>
            <a:lvl1pPr algn="l" rtl="0">
              <a:defRPr sz="60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rtlCol="0" anchor="b">
            <a:normAutofit/>
          </a:bodyPr>
          <a:lstStyle>
            <a:lvl1pPr algn="l" rtl="0">
              <a:defRPr sz="4800" b="0" i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rtlCol="0" anchor="b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marL="1600200" algn="l" rtl="0">
              <a:defRPr/>
            </a:lvl6pPr>
            <a:lvl7pPr marL="1874520" algn="l" rtl="0">
              <a:defRPr/>
            </a:lvl7pPr>
            <a:lvl8pPr marL="2148840" algn="l" rtl="0">
              <a:defRPr/>
            </a:lvl8pPr>
            <a:lvl9pPr marL="2423160" algn="l" rtl="0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r>
              <a:rPr lang="en-US"/>
              <a:t>02/08/2016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en-US"/>
              <a:t>02/08/2016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81FEFA0A-2F20-4B60-98C6-5FFDA469AA1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93814" y="1412776"/>
            <a:ext cx="8458200" cy="1626080"/>
          </a:xfrm>
        </p:spPr>
        <p:txBody>
          <a:bodyPr rtlCol="0">
            <a:normAutofit fontScale="90000"/>
          </a:bodyPr>
          <a:lstStyle/>
          <a:p>
            <a:pPr algn="ctr" rtl="0"/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45940" y="2924944"/>
            <a:ext cx="8458202" cy="2599944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6000" dirty="0"/>
              <a:t>AVE MARIA </a:t>
            </a:r>
          </a:p>
          <a:p>
            <a:pPr algn="ctr" rtl="0"/>
            <a:endParaRPr lang="pt-BR" sz="6000" dirty="0"/>
          </a:p>
          <a:p>
            <a:pPr algn="ctr" rtl="0"/>
            <a:r>
              <a:rPr lang="pt-BR" sz="6000" dirty="0"/>
              <a:t> SANTO TERÇO</a:t>
            </a:r>
          </a:p>
        </p:txBody>
      </p:sp>
    </p:spTree>
    <p:extLst>
      <p:ext uri="{BB962C8B-B14F-4D97-AF65-F5344CB8AC3E}">
        <p14:creationId xmlns:p14="http://schemas.microsoft.com/office/powerpoint/2010/main" val="175429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10345215" cy="1143000"/>
          </a:xfrm>
        </p:spPr>
        <p:txBody>
          <a:bodyPr/>
          <a:lstStyle/>
          <a:p>
            <a:pPr algn="ctr"/>
            <a:r>
              <a:rPr lang="pt-BR" dirty="0"/>
              <a:t>POR QUE  REZAR A MARIA E COM MARIA?</a:t>
            </a:r>
          </a:p>
        </p:txBody>
      </p:sp>
      <p:pic>
        <p:nvPicPr>
          <p:cNvPr id="4" name="Picture 2" descr="Comunidade realiza tríduo e festa em honra à Nossa Senhora das Graças -  Rede Excelsio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44" y="1772816"/>
            <a:ext cx="3065115" cy="429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18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779106" y="2492896"/>
            <a:ext cx="4176464" cy="311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EVA (</a:t>
            </a:r>
            <a:r>
              <a:rPr lang="pt-BR" dirty="0" err="1"/>
              <a:t>Gn</a:t>
            </a:r>
            <a:r>
              <a:rPr lang="pt-BR" dirty="0"/>
              <a:t> 3, 1-20) </a:t>
            </a:r>
          </a:p>
          <a:p>
            <a:pPr algn="ctr"/>
            <a:endParaRPr lang="pt-B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Mulher, virgem, imaculada, era noiva de um homem, e recebeu a visita de um anjo.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o pecado entrou no mundo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 algn="ctr">
              <a:buFont typeface="Courier New" panose="02070309020205020404" pitchFamily="49" charset="0"/>
              <a:buChar char="o"/>
            </a:pPr>
            <a:r>
              <a:rPr lang="pt-BR" dirty="0"/>
              <a:t>Inclinação da Humanidade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lnSpc>
                <a:spcPct val="90000"/>
              </a:lnSpc>
            </a:pP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246540" y="2348880"/>
            <a:ext cx="4320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MARIA (</a:t>
            </a:r>
            <a:r>
              <a:rPr lang="pt-BR" dirty="0" err="1"/>
              <a:t>Lc</a:t>
            </a:r>
            <a:r>
              <a:rPr lang="pt-BR" dirty="0"/>
              <a:t> 1, 26-35)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Mulher, virgem, imaculada, era noiva de um homem, e recebeu a visita de um anjo.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Pela Santíssima Virgem Maria : Jesus veio ao mundo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Salvação da humanidade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79106" y="1091518"/>
            <a:ext cx="48245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2800" dirty="0"/>
              <a:t>EVA        DESOBEDIÊNCIA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238428" y="1100702"/>
            <a:ext cx="57606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2800" dirty="0"/>
              <a:t>     MARIA              OBEDIÊNCIA</a:t>
            </a:r>
          </a:p>
        </p:txBody>
      </p:sp>
      <p:sp>
        <p:nvSpPr>
          <p:cNvPr id="13" name="Seta para a direita 12"/>
          <p:cNvSpPr/>
          <p:nvPr/>
        </p:nvSpPr>
        <p:spPr>
          <a:xfrm>
            <a:off x="8758708" y="1187567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4" name="Seta para a direita 13"/>
          <p:cNvSpPr/>
          <p:nvPr/>
        </p:nvSpPr>
        <p:spPr>
          <a:xfrm>
            <a:off x="1917948" y="1135900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46519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61764" y="1772816"/>
            <a:ext cx="5400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Aliança com DEUS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Tábuas da Lei  (Palavra de DEUS)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Maná (Pão do Céu)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Bastão de Aarão (responsável pelos milagres)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Material da Arca (madeira virgem e ouro puro)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Lugar de destaque em toda batalha</a:t>
            </a:r>
          </a:p>
          <a:p>
            <a:pPr marL="1022032" lvl="2" indent="-285750">
              <a:buFont typeface="Courier New" panose="02070309020205020404" pitchFamily="49" charset="0"/>
              <a:buChar char="o"/>
            </a:pPr>
            <a:r>
              <a:rPr lang="pt-BR" dirty="0"/>
              <a:t>ia sempre à frente do exército  de Israel</a:t>
            </a:r>
          </a:p>
          <a:p>
            <a:pPr marL="1022032" lvl="2" indent="-285750">
              <a:buFont typeface="Courier New" panose="02070309020205020404" pitchFamily="49" charset="0"/>
              <a:buChar char="o"/>
            </a:pPr>
            <a:r>
              <a:rPr lang="pt-BR" sz="1700" dirty="0"/>
              <a:t>Venerada e louvada pelo povo de Israel</a:t>
            </a:r>
          </a:p>
          <a:p>
            <a:pPr marL="1022032" lvl="2" indent="-285750">
              <a:buFont typeface="Courier New" panose="02070309020205020404" pitchFamily="49" charset="0"/>
              <a:buChar char="o"/>
            </a:pPr>
            <a:r>
              <a:rPr lang="pt-BR" sz="1700" dirty="0"/>
              <a:t>Conquista da terra prometida</a:t>
            </a:r>
          </a:p>
          <a:p>
            <a:pPr marL="1022032" lvl="2" indent="-285750">
              <a:buFont typeface="Courier New" panose="02070309020205020404" pitchFamily="49" charset="0"/>
              <a:buChar char="o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Agradava a Deus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6166420" y="1484784"/>
            <a:ext cx="5832648" cy="5327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Portou dentro de si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C00000"/>
                </a:solidFill>
              </a:rPr>
              <a:t>Jesus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pt-BR" dirty="0"/>
              <a:t>completude da aliança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a nova, eterna e perfeita aliança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Palavra de Deus (o Verbo)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Pão do Céu (Eucaristia)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Responsável pelos maiores milagres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Ela é pura, valiosa, virgem e imaculada</a:t>
            </a:r>
          </a:p>
          <a:p>
            <a:pPr marL="1079182" lvl="2" indent="-342900">
              <a:buFont typeface="Courier New" panose="02070309020205020404" pitchFamily="49" charset="0"/>
              <a:buChar char="o"/>
            </a:pPr>
            <a:r>
              <a:rPr lang="pt-BR" dirty="0"/>
              <a:t>Escolhida de Deus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Caminho  da vitória em nossas batalhas espirituais</a:t>
            </a:r>
          </a:p>
          <a:p>
            <a:pPr marL="1079182" lvl="2" indent="-342900">
              <a:buFont typeface="Courier New" panose="02070309020205020404" pitchFamily="49" charset="0"/>
              <a:buChar char="o"/>
            </a:pPr>
            <a:r>
              <a:rPr lang="pt-BR" dirty="0"/>
              <a:t>Com ela à frente conquistaremos a nossa  terra prometida: Céu</a:t>
            </a:r>
          </a:p>
          <a:p>
            <a:pPr marL="1079182" lvl="2" indent="-342900">
              <a:buFont typeface="Courier New" panose="02070309020205020404" pitchFamily="49" charset="0"/>
              <a:buChar char="o"/>
            </a:pPr>
            <a:r>
              <a:rPr lang="pt-BR" dirty="0"/>
              <a:t>Venerada e louvada pelo seu povo</a:t>
            </a:r>
          </a:p>
          <a:p>
            <a:pPr marL="1079182" lvl="2" indent="-342900">
              <a:buFont typeface="Courier New" panose="02070309020205020404" pitchFamily="49" charset="0"/>
              <a:buChar char="o"/>
            </a:pPr>
            <a:r>
              <a:rPr lang="pt-BR" dirty="0"/>
              <a:t>Porta do Céu</a:t>
            </a:r>
          </a:p>
          <a:p>
            <a:pPr marL="1079182" lvl="2" indent="-342900">
              <a:buFont typeface="Courier New" panose="02070309020205020404" pitchFamily="49" charset="0"/>
              <a:buChar char="o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Agradável a Deus</a:t>
            </a:r>
          </a:p>
          <a:p>
            <a:pPr>
              <a:lnSpc>
                <a:spcPct val="90000"/>
              </a:lnSpc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693812" y="548680"/>
            <a:ext cx="39604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2800" b="1" dirty="0"/>
              <a:t>ARCA DA ALIANÇA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382444" y="620688"/>
            <a:ext cx="468052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2800" b="1" dirty="0"/>
              <a:t>MARIA</a:t>
            </a:r>
          </a:p>
        </p:txBody>
      </p:sp>
    </p:spTree>
    <p:extLst>
      <p:ext uri="{BB962C8B-B14F-4D97-AF65-F5344CB8AC3E}">
        <p14:creationId xmlns:p14="http://schemas.microsoft.com/office/powerpoint/2010/main" val="17640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917948" y="1484784"/>
            <a:ext cx="9289032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A MÃE DO REI (I </a:t>
            </a:r>
            <a:r>
              <a:rPr lang="pt-BR" sz="2400" b="1" dirty="0" err="1"/>
              <a:t>Rs</a:t>
            </a:r>
            <a:r>
              <a:rPr lang="pt-BR" sz="2400" b="1" dirty="0"/>
              <a:t> 2, 19) </a:t>
            </a:r>
          </a:p>
          <a:p>
            <a:pPr algn="ctr"/>
            <a:endParaRPr lang="pt-B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Reis de Israel - prefiguração de Jesus </a:t>
            </a:r>
          </a:p>
          <a:p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povo de Israel - buscava a intercessão da mãe do rei</a:t>
            </a:r>
          </a:p>
          <a:p>
            <a:pPr lvl="1"/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mãe do rei sabia exatamente como e a melhor forma de pedir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Evangelho de São João, no episódio das Bodas de Caná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Intercessão de Maria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dirty="0"/>
              <a:t>Ministério público de Jesus - milagres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043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81844" y="58847"/>
            <a:ext cx="1008112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/>
              <a:t> </a:t>
            </a:r>
            <a:r>
              <a:rPr lang="pt-BR" sz="2400" b="1" dirty="0"/>
              <a:t>Natureza da Oração de Maria </a:t>
            </a:r>
          </a:p>
          <a:p>
            <a:pPr algn="ctr"/>
            <a:endParaRPr lang="pt-BR" sz="2400" b="1" dirty="0"/>
          </a:p>
          <a:p>
            <a:pPr algn="ctr"/>
            <a:endParaRPr lang="pt-BR" sz="24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dirty="0"/>
              <a:t>Visita à Santa  Isabel</a:t>
            </a:r>
          </a:p>
          <a:p>
            <a:endParaRPr lang="pt-B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Isabel fica cheia do Espírito Santo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A criança (São João Batista) pulou de alegria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Santa Isabel - louvores a Nossa Senhora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dirty="0"/>
              <a:t>Orações de Maria (CIC 2617-2619)</a:t>
            </a:r>
          </a:p>
          <a:p>
            <a:pPr lvl="1"/>
            <a:endParaRPr lang="pt-B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 Fiat (obediência, humildade, entrega)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 Magnificat (louvor, humildade, entendimento e reconhecimento) – </a:t>
            </a:r>
            <a:r>
              <a:rPr lang="pt-BR" dirty="0" err="1"/>
              <a:t>Lc</a:t>
            </a:r>
            <a:r>
              <a:rPr lang="pt-BR" dirty="0"/>
              <a:t> 1, 46-56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 Bodas de Caná (intercessão)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 Cruz (contemplação, entrega, e envio) </a:t>
            </a:r>
          </a:p>
          <a:p>
            <a:pPr lvl="1"/>
            <a:endParaRPr lang="pt-B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dirty="0"/>
              <a:t>Maria é a </a:t>
            </a:r>
            <a:r>
              <a:rPr lang="pt-BR" dirty="0" err="1"/>
              <a:t>orante</a:t>
            </a:r>
            <a:r>
              <a:rPr lang="pt-BR" dirty="0"/>
              <a:t> perfeita, figura da Igreja</a:t>
            </a:r>
          </a:p>
          <a:p>
            <a:endParaRPr lang="pt-B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Rezar com ela – adesão ao plano do Pai, que envia seu Filho para salvar todos os homens (oração potencializada)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Como o discípulo bem-amado, acolhemos em nossa casa a Mãe de Jesus, que se tornou a mãe de todos os vivos.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dirty="0"/>
              <a:t>Podemos rezar com ela e a ela. (CIC 2679)</a:t>
            </a:r>
          </a:p>
        </p:txBody>
      </p:sp>
    </p:spTree>
    <p:extLst>
      <p:ext uri="{BB962C8B-B14F-4D97-AF65-F5344CB8AC3E}">
        <p14:creationId xmlns:p14="http://schemas.microsoft.com/office/powerpoint/2010/main" val="328299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413892" y="116632"/>
            <a:ext cx="943304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JESUS – DEUS  vivo feito homem nos chama a imitá-lo: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“Sede santos, como meu Pai do Céu é santo”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“Aprendei de mim, que sou manso e humilde de coração”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Batizou-se para abrir esse caminho de passagem para uma vida sobrenatural para nós</a:t>
            </a:r>
          </a:p>
          <a:p>
            <a:r>
              <a:rPr lang="pt-BR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Lavou os pés de seus discípulos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Partiu o pão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Padeceu de sua paixão e morte na cruz, para nos ensinar o sacrifício e a morte como caminho para a vida eterna.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DEUS ESCOLHEU 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Vir ao mundo por meio de Maria: maternidade (CIC 2674)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Maria como caminho de ir a Ele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Entregá-la como NOSSA MÃE (Jo 19, 26-27)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64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916" y="692696"/>
            <a:ext cx="8458200" cy="1008112"/>
          </a:xfrm>
        </p:spPr>
        <p:txBody>
          <a:bodyPr/>
          <a:lstStyle/>
          <a:p>
            <a:pPr algn="ctr"/>
            <a:r>
              <a:rPr lang="pt-BR" b="1" dirty="0"/>
              <a:t>AVE MARIA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7748" y="1844824"/>
            <a:ext cx="11593288" cy="489654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 inferno estremece diante de uma Ave-Maria!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Contém o fundamento do Novo Testamento: a encarnação  </a:t>
            </a:r>
          </a:p>
          <a:p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Oração CRISTOLÓGICA</a:t>
            </a:r>
          </a:p>
          <a:p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Totalmente bíblica</a:t>
            </a:r>
          </a:p>
          <a:p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Dividida entre o episódio da Anunciação do Anjo Gabriel e a Visitação de Maria a Isabel</a:t>
            </a:r>
          </a:p>
          <a:p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Louvor - exaltação a Deus na pessoa de Maria (CIC 2675)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Confia as súplicas e louvores dos filhos de Deus. (CIC 2675)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189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9796" y="476672"/>
            <a:ext cx="1137726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</a:t>
            </a:r>
            <a:r>
              <a:rPr lang="pt-BR" b="1" dirty="0"/>
              <a:t>1ª parte (</a:t>
            </a:r>
            <a:r>
              <a:rPr lang="pt-BR" b="1" dirty="0" err="1"/>
              <a:t>Lc</a:t>
            </a:r>
            <a:r>
              <a:rPr lang="pt-BR" b="1" dirty="0"/>
              <a:t> 1, 28.42) (CIC 2676) </a:t>
            </a:r>
          </a:p>
          <a:p>
            <a:endParaRPr lang="pt-BR" dirty="0"/>
          </a:p>
          <a:p>
            <a:r>
              <a:rPr lang="pt-BR" b="1" dirty="0"/>
              <a:t>AVE  MARIA </a:t>
            </a:r>
          </a:p>
          <a:p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É o próprio Deus, por intermédio do anjo, quem saúda Maria.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Nossa oração ousa retomar a saudação de Maria com o olhar que Deus lançou a ela </a:t>
            </a:r>
          </a:p>
          <a:p>
            <a:endParaRPr lang="pt-BR" b="1" dirty="0"/>
          </a:p>
          <a:p>
            <a:r>
              <a:rPr lang="pt-BR" b="1" dirty="0"/>
              <a:t>CHEIA DE GRAÇA, O SENHOR É CONVOSCO </a:t>
            </a:r>
          </a:p>
          <a:p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Maria é cheia de graça porque o Senhor está com ela. E, porque o Senhor está com ela, é cheia de graça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Mais graça que qualquer outro ser humano jamais teve, pois o Senhor está com ela materialmente em sua encarnação, no auge de todo o plano de Salvação.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Exprime também o espanto do próprio anjo em relação ao grau de graça que se encontra em Maria</a:t>
            </a:r>
          </a:p>
          <a:p>
            <a:endParaRPr lang="pt-BR" dirty="0"/>
          </a:p>
          <a:p>
            <a:r>
              <a:rPr lang="pt-BR" b="1" dirty="0"/>
              <a:t>BENDITA SOIS VÓS ENTRE AS MULHERES, E BENDITO É O FRUTO DO VOSSO VENTRE, JESUS </a:t>
            </a:r>
          </a:p>
          <a:p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Maria é canal escolhido pelo próprio Deus para vir e para irmos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Reconhecimento da sábia escolha e preparação de Deus (bendita sois vós entre as mulheres); e de que carrega ali aquilo que de mais especial já veio ao mundo (bendito o fruto do vosso ventre: Jesus</a:t>
            </a:r>
          </a:p>
        </p:txBody>
      </p:sp>
    </p:spTree>
    <p:extLst>
      <p:ext uri="{BB962C8B-B14F-4D97-AF65-F5344CB8AC3E}">
        <p14:creationId xmlns:p14="http://schemas.microsoft.com/office/powerpoint/2010/main" val="334276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33772" y="26328"/>
            <a:ext cx="11593288" cy="8679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2ª parte	(CIC 2677)</a:t>
            </a:r>
          </a:p>
          <a:p>
            <a:pPr lvl="0"/>
            <a:endParaRPr lang="pt-BR" dirty="0"/>
          </a:p>
          <a:p>
            <a:r>
              <a:rPr lang="pt-BR" b="1" i="1" dirty="0"/>
              <a:t>SANTA MARIA</a:t>
            </a:r>
          </a:p>
          <a:p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Não há nenhum ser humano criado (Jesus não foi criado) mais santo que Maria</a:t>
            </a:r>
          </a:p>
          <a:p>
            <a:endParaRPr lang="pt-BR" dirty="0"/>
          </a:p>
          <a:p>
            <a:r>
              <a:rPr lang="pt-BR" b="1" i="1" dirty="0"/>
              <a:t>MÃE DE DEUS</a:t>
            </a:r>
            <a:r>
              <a:rPr lang="pt-BR" i="1" dirty="0"/>
              <a:t>	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1, 43)</a:t>
            </a:r>
          </a:p>
          <a:p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“Donde me vem que a mãe de meu Senhor venha me visitar?”, disse Isabel. Ora, quem é meu Senhor, que não Deus? Além disso, Maria é mãe de Jesus, e é artigo pacífico de fé a união das naturezas (humana e divina) de Jesus. Logo, a mãe de Jesus é Mãe de Deus. THEOTOKOS!</a:t>
            </a:r>
          </a:p>
          <a:p>
            <a:endParaRPr lang="pt-BR" dirty="0"/>
          </a:p>
          <a:p>
            <a:r>
              <a:rPr lang="pt-BR" b="1" i="1" dirty="0"/>
              <a:t>ROGAI POR NÓS PECADORES</a:t>
            </a:r>
          </a:p>
          <a:p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É inegável o poder da intercessão e da oração de irmãos na fé uns pelos outros. O da mãe, então, muito maior. Lembrem-se da mãe do rei; lembrem-se de Maria nas bodas de Caná</a:t>
            </a:r>
          </a:p>
          <a:p>
            <a:endParaRPr lang="pt-BR" dirty="0"/>
          </a:p>
          <a:p>
            <a:r>
              <a:rPr lang="pt-BR" b="1" i="1" dirty="0"/>
              <a:t>AGORA E NA HORA DE NOSSA MORTE</a:t>
            </a:r>
          </a:p>
          <a:p>
            <a:endParaRPr lang="pt-B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Precisamos da oração a cada dia, para fortalecer nossos meios de santificação para chegarmos à Vida Eterna;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Principalmente no momento da nossa morte, pois este é o momento decisivo para o qual viemos e para o qual devemos estar prontos e vigiar a todo momento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b="1" dirty="0"/>
              <a:t> </a:t>
            </a:r>
            <a:endParaRPr lang="pt-BR" dirty="0"/>
          </a:p>
          <a:p>
            <a:br>
              <a:rPr lang="pt-BR" b="1" dirty="0"/>
            </a:br>
            <a:r>
              <a:rPr lang="pt-BR" b="1" dirty="0"/>
              <a:t> 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33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269876" y="214413"/>
            <a:ext cx="10513168" cy="725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latin typeface="Arial" panose="020B0604020202020204" pitchFamily="34" charset="0"/>
                <a:ea typeface="Arial" panose="020B0604020202020204" pitchFamily="34" charset="0"/>
              </a:rPr>
              <a:t>O SANTO ROSÁRIO</a:t>
            </a:r>
            <a:endParaRPr lang="pt-BR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1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sz="11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b="1" u="sng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ORIGEM DO ROSÁRIO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1214 – Aparição e revelação de Nossa Senhora a São Domingos de Gusmão. São Domingos estava em Toulouse, pregando contra a heresia dos cátaros (defendiam que a matéria era má e o espírito era bom)</a:t>
            </a:r>
          </a:p>
          <a:p>
            <a:pPr lvl="0" algn="just">
              <a:lnSpc>
                <a:spcPct val="107000"/>
              </a:lnSpc>
              <a:spcAft>
                <a:spcPts val="0"/>
              </a:spcAft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Consequências dessa heresia: se a matéria é má, Jesus feito homem não é Deus; Maria não é Mãe de Deus; Eucaristia não é real; Sexo é errado (extermínio da humanidade); solução: jejuar até a morte. (!!!!!!!!!!)</a:t>
            </a:r>
          </a:p>
          <a:p>
            <a:pPr lvl="1" algn="just">
              <a:lnSpc>
                <a:spcPct val="107000"/>
              </a:lnSpc>
              <a:spcAft>
                <a:spcPts val="0"/>
              </a:spcAft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Maria apresenta como combate espiritual a essa heresia nefasta a oração do que ela chamou de </a:t>
            </a:r>
            <a:r>
              <a:rPr lang="pt-BR" b="1" u="sng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SALTÉRIO ANGÉLICO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(saltério = 150 salmos; saudação angélica = Ave-Maria). Maria pedia e ensinava ali, num exercício de </a:t>
            </a: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simplicidade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, de </a:t>
            </a: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combate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espiritual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, de </a:t>
            </a: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reconhecimento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da maravilha contida na encarnação, a recitação do Rosário.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+/- 1365 – Resolveu-se separar as 150 Ave-Marias em 15 dezenas, e colocou-se um Pai-Nosso no início de cada dezena.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pt-BR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sz="11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br>
              <a:rPr lang="pt-BR" sz="1100" b="1" u="sng" dirty="0"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pt-BR" sz="11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7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9796" y="188640"/>
            <a:ext cx="10945216" cy="720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+/- 1500 – Ficou estabelecido para cada dezena a meditação de um episódio da vida de Jesus.</a:t>
            </a:r>
          </a:p>
          <a:p>
            <a:pPr lvl="1" algn="just">
              <a:lnSpc>
                <a:spcPct val="107000"/>
              </a:lnSpc>
              <a:spcAft>
                <a:spcPts val="0"/>
              </a:spcAft>
            </a:pPr>
            <a:endParaRPr lang="pt-BR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Rosário de 15 mistérios praticamente da forma como ainda o praticamos. 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Pode-se dividir os 15 mistérios em 3 conjuntos de 5 (mistérios gozosos, mistérios dolorosos, mistérios gloriosos). 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Daí vem o nome TERÇO: um terço do Rosário completo.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palavra Rosário significa 'Coroa de Rosas'. A Virgem Maria revelou a muitas pessoas que cada vez que rezam uma Ave Maria lhe é entregue uma rosa e por cada Rosário completo lhe é entregue uma coroa de rosas. A rosa é a rainha das flores, sendo assim o Rosário a rosa de todas as devoções e, portanto, a mais importante.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pt-BR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1917 – desde a revolução francesa dá-se uma sucessão de aparições marianas no mundo (Graças,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Salette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, Lourdes) e em todas elas a Virgem é enfática em recomendar a oração do terço como uma devoção necessária para compensar as ofensas do mundo a Deus e para a conversão dos pecadores. A mais gritante delas é a aparição de Nossa Senhora em Fátima, aos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pastorinhos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 Ela se identifica como Nossa Senhora do Rosário de Fátima, enfatiza muito a oração do Rosário para a conversão do mundo, e ainda ensinou uma oração que acabou, por costume, sendo incorporada ao final de cada mistério do terço: </a:t>
            </a:r>
            <a:r>
              <a:rPr lang="pt-BR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“oh, meu Jesus, perdoai-nos, livrai-nos do fogo do inferno; levai as almas todas para o Céu, principalmente as que mais precisarem”.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2002 – o Papa João Paulo II institui, além das três categorias de mistérios que já existem, uma quarta categoria: os mistérios luminosos, que contemplam a vida pública de Jesus. Os mistérios luminosos são facultativos.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38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21804" y="116632"/>
            <a:ext cx="10801200" cy="643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b="1" u="sng" dirty="0">
                <a:latin typeface="Arial" panose="020B0604020202020204" pitchFamily="34" charset="0"/>
                <a:ea typeface="Arial" panose="020B0604020202020204" pitchFamily="34" charset="0"/>
              </a:rPr>
              <a:t>NATUREZA DO ROSÁRIO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Devoção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Devoções não são exatamente orações. São práticas de fé. Na oração, colocamos a nossa inteligência direcionada a Deus; em uma devoção, a nossa vontade está direcionada a Deus. Estabelecemos práticas e rotinas que ajudam a nos disciplinarmos na nossa direção a Deus.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Obrigatoriedade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A oração do terço é obrigatória? Não! Entretanto, é considerada a mais perfeita de todas as devoções; é ensinada e recomendada diversas vezes pela própria Virgem Maria; prática ordinária de todos os santos que vieram depois da difusão do Rosário; e você não vai encontrar nenhum devocionário ou diretor espiritual que não a recomende como prática diária.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Oração </a:t>
            </a:r>
            <a:r>
              <a:rPr lang="pt-BR" b="1" dirty="0" err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Cristológica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O Rosário, de fato, ainda que caracterizado pela sua fisionomia mariana, no seu âmago, é oração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cristológica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. pois tem como ponto de partida e fundamento o mistério da Encarnação do Senhor Jesus, e como finalidade última prestar um louvor agradável a Deus Pai pela encarnação, ressurreição e ascensão de seu Filho, em virtude das quais a assunção e a coroação de Maria Santíssima como Rainha do céu e da terra são também motivo de grande alegria para todos os cristãos batizados, que cantam igualmente as glórias de Maria a cada Saudação angélica recitada com amor e gratidão.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19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53852" y="260648"/>
            <a:ext cx="10225136" cy="6230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Oração Vocal e Oração Mental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não é somente uma composição de Pais-nossos e Ave-Marias, mas um divino compêndio da vida, da Paixão, da morte e da glória de Jesus. Enquanto se rezam as Ave-Marias e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Pai-Nossos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, faz-se a meditação da vida de Jesus. 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A repetição da Ave-Maria na recitação do Rosário tem, além da capacidade de nos predispor à contemplação, colocando-nos em atitude de meditação – por meio da qual nos esvaziamos de nós mesmos para sermos abrasados e preenchidos pelo Espírito de Deus –, a virtude de honrar não apenas a Santíssima Virgem, mas primordialmente e, acima de tudo, a Santíssima Trindade, no louvor à Encarnação do Verbo, uma vez que, pela Saudação do anjo, inaugurou-se o tempo da salvação.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Ao mesmo tempo Oração e Sacrifício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Requer dedicar tempo, requer buscar concentração, requer vencer a monotonia, tudo para Deus.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Noto Sans Symbols"/>
              <a:buChar char="●"/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Fácil e frutuosa</a:t>
            </a:r>
            <a:endParaRPr lang="pt-BR" dirty="0">
              <a:latin typeface="Calibri" panose="020F0502020204030204" pitchFamily="34" charset="0"/>
              <a:ea typeface="Noto Sans Symbols"/>
              <a:cs typeface="Noto Sans Symbol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Courier New" panose="02070309020205020404" pitchFamily="49" charset="0"/>
              </a:rPr>
              <a:t>Somos crianças aos olhos de Deus, seus mistérios e realidades são inesgotáveis. É preciso ter uma postura humilde e confiante na oração, e o terço é um excelente instrumento para adquirir essas virtudes, pois nos leva à disciplina da constância, e ainda nos leva à obediência da oração entregue e recomendada diretamente por Maria e por vários santos.</a:t>
            </a:r>
            <a:endParaRPr lang="pt-BR" dirty="0"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4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81844" y="332656"/>
            <a:ext cx="10657184" cy="657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b="1" dirty="0"/>
              <a:t>INTRODUÇÃO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• Sinal da Cruz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Intenções - propósitos ao rezar o terço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Credo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marL="1257300" lvl="2" indent="-3429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Fé é a base, o fundamento e o princípio de todas as virtudes cristãs;</a:t>
            </a:r>
          </a:p>
          <a:p>
            <a:pPr marL="1257300" lvl="2" indent="-3429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Crer em TUDO que crê e ensina a Santa Igreja Católica (exercício de humildade, de confiança, de obediência)</a:t>
            </a:r>
          </a:p>
          <a:p>
            <a:pPr marL="1257300" lvl="2" indent="-3429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Qualquer coisa em contrário é Heresia</a:t>
            </a:r>
          </a:p>
          <a:p>
            <a:pPr marL="1257300" lvl="2" indent="-3429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Herege é aquele que  escolhe aquilo em que quer crer</a:t>
            </a:r>
          </a:p>
          <a:p>
            <a:pPr marL="1257300" lvl="2" indent="-342900"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1 Pai-Nosso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oração que Jesus nos ensinou</a:t>
            </a:r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3 Ave-Marias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terço é uma oração voltada a Deus</a:t>
            </a:r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Ave-Maria deve nos levar a Deus</a:t>
            </a:r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rezamos uma Ave-Maria em honra a cada pessoa da Santíssima Trindade</a:t>
            </a:r>
          </a:p>
          <a:p>
            <a:pPr marL="1657350" lvl="3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dirty="0"/>
              <a:t>a primeira a Deus Pai, que nos criou; </a:t>
            </a:r>
          </a:p>
          <a:p>
            <a:pPr marL="1657350" lvl="3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dirty="0"/>
              <a:t>a segunda a Deus Filho, que nos remiu; </a:t>
            </a:r>
          </a:p>
          <a:p>
            <a:pPr marL="1657350" lvl="3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dirty="0"/>
              <a:t>a terceira a Deus Espírito Santo, que nos santifica. </a:t>
            </a:r>
          </a:p>
          <a:p>
            <a:pPr>
              <a:lnSpc>
                <a:spcPct val="9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138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341884" y="1268760"/>
            <a:ext cx="950505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b="1" dirty="0"/>
              <a:t>PRINCIPAL</a:t>
            </a:r>
            <a:r>
              <a:rPr lang="pt-BR" dirty="0"/>
              <a:t> - 5 vezes a seguinte sequência </a:t>
            </a:r>
          </a:p>
          <a:p>
            <a:pPr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Mistério </a:t>
            </a:r>
          </a:p>
          <a:p>
            <a:pPr marL="1200150" lvl="2" indent="-28575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Gozosos, luminosos, dolorosos ou gloriosos</a:t>
            </a:r>
          </a:p>
          <a:p>
            <a:pPr lvl="2">
              <a:lnSpc>
                <a:spcPct val="90000"/>
              </a:lnSpc>
            </a:pPr>
            <a:r>
              <a:rPr lang="pt-BR" dirty="0"/>
              <a:t> 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• 1 Pai-Nosso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10 Ave-Marias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Glória ao Pai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Jaculatória (N. Sra. De Fátima) </a:t>
            </a:r>
          </a:p>
          <a:p>
            <a:pPr>
              <a:lnSpc>
                <a:spcPct val="90000"/>
              </a:lnSpc>
            </a:pPr>
            <a:endParaRPr lang="pt-BR" dirty="0"/>
          </a:p>
          <a:p>
            <a:pPr>
              <a:lnSpc>
                <a:spcPct val="90000"/>
              </a:lnSpc>
            </a:pPr>
            <a:r>
              <a:rPr lang="pt-BR" b="1" dirty="0"/>
              <a:t>ENCERRAMENTO </a:t>
            </a:r>
          </a:p>
          <a:p>
            <a:pPr>
              <a:lnSpc>
                <a:spcPct val="90000"/>
              </a:lnSpc>
            </a:pPr>
            <a:endParaRPr lang="pt-BR" b="1" dirty="0"/>
          </a:p>
          <a:p>
            <a:pPr lvl="1">
              <a:lnSpc>
                <a:spcPct val="90000"/>
              </a:lnSpc>
            </a:pPr>
            <a:r>
              <a:rPr lang="pt-BR" dirty="0"/>
              <a:t>• Oferecimento (“infinitas graças vos damos...”)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Salve Rainha </a:t>
            </a:r>
          </a:p>
          <a:p>
            <a:pPr lvl="1">
              <a:lnSpc>
                <a:spcPct val="90000"/>
              </a:lnSpc>
            </a:pPr>
            <a:endParaRPr lang="pt-BR" dirty="0"/>
          </a:p>
          <a:p>
            <a:pPr lvl="1">
              <a:lnSpc>
                <a:spcPct val="90000"/>
              </a:lnSpc>
            </a:pPr>
            <a:r>
              <a:rPr lang="pt-BR" dirty="0"/>
              <a:t>• Sinal da Cruz</a:t>
            </a:r>
          </a:p>
        </p:txBody>
      </p:sp>
    </p:spTree>
    <p:extLst>
      <p:ext uri="{BB962C8B-B14F-4D97-AF65-F5344CB8AC3E}">
        <p14:creationId xmlns:p14="http://schemas.microsoft.com/office/powerpoint/2010/main" val="191208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www.rs21.com.br/wp-content/uploads/2019/03/santoterc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180" y="116632"/>
            <a:ext cx="4396878" cy="66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59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GOZOSOS – 2ª-feira e sábado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pt-BR" dirty="0"/>
          </a:p>
          <a:p>
            <a:pPr marL="274320" lvl="1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Anunciação do Anjo a Maria				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1, 26-38)</a:t>
            </a:r>
          </a:p>
          <a:p>
            <a:pPr marL="274320" lvl="1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Visitação de Nossa Senhora a sua prima Isabel 		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1, 39-56)</a:t>
            </a:r>
          </a:p>
          <a:p>
            <a:pPr marL="274320" lvl="1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Nascimento de Jesus			        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2, 1-19; </a:t>
            </a:r>
            <a:r>
              <a:rPr lang="pt-BR" b="1" dirty="0" err="1"/>
              <a:t>Mt</a:t>
            </a:r>
            <a:r>
              <a:rPr lang="pt-BR" b="1" dirty="0"/>
              <a:t> 1, 18-25)</a:t>
            </a:r>
          </a:p>
          <a:p>
            <a:pPr marL="274320" lvl="1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Apresentação do Menino no Templo, purificação de Maria	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2, 22-40)</a:t>
            </a:r>
          </a:p>
          <a:p>
            <a:pPr marL="274320" lvl="1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Perda e encontro do Menino Jesus no Templo		</a:t>
            </a:r>
            <a:r>
              <a:rPr lang="pt-BR" b="1" dirty="0"/>
              <a:t>(</a:t>
            </a:r>
            <a:r>
              <a:rPr lang="pt-BR" b="1" dirty="0" err="1"/>
              <a:t>Lc</a:t>
            </a:r>
            <a:r>
              <a:rPr lang="pt-BR" b="1" dirty="0"/>
              <a:t> 2, 41-52)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073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GOZOSOS </a:t>
            </a:r>
            <a:br>
              <a:rPr lang="pt-BR" b="1" dirty="0"/>
            </a:br>
            <a:r>
              <a:rPr lang="pt-BR" b="1" dirty="0"/>
              <a:t> 2ª-feira e sábado</a:t>
            </a:r>
            <a:endParaRPr lang="pt-BR" dirty="0"/>
          </a:p>
        </p:txBody>
      </p:sp>
      <p:pic>
        <p:nvPicPr>
          <p:cNvPr id="3" name="Picture 2" descr="Mistérios Gozosos - Movimento do Rosário Permanen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70" y="1545736"/>
            <a:ext cx="8850843" cy="523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95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LUMINOSOS</a:t>
            </a:r>
            <a:br>
              <a:rPr lang="pt-BR" b="1" dirty="0"/>
            </a:br>
            <a:r>
              <a:rPr lang="pt-BR" b="1" dirty="0"/>
              <a:t>5ª feira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773932" y="2492896"/>
            <a:ext cx="928903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Batismo de Jesus no Rio Jordão		(</a:t>
            </a:r>
            <a:r>
              <a:rPr lang="pt-BR" sz="2000" dirty="0" err="1"/>
              <a:t>Mt</a:t>
            </a:r>
            <a:r>
              <a:rPr lang="pt-BR" sz="2000" dirty="0"/>
              <a:t> 3, 13-17; Jo 1, 29-34)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O Milagre das Bodas de Caná		(Jo 2, 1-12)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O Anúncio do Reino de Deus		(Mc 1, 15)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Transfiguração de Jesus			(</a:t>
            </a:r>
            <a:r>
              <a:rPr lang="pt-BR" sz="2000" dirty="0" err="1"/>
              <a:t>Mt</a:t>
            </a:r>
            <a:r>
              <a:rPr lang="pt-BR" sz="2000" dirty="0"/>
              <a:t> 17, 1-13; </a:t>
            </a:r>
            <a:r>
              <a:rPr lang="pt-BR" sz="2000" dirty="0" err="1"/>
              <a:t>Lc</a:t>
            </a:r>
            <a:r>
              <a:rPr lang="pt-BR" sz="2000" dirty="0"/>
              <a:t> 9, 28-36)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Instituição da Eucaristia			(</a:t>
            </a:r>
            <a:r>
              <a:rPr lang="pt-BR" sz="2000" dirty="0" err="1"/>
              <a:t>Mt</a:t>
            </a:r>
            <a:r>
              <a:rPr lang="pt-BR" sz="2000" dirty="0"/>
              <a:t> 26, 26-30; Jo 6, 47-69)</a:t>
            </a:r>
          </a:p>
          <a:p>
            <a:pPr marL="457200"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2552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LUMINOSOS</a:t>
            </a:r>
            <a:br>
              <a:rPr lang="pt-BR" b="1" dirty="0"/>
            </a:br>
            <a:r>
              <a:rPr lang="pt-BR" b="1" dirty="0"/>
              <a:t>5ª feira</a:t>
            </a:r>
          </a:p>
        </p:txBody>
      </p:sp>
      <p:pic>
        <p:nvPicPr>
          <p:cNvPr id="7170" name="Picture 2" descr="https://rosariopermanente.leiame.net/wp-content/uploads/2020/08/luminos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1550312"/>
            <a:ext cx="9289032" cy="51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9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DOLOROSOS</a:t>
            </a:r>
            <a:br>
              <a:rPr lang="pt-BR" b="1" dirty="0"/>
            </a:br>
            <a:r>
              <a:rPr lang="pt-BR" b="1" dirty="0"/>
              <a:t>3ª e 6ª feira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197869" y="2658276"/>
            <a:ext cx="10153128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A agonia de Jesus no horto das Oliveiras		             (</a:t>
            </a:r>
            <a:r>
              <a:rPr lang="pt-BR" sz="2000" dirty="0" err="1"/>
              <a:t>Lc</a:t>
            </a:r>
            <a:r>
              <a:rPr lang="pt-BR" sz="2000" dirty="0"/>
              <a:t> 22, 39-46)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Flagelação de Jesus				             (Mc 15, 15)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Coroação de espinhos				             (</a:t>
            </a:r>
            <a:r>
              <a:rPr lang="pt-BR" sz="2000" dirty="0" err="1"/>
              <a:t>Mt</a:t>
            </a:r>
            <a:r>
              <a:rPr lang="pt-BR" sz="2000" dirty="0"/>
              <a:t> 27, 27-31)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Jesus carrega a própria cruz no caminho do Calvário         (Mc 15, 21-22)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pt-BR" sz="2000" dirty="0"/>
              <a:t>Crucifixão e morte de Jesus				 (Jo 19, 18-30)</a:t>
            </a:r>
          </a:p>
        </p:txBody>
      </p:sp>
    </p:spTree>
    <p:extLst>
      <p:ext uri="{BB962C8B-B14F-4D97-AF65-F5344CB8AC3E}">
        <p14:creationId xmlns:p14="http://schemas.microsoft.com/office/powerpoint/2010/main" val="6533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DOLOROSOS</a:t>
            </a:r>
            <a:br>
              <a:rPr lang="pt-BR" b="1" dirty="0"/>
            </a:br>
            <a:r>
              <a:rPr lang="pt-BR" b="1" dirty="0"/>
              <a:t>3ª e 6ª feira</a:t>
            </a:r>
          </a:p>
        </p:txBody>
      </p:sp>
      <p:pic>
        <p:nvPicPr>
          <p:cNvPr id="6148" name="Picture 4" descr="https://rosariopermanente.leiame.net/wp-content/uploads/2020/08/doloros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964" y="1700808"/>
            <a:ext cx="8894489" cy="496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97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GLORIOSOS</a:t>
            </a:r>
            <a:br>
              <a:rPr lang="pt-BR" b="1" dirty="0"/>
            </a:br>
            <a:r>
              <a:rPr lang="pt-BR" b="1" dirty="0"/>
              <a:t>4ª feira e domingo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197868" y="2223221"/>
            <a:ext cx="10297144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BR" sz="2000" dirty="0"/>
              <a:t>Ressurreição de Jesus					            (</a:t>
            </a:r>
            <a:r>
              <a:rPr lang="pt-BR" sz="2000" dirty="0" err="1"/>
              <a:t>Lc</a:t>
            </a:r>
            <a:r>
              <a:rPr lang="pt-BR" sz="2000" dirty="0"/>
              <a:t> 24, 1-7)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BR" sz="2000" dirty="0"/>
              <a:t>Ascenção de Jesus ao Céu			         (Mc 16-19; At 1, 9-11)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BR" sz="2000" dirty="0"/>
              <a:t>Vinda do Espírito Santo sobre os Apóstolos 	 		 (At 2, 1-4)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BR" sz="2000" dirty="0"/>
              <a:t>Assunção de Maria		           (</a:t>
            </a:r>
            <a:r>
              <a:rPr lang="pt-BR" sz="2000" dirty="0" err="1"/>
              <a:t>Gn</a:t>
            </a:r>
            <a:r>
              <a:rPr lang="pt-BR" sz="2000" dirty="0"/>
              <a:t> 2, 16-17; </a:t>
            </a:r>
            <a:r>
              <a:rPr lang="pt-BR" sz="2000" dirty="0" err="1"/>
              <a:t>Lc</a:t>
            </a:r>
            <a:r>
              <a:rPr lang="pt-BR" sz="2000" dirty="0"/>
              <a:t> 1, 48-49; </a:t>
            </a:r>
            <a:r>
              <a:rPr lang="pt-BR" sz="2000" dirty="0" err="1"/>
              <a:t>Ap</a:t>
            </a:r>
            <a:r>
              <a:rPr lang="pt-BR" sz="2000" dirty="0"/>
              <a:t> 12, 14)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pt-BR" sz="2000" dirty="0"/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BR" sz="2000" dirty="0"/>
              <a:t>Coroação de Maria no Céu				 (</a:t>
            </a:r>
            <a:r>
              <a:rPr lang="pt-BR" sz="2000" dirty="0" err="1"/>
              <a:t>Ap</a:t>
            </a:r>
            <a:r>
              <a:rPr lang="pt-BR" sz="2000" dirty="0"/>
              <a:t> 11, 19 – 12, 1)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pt-BR" sz="2000" dirty="0"/>
              <a:t> 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BR" sz="1100" b="1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00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MISTÉRIOS GLORIOSOS</a:t>
            </a:r>
            <a:br>
              <a:rPr lang="pt-BR" b="1" dirty="0"/>
            </a:br>
            <a:r>
              <a:rPr lang="pt-BR" b="1" dirty="0"/>
              <a:t>4ª feira e domingo</a:t>
            </a:r>
          </a:p>
        </p:txBody>
      </p:sp>
      <p:pic>
        <p:nvPicPr>
          <p:cNvPr id="8194" name="Picture 2" descr="https://rosariopermanente.leiame.net/wp-content/uploads/2020/08/glorios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40" y="1628800"/>
            <a:ext cx="9096971" cy="508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35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9046" y="1196752"/>
            <a:ext cx="10201198" cy="1774304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/>
              <a:t>“Bendita monotonia de Ave-Marias, que purifica a monotonia dos teus pecados”.</a:t>
            </a: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82044" y="4250024"/>
            <a:ext cx="8458200" cy="1371600"/>
          </a:xfrm>
        </p:spPr>
        <p:txBody>
          <a:bodyPr/>
          <a:lstStyle/>
          <a:p>
            <a:pPr algn="r"/>
            <a:r>
              <a:rPr lang="pt-BR" b="1" i="1" dirty="0"/>
              <a:t>São </a:t>
            </a:r>
            <a:r>
              <a:rPr lang="pt-BR" b="1" i="1" dirty="0" err="1"/>
              <a:t>Josemaría</a:t>
            </a:r>
            <a:r>
              <a:rPr lang="pt-BR" b="1" i="1" dirty="0"/>
              <a:t> </a:t>
            </a:r>
            <a:r>
              <a:rPr lang="pt-BR" b="1" i="1" dirty="0" err="1"/>
              <a:t>Escrivá</a:t>
            </a:r>
            <a:endParaRPr lang="pt-BR" dirty="0"/>
          </a:p>
          <a:p>
            <a:pPr algn="r">
              <a:lnSpc>
                <a:spcPct val="107000"/>
              </a:lnSpc>
              <a:spcAft>
                <a:spcPts val="800"/>
              </a:spcAft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470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tivo sereno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2158_TF02801109" id="{B22EC0BA-6A53-426E-96EB-5EA3D63D23D1}" vid="{415AB331-B228-499E-95B3-C1D4E1F599E4}"/>
    </a:ext>
  </a:extLst>
</a:theme>
</file>

<file path=ppt/theme/theme2.xml><?xml version="1.0" encoding="utf-8"?>
<a:theme xmlns:a="http://schemas.openxmlformats.org/drawingml/2006/main" name="Tema do Offic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249165-F638-412C-8E0A-DFB7045CA2E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873beb7-5857-4685-be1f-d57550cc96c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natureza serena (widescreen)</Template>
  <TotalTime>1038</TotalTime>
  <Words>2568</Words>
  <Application>Microsoft Office PowerPoint</Application>
  <PresentationFormat>Personalizar</PresentationFormat>
  <Paragraphs>300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Courier New</vt:lpstr>
      <vt:lpstr>Euphemia</vt:lpstr>
      <vt:lpstr>Noto Sans Symbols</vt:lpstr>
      <vt:lpstr>Symbol</vt:lpstr>
      <vt:lpstr>Wingdings</vt:lpstr>
      <vt:lpstr>Motivo sereno 16X9</vt:lpstr>
      <vt:lpstr>     </vt:lpstr>
      <vt:lpstr>POR QUE  REZAR A MARIA E COM MARIA?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AVE MARIA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MISTÉRIOS GOZOSOS – 2ª-feira e sábado </vt:lpstr>
      <vt:lpstr>MISTÉRIOS GOZOSOS   2ª-feira e sábado</vt:lpstr>
      <vt:lpstr>MISTÉRIOS LUMINOSOS 5ª feira</vt:lpstr>
      <vt:lpstr>MISTÉRIOS LUMINOSOS 5ª feira</vt:lpstr>
      <vt:lpstr>MISTÉRIOS DOLOROSOS 3ª e 6ª feira</vt:lpstr>
      <vt:lpstr>MISTÉRIOS DOLOROSOS 3ª e 6ª feira</vt:lpstr>
      <vt:lpstr>MISTÉRIOS GLORIOSOS 4ª feira e domingo</vt:lpstr>
      <vt:lpstr>MISTÉRIOS GLORIOSOS 4ª feira e domingo</vt:lpstr>
      <vt:lpstr>“Bendita monotonia de Ave-Marias, que purifica a monotonia dos teus pecados”.</vt:lpstr>
    </vt:vector>
  </TitlesOfParts>
  <Company>TJDFT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Nossa Senhora</dc:title>
  <dc:creator>Angelica Chaves Ribeiro Nascimento - SESA</dc:creator>
  <cp:lastModifiedBy>Lorena Moraes</cp:lastModifiedBy>
  <cp:revision>77</cp:revision>
  <dcterms:created xsi:type="dcterms:W3CDTF">2021-05-02T09:11:26Z</dcterms:created>
  <dcterms:modified xsi:type="dcterms:W3CDTF">2022-05-28T13:53:23Z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