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p:regular r:id="rId35"/>
      <p:bold r:id="rId36"/>
      <p:italic r:id="rId37"/>
      <p:boldItalic r:id="rId38"/>
    </p:embeddedFont>
    <p:embeddedFont>
      <p:font typeface="Montserrat"/>
      <p:regular r:id="rId39"/>
      <p:bold r:id="rId40"/>
      <p:italic r:id="rId41"/>
      <p:boldItalic r:id="rId42"/>
    </p:embeddedFont>
    <p:embeddedFont>
      <p:font typeface="La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5.xml"/><Relationship Id="rId42" Type="http://schemas.openxmlformats.org/officeDocument/2006/relationships/font" Target="fonts/Montserrat-boldItalic.fntdata"/><Relationship Id="rId41" Type="http://schemas.openxmlformats.org/officeDocument/2006/relationships/font" Target="fonts/Montserrat-italic.fntdata"/><Relationship Id="rId22" Type="http://schemas.openxmlformats.org/officeDocument/2006/relationships/slide" Target="slides/slide17.xml"/><Relationship Id="rId44" Type="http://schemas.openxmlformats.org/officeDocument/2006/relationships/font" Target="fonts/Lato-bold.fntdata"/><Relationship Id="rId21" Type="http://schemas.openxmlformats.org/officeDocument/2006/relationships/slide" Target="slides/slide16.xml"/><Relationship Id="rId43" Type="http://schemas.openxmlformats.org/officeDocument/2006/relationships/font" Target="fonts/Lato-regular.fntdata"/><Relationship Id="rId24" Type="http://schemas.openxmlformats.org/officeDocument/2006/relationships/slide" Target="slides/slide19.xml"/><Relationship Id="rId46" Type="http://schemas.openxmlformats.org/officeDocument/2006/relationships/font" Target="fonts/Lato-boldItalic.fntdata"/><Relationship Id="rId23" Type="http://schemas.openxmlformats.org/officeDocument/2006/relationships/slide" Target="slides/slide18.xml"/><Relationship Id="rId45"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Montserrat-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d05c7b885e_2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d05c7b885e_2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d0673fb5d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d0673fb5d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d0673fb5d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d0673fb5d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d0673fb5d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d0673fb5d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d0673fb5d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d0673fb5d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d47d366e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d47d366e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d47d366ee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d47d366ee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d47d366ee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d47d366ee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d47d366ee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d47d366ee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d47d366ee7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d47d366ee7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d47d366ee7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d47d366ee7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d47d366ee7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d47d366ee7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d0673fb5df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d0673fb5d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d536f6dd73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d536f6dd73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d536f6dd7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d536f6dd7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d536f6dd7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d536f6dd7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d536f6dd7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d536f6dd7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d536f6dd7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d536f6dd7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d536f6dd7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d536f6dd7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d536f6dd7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d536f6dd7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d536f6dd7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d536f6dd7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d536f6dd7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d536f6dd7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d536f6dd7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d536f6dd7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d536f6dd7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d536f6dd7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d536f6dd7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d536f6dd7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d536f6dd7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d536f6dd7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d536f6dd73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d536f6dd7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d05c7b885e_2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d05c7b885e_2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0" y="490"/>
            <a:ext cx="5153705" cy="5134399"/>
            <a:chOff x="0" y="75"/>
            <a:chExt cx="5153705" cy="5152950"/>
          </a:xfrm>
        </p:grpSpPr>
        <p:sp>
          <p:nvSpPr>
            <p:cNvPr id="15" name="Google Shape;15;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 name="Google Shape;19;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0" name="Google Shape;20;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21" name="Google Shape;2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grpSp>
        <p:nvGrpSpPr>
          <p:cNvPr id="45" name="Google Shape;45;p4"/>
          <p:cNvGrpSpPr/>
          <p:nvPr/>
        </p:nvGrpSpPr>
        <p:grpSpPr>
          <a:xfrm>
            <a:off x="0" y="381001"/>
            <a:ext cx="1037850" cy="1016287"/>
            <a:chOff x="0" y="381001"/>
            <a:chExt cx="1037850" cy="1016287"/>
          </a:xfrm>
        </p:grpSpPr>
        <p:sp>
          <p:nvSpPr>
            <p:cNvPr id="46" name="Google Shape;46;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 name="Google Shape;48;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9" name="Google Shape;49;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0" name="Google Shape;5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 name="Shape 51"/>
        <p:cNvGrpSpPr/>
        <p:nvPr/>
      </p:nvGrpSpPr>
      <p:grpSpPr>
        <a:xfrm>
          <a:off x="0" y="0"/>
          <a:ext cx="0" cy="0"/>
          <a:chOff x="0" y="0"/>
          <a:chExt cx="0" cy="0"/>
        </a:xfrm>
      </p:grpSpPr>
      <p:grpSp>
        <p:nvGrpSpPr>
          <p:cNvPr id="52" name="Google Shape;52;p5"/>
          <p:cNvGrpSpPr/>
          <p:nvPr/>
        </p:nvGrpSpPr>
        <p:grpSpPr>
          <a:xfrm>
            <a:off x="0" y="381001"/>
            <a:ext cx="1037850" cy="1016287"/>
            <a:chOff x="0" y="381001"/>
            <a:chExt cx="1037850" cy="1016287"/>
          </a:xfrm>
        </p:grpSpPr>
        <p:sp>
          <p:nvSpPr>
            <p:cNvPr id="53" name="Google Shape;53;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 name="Google Shape;55;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6" name="Google Shape;56;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7" name="Google Shape;57;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grpSp>
        <p:nvGrpSpPr>
          <p:cNvPr id="60" name="Google Shape;60;p6"/>
          <p:cNvGrpSpPr/>
          <p:nvPr/>
        </p:nvGrpSpPr>
        <p:grpSpPr>
          <a:xfrm>
            <a:off x="0" y="381001"/>
            <a:ext cx="1037850" cy="1016287"/>
            <a:chOff x="0" y="381001"/>
            <a:chExt cx="1037850" cy="1016287"/>
          </a:xfrm>
        </p:grpSpPr>
        <p:sp>
          <p:nvSpPr>
            <p:cNvPr id="61" name="Google Shape;61;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4" name="Google Shape;64;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grpSp>
        <p:nvGrpSpPr>
          <p:cNvPr id="66" name="Google Shape;66;p7"/>
          <p:cNvGrpSpPr/>
          <p:nvPr/>
        </p:nvGrpSpPr>
        <p:grpSpPr>
          <a:xfrm>
            <a:off x="0" y="381001"/>
            <a:ext cx="1037850" cy="1016287"/>
            <a:chOff x="0" y="381001"/>
            <a:chExt cx="1037850" cy="1016287"/>
          </a:xfrm>
        </p:grpSpPr>
        <p:sp>
          <p:nvSpPr>
            <p:cNvPr id="67" name="Google Shape;67;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 name="Google Shape;69;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0" name="Google Shape;70;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1" name="Google Shape;7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2" name="Shape 72"/>
        <p:cNvGrpSpPr/>
        <p:nvPr/>
      </p:nvGrpSpPr>
      <p:grpSpPr>
        <a:xfrm>
          <a:off x="0" y="0"/>
          <a:ext cx="0" cy="0"/>
          <a:chOff x="0" y="0"/>
          <a:chExt cx="0" cy="0"/>
        </a:xfrm>
      </p:grpSpPr>
      <p:grpSp>
        <p:nvGrpSpPr>
          <p:cNvPr id="73" name="Google Shape;73;p8"/>
          <p:cNvGrpSpPr/>
          <p:nvPr/>
        </p:nvGrpSpPr>
        <p:grpSpPr>
          <a:xfrm>
            <a:off x="4406400" y="0"/>
            <a:ext cx="4737600" cy="5143500"/>
            <a:chOff x="4406400" y="0"/>
            <a:chExt cx="4737600" cy="5143500"/>
          </a:xfrm>
        </p:grpSpPr>
        <p:sp>
          <p:nvSpPr>
            <p:cNvPr id="74" name="Google Shape;74;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 name="Google Shape;9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4" name="Shape 94"/>
        <p:cNvGrpSpPr/>
        <p:nvPr/>
      </p:nvGrpSpPr>
      <p:grpSpPr>
        <a:xfrm>
          <a:off x="0" y="0"/>
          <a:ext cx="0" cy="0"/>
          <a:chOff x="0" y="0"/>
          <a:chExt cx="0" cy="0"/>
        </a:xfrm>
      </p:grpSpPr>
      <p:grpSp>
        <p:nvGrpSpPr>
          <p:cNvPr id="95" name="Google Shape;95;p9"/>
          <p:cNvGrpSpPr/>
          <p:nvPr/>
        </p:nvGrpSpPr>
        <p:grpSpPr>
          <a:xfrm>
            <a:off x="0" y="381001"/>
            <a:ext cx="1037850" cy="1016287"/>
            <a:chOff x="0" y="381001"/>
            <a:chExt cx="1037850" cy="1016287"/>
          </a:xfrm>
        </p:grpSpPr>
        <p:sp>
          <p:nvSpPr>
            <p:cNvPr id="96" name="Google Shape;96;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9" name="Google Shape;99;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00" name="Google Shape;100;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1" name="Google Shape;10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grpSp>
        <p:nvGrpSpPr>
          <p:cNvPr id="103" name="Google Shape;103;p10"/>
          <p:cNvGrpSpPr/>
          <p:nvPr/>
        </p:nvGrpSpPr>
        <p:grpSpPr>
          <a:xfrm>
            <a:off x="0" y="4128572"/>
            <a:ext cx="698925" cy="684657"/>
            <a:chOff x="0" y="3785672"/>
            <a:chExt cx="698925" cy="684657"/>
          </a:xfrm>
        </p:grpSpPr>
        <p:sp>
          <p:nvSpPr>
            <p:cNvPr id="104" name="Google Shape;104;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7" name="Google Shape;10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8" name="Shape 108"/>
        <p:cNvGrpSpPr/>
        <p:nvPr/>
      </p:nvGrpSpPr>
      <p:grpSpPr>
        <a:xfrm>
          <a:off x="0" y="0"/>
          <a:ext cx="0" cy="0"/>
          <a:chOff x="0" y="0"/>
          <a:chExt cx="0" cy="0"/>
        </a:xfrm>
      </p:grpSpPr>
      <p:grpSp>
        <p:nvGrpSpPr>
          <p:cNvPr id="109" name="Google Shape;109;p11"/>
          <p:cNvGrpSpPr/>
          <p:nvPr/>
        </p:nvGrpSpPr>
        <p:grpSpPr>
          <a:xfrm>
            <a:off x="4406400" y="0"/>
            <a:ext cx="4737600" cy="5143065"/>
            <a:chOff x="4406400" y="0"/>
            <a:chExt cx="4737600" cy="5143065"/>
          </a:xfrm>
        </p:grpSpPr>
        <p:sp>
          <p:nvSpPr>
            <p:cNvPr id="110" name="Google Shape;110;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 name="Google Shape;128;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9" name="Google Shape;129;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0" name="Google Shape;13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8.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pic>
        <p:nvPicPr>
          <p:cNvPr id="9" name="Google Shape;9;p1"/>
          <p:cNvPicPr preferRelativeResize="0"/>
          <p:nvPr/>
        </p:nvPicPr>
        <p:blipFill>
          <a:blip r:embed="rId1">
            <a:alphaModFix amt="20000"/>
          </a:blip>
          <a:stretch>
            <a:fillRect/>
          </a:stretch>
        </p:blipFill>
        <p:spPr>
          <a:xfrm>
            <a:off x="4090775" y="6"/>
            <a:ext cx="5053225" cy="3792900"/>
          </a:xfrm>
          <a:prstGeom prst="rect">
            <a:avLst/>
          </a:prstGeom>
          <a:noFill/>
          <a:ln>
            <a:noFill/>
          </a:ln>
        </p:spPr>
      </p:pic>
      <p:sp>
        <p:nvSpPr>
          <p:cNvPr id="10" name="Google Shape;10;p1"/>
          <p:cNvSpPr txBox="1"/>
          <p:nvPr/>
        </p:nvSpPr>
        <p:spPr>
          <a:xfrm>
            <a:off x="-76200" y="4973525"/>
            <a:ext cx="3000000" cy="253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pt-BR" sz="447">
                <a:solidFill>
                  <a:schemeClr val="lt1"/>
                </a:solidFill>
              </a:rPr>
              <a:t>Lorena &amp; Fernando Modesto</a:t>
            </a:r>
            <a:endParaRPr i="1" sz="447">
              <a:solidFill>
                <a:schemeClr val="lt1"/>
              </a:solidFill>
            </a:endParaRPr>
          </a:p>
        </p:txBody>
      </p:sp>
      <p:pic>
        <p:nvPicPr>
          <p:cNvPr id="11" name="Google Shape;11;p1"/>
          <p:cNvPicPr preferRelativeResize="0"/>
          <p:nvPr/>
        </p:nvPicPr>
        <p:blipFill>
          <a:blip r:embed="rId2">
            <a:alphaModFix/>
          </a:blip>
          <a:stretch>
            <a:fillRect/>
          </a:stretch>
        </p:blipFill>
        <p:spPr>
          <a:xfrm>
            <a:off x="8675625" y="0"/>
            <a:ext cx="468375" cy="4963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pt.wikipedia.org/wiki/Antigo_Testamento" TargetMode="External"/><Relationship Id="rId4" Type="http://schemas.openxmlformats.org/officeDocument/2006/relationships/hyperlink" Target="https://pt.wikipedia.org/wiki/Personagens_b%C3%ADblicos" TargetMode="External"/><Relationship Id="rId9" Type="http://schemas.openxmlformats.org/officeDocument/2006/relationships/hyperlink" Target="https://pt.wikipedia.org/wiki/Livro_de_Salmos" TargetMode="External"/><Relationship Id="rId5" Type="http://schemas.openxmlformats.org/officeDocument/2006/relationships/hyperlink" Target="https://pt.wikipedia.org/wiki/Abra%C3%A3o" TargetMode="External"/><Relationship Id="rId6" Type="http://schemas.openxmlformats.org/officeDocument/2006/relationships/hyperlink" Target="https://pt.wikipedia.org/wiki/Mois%C3%A9s" TargetMode="External"/><Relationship Id="rId7" Type="http://schemas.openxmlformats.org/officeDocument/2006/relationships/hyperlink" Target="https://pt.wikipedia.org/wiki/David" TargetMode="External"/><Relationship Id="rId8" Type="http://schemas.openxmlformats.org/officeDocument/2006/relationships/hyperlink" Target="https://pt.wikipedia.org/wiki/Isa%C3%ADa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pt.wikipedia.org/wiki/Antigo_Testamento" TargetMode="External"/><Relationship Id="rId4" Type="http://schemas.openxmlformats.org/officeDocument/2006/relationships/hyperlink" Target="https://pt.wikipedia.org/wiki/Personagens_b%C3%ADblicos" TargetMode="External"/><Relationship Id="rId9" Type="http://schemas.openxmlformats.org/officeDocument/2006/relationships/hyperlink" Target="https://pt.wikipedia.org/wiki/Livro_de_Salmos" TargetMode="External"/><Relationship Id="rId5" Type="http://schemas.openxmlformats.org/officeDocument/2006/relationships/hyperlink" Target="https://pt.wikipedia.org/wiki/Abra%C3%A3o" TargetMode="External"/><Relationship Id="rId6" Type="http://schemas.openxmlformats.org/officeDocument/2006/relationships/hyperlink" Target="https://pt.wikipedia.org/wiki/Mois%C3%A9s" TargetMode="External"/><Relationship Id="rId7" Type="http://schemas.openxmlformats.org/officeDocument/2006/relationships/hyperlink" Target="https://pt.wikipedia.org/wiki/David" TargetMode="External"/><Relationship Id="rId8" Type="http://schemas.openxmlformats.org/officeDocument/2006/relationships/hyperlink" Target="https://pt.wikipedia.org/wiki/Isa%C3%ADa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pt.wikipedia.org/wiki/Deus_Pai" TargetMode="External"/><Relationship Id="rId4" Type="http://schemas.openxmlformats.org/officeDocument/2006/relationships/hyperlink" Target="https://pt.wikipedia.org/wiki/Vig%C3%ADlia" TargetMode="External"/><Relationship Id="rId9" Type="http://schemas.openxmlformats.org/officeDocument/2006/relationships/hyperlink" Target="https://novabiblia.com.br/biblia/nvi/mateus/9/38" TargetMode="External"/><Relationship Id="rId5" Type="http://schemas.openxmlformats.org/officeDocument/2006/relationships/hyperlink" Target="https://pt.wikipedia.org/wiki/Jesus#Batismo_e_tenta.C3.A7.C3.A3o" TargetMode="External"/><Relationship Id="rId6" Type="http://schemas.openxmlformats.org/officeDocument/2006/relationships/hyperlink" Target="https://pt.wikipedia.org/wiki/Calv%C3%A1rio" TargetMode="External"/><Relationship Id="rId7" Type="http://schemas.openxmlformats.org/officeDocument/2006/relationships/hyperlink" Target="https://novabiblia.com.br/biblia/nvi/mateus/26/39" TargetMode="External"/><Relationship Id="rId8" Type="http://schemas.openxmlformats.org/officeDocument/2006/relationships/hyperlink" Target="https://novabiblia.com.br/biblia/nvi/joao/17/2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novabiblia.com.br/biblia/nvi/tiago/4/3" TargetMode="External"/><Relationship Id="rId4" Type="http://schemas.openxmlformats.org/officeDocument/2006/relationships/hyperlink" Target="https://novabiblia.com.br/biblia/nvi/1-joao/5/14" TargetMode="External"/><Relationship Id="rId5" Type="http://schemas.openxmlformats.org/officeDocument/2006/relationships/hyperlink" Target="https://novabiblia.com.br/biblia/nvi/mateus/7/"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3"/>
          <p:cNvSpPr txBox="1"/>
          <p:nvPr>
            <p:ph idx="1" type="subTitle"/>
          </p:nvPr>
        </p:nvSpPr>
        <p:spPr>
          <a:xfrm>
            <a:off x="3477950" y="3411725"/>
            <a:ext cx="5483700" cy="1485600"/>
          </a:xfrm>
          <a:prstGeom prst="rect">
            <a:avLst/>
          </a:prstGeom>
        </p:spPr>
        <p:txBody>
          <a:bodyPr anchorCtr="0" anchor="t" bIns="91425" lIns="91425" spcFirstLastPara="1" rIns="91425" wrap="square" tIns="91425">
            <a:normAutofit fontScale="85000" lnSpcReduction="10000"/>
          </a:bodyPr>
          <a:lstStyle/>
          <a:p>
            <a:pPr indent="0" lvl="0" marL="0" rtl="0" algn="just">
              <a:lnSpc>
                <a:spcPct val="150000"/>
              </a:lnSpc>
              <a:spcBef>
                <a:spcPts val="0"/>
              </a:spcBef>
              <a:spcAft>
                <a:spcPts val="0"/>
              </a:spcAft>
              <a:buNone/>
            </a:pPr>
            <a:r>
              <a:rPr lang="pt-BR" sz="1100">
                <a:latin typeface="Arial"/>
                <a:ea typeface="Arial"/>
                <a:cs typeface="Arial"/>
                <a:sym typeface="Arial"/>
              </a:rPr>
              <a:t>A oração é a elevação da alma para Deus ou o pedido feito a Deus de bens convenientes. De onde é que falamos, ao orar? Das alturas do nosso orgulho e da nossa vontade própria, ou das profundezas </a:t>
            </a:r>
            <a:r>
              <a:rPr lang="pt-BR" sz="1100">
                <a:latin typeface="Arial"/>
                <a:ea typeface="Arial"/>
                <a:cs typeface="Arial"/>
                <a:sym typeface="Arial"/>
              </a:rPr>
              <a:t>(</a:t>
            </a:r>
            <a:r>
              <a:rPr i="1" lang="pt-BR" sz="1100">
                <a:latin typeface="Arial"/>
                <a:ea typeface="Arial"/>
                <a:cs typeface="Arial"/>
                <a:sym typeface="Arial"/>
              </a:rPr>
              <a:t>Sl 130, 1</a:t>
            </a:r>
            <a:r>
              <a:rPr lang="pt-BR" sz="1100">
                <a:latin typeface="Arial"/>
                <a:ea typeface="Arial"/>
                <a:cs typeface="Arial"/>
                <a:sym typeface="Arial"/>
              </a:rPr>
              <a:t>) dum coração humilde e contrito? Aquele que se humilha é que é elevado. A</a:t>
            </a:r>
            <a:r>
              <a:rPr i="1" lang="pt-BR" sz="1100">
                <a:latin typeface="Arial"/>
                <a:ea typeface="Arial"/>
                <a:cs typeface="Arial"/>
                <a:sym typeface="Arial"/>
              </a:rPr>
              <a:t> humildade </a:t>
            </a:r>
            <a:r>
              <a:rPr lang="pt-BR" sz="1100">
                <a:latin typeface="Arial"/>
                <a:ea typeface="Arial"/>
                <a:cs typeface="Arial"/>
                <a:sym typeface="Arial"/>
              </a:rPr>
              <a:t>é o fundamento da oração. [...]. A</a:t>
            </a:r>
            <a:r>
              <a:rPr i="1" lang="pt-BR" sz="1100">
                <a:latin typeface="Arial"/>
                <a:ea typeface="Arial"/>
                <a:cs typeface="Arial"/>
                <a:sym typeface="Arial"/>
              </a:rPr>
              <a:t> </a:t>
            </a:r>
            <a:r>
              <a:rPr lang="pt-BR" sz="1100">
                <a:latin typeface="Arial"/>
                <a:ea typeface="Arial"/>
                <a:cs typeface="Arial"/>
                <a:sym typeface="Arial"/>
              </a:rPr>
              <a:t>humildade é a disposição necessária para receber gratuitamente o dom da oração: o homem é um mendigo de Deus.</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rPr i="1" lang="pt-BR" sz="747">
                <a:latin typeface="Arial"/>
                <a:ea typeface="Arial"/>
                <a:cs typeface="Arial"/>
                <a:sym typeface="Arial"/>
              </a:rPr>
              <a:t>Parágrafo 2559 do CIC.</a:t>
            </a:r>
            <a:endParaRPr i="1" sz="747">
              <a:latin typeface="Arial"/>
              <a:ea typeface="Arial"/>
              <a:cs typeface="Arial"/>
              <a:sym typeface="Arial"/>
            </a:endParaRPr>
          </a:p>
        </p:txBody>
      </p:sp>
      <p:sp>
        <p:nvSpPr>
          <p:cNvPr id="138" name="Google Shape;138;p13"/>
          <p:cNvSpPr txBox="1"/>
          <p:nvPr>
            <p:ph type="ctrTitle"/>
          </p:nvPr>
        </p:nvSpPr>
        <p:spPr>
          <a:xfrm>
            <a:off x="3359525" y="1600600"/>
            <a:ext cx="2775600" cy="9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ORAÇÃO</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O que é a Oração?</a:t>
            </a:r>
            <a:endParaRPr b="1"/>
          </a:p>
        </p:txBody>
      </p:sp>
      <p:sp>
        <p:nvSpPr>
          <p:cNvPr id="144" name="Google Shape;144;p14"/>
          <p:cNvSpPr/>
          <p:nvPr/>
        </p:nvSpPr>
        <p:spPr>
          <a:xfrm rot="-711236">
            <a:off x="6707300" y="2855738"/>
            <a:ext cx="1350909" cy="57662"/>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flipH="1" rot="711236">
            <a:off x="5422562" y="2855738"/>
            <a:ext cx="1350909" cy="57662"/>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14"/>
          <p:cNvGrpSpPr/>
          <p:nvPr/>
        </p:nvGrpSpPr>
        <p:grpSpPr>
          <a:xfrm>
            <a:off x="5827725" y="2911781"/>
            <a:ext cx="1712700" cy="1230715"/>
            <a:chOff x="5796625" y="2541798"/>
            <a:chExt cx="1712700" cy="1230715"/>
          </a:xfrm>
        </p:grpSpPr>
        <p:sp>
          <p:nvSpPr>
            <p:cNvPr id="147" name="Google Shape;147;p14"/>
            <p:cNvSpPr/>
            <p:nvPr/>
          </p:nvSpPr>
          <p:spPr>
            <a:xfrm rot="-1789476">
              <a:off x="6572742" y="2571072"/>
              <a:ext cx="160451" cy="160451"/>
            </a:xfrm>
            <a:prstGeom prst="ellipse">
              <a:avLst/>
            </a:prstGeom>
            <a:solidFill>
              <a:srgbClr val="FFFFFF"/>
            </a:solid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p:txBody>
        </p:sp>
        <p:sp>
          <p:nvSpPr>
            <p:cNvPr id="148" name="Google Shape;148;p14"/>
            <p:cNvSpPr/>
            <p:nvPr/>
          </p:nvSpPr>
          <p:spPr>
            <a:xfrm>
              <a:off x="5796625" y="3069013"/>
              <a:ext cx="1712700" cy="703500"/>
            </a:xfrm>
            <a:prstGeom prst="roundRect">
              <a:avLst>
                <a:gd fmla="val 4485" name="adj"/>
              </a:avLst>
            </a:prstGeom>
            <a:solidFill>
              <a:srgbClr val="D9D9D9"/>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149" name="Google Shape;149;p14"/>
            <p:cNvSpPr txBox="1"/>
            <p:nvPr/>
          </p:nvSpPr>
          <p:spPr>
            <a:xfrm>
              <a:off x="5840875" y="3253809"/>
              <a:ext cx="1624200" cy="333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pt-BR" sz="1100">
                  <a:solidFill>
                    <a:srgbClr val="5E5E5E"/>
                  </a:solidFill>
                  <a:latin typeface="Roboto"/>
                  <a:ea typeface="Roboto"/>
                  <a:cs typeface="Roboto"/>
                  <a:sym typeface="Roboto"/>
                </a:rPr>
                <a:t>Aproximação de Deus</a:t>
              </a:r>
              <a:endParaRPr sz="1100">
                <a:solidFill>
                  <a:srgbClr val="5E5E5E"/>
                </a:solidFill>
              </a:endParaRPr>
            </a:p>
          </p:txBody>
        </p:sp>
        <p:sp>
          <p:nvSpPr>
            <p:cNvPr id="150" name="Google Shape;150;p14"/>
            <p:cNvSpPr/>
            <p:nvPr/>
          </p:nvSpPr>
          <p:spPr>
            <a:xfrm>
              <a:off x="6607975" y="3004364"/>
              <a:ext cx="90000" cy="675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p:txBody>
        </p:sp>
      </p:grpSp>
      <p:sp>
        <p:nvSpPr>
          <p:cNvPr id="151" name="Google Shape;151;p14"/>
          <p:cNvSpPr/>
          <p:nvPr/>
        </p:nvSpPr>
        <p:spPr>
          <a:xfrm rot="-711236">
            <a:off x="4141488" y="2855738"/>
            <a:ext cx="1350909" cy="57662"/>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flipH="1" rot="711236">
            <a:off x="2849808" y="2855738"/>
            <a:ext cx="1350909" cy="57662"/>
          </a:xfrm>
          <a:prstGeom prst="roundRect">
            <a:avLst>
              <a:gd fmla="val 50000" name="adj"/>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14"/>
          <p:cNvGrpSpPr/>
          <p:nvPr/>
        </p:nvGrpSpPr>
        <p:grpSpPr>
          <a:xfrm>
            <a:off x="3318238" y="2911781"/>
            <a:ext cx="1712700" cy="1230715"/>
            <a:chOff x="3021975" y="2541798"/>
            <a:chExt cx="1712700" cy="1230715"/>
          </a:xfrm>
        </p:grpSpPr>
        <p:sp>
          <p:nvSpPr>
            <p:cNvPr id="154" name="Google Shape;154;p14"/>
            <p:cNvSpPr/>
            <p:nvPr/>
          </p:nvSpPr>
          <p:spPr>
            <a:xfrm rot="-1789476">
              <a:off x="3798091" y="2571072"/>
              <a:ext cx="160451" cy="160451"/>
            </a:xfrm>
            <a:prstGeom prst="ellipse">
              <a:avLst/>
            </a:prstGeom>
            <a:solidFill>
              <a:srgbClr val="0C58D3"/>
            </a:solid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p:txBody>
        </p:sp>
        <p:sp>
          <p:nvSpPr>
            <p:cNvPr id="155" name="Google Shape;155;p14"/>
            <p:cNvSpPr/>
            <p:nvPr/>
          </p:nvSpPr>
          <p:spPr>
            <a:xfrm>
              <a:off x="3021975" y="3069013"/>
              <a:ext cx="1712700" cy="703500"/>
            </a:xfrm>
            <a:prstGeom prst="roundRect">
              <a:avLst>
                <a:gd fmla="val 4485" name="adj"/>
              </a:avLst>
            </a:prstGeom>
            <a:solidFill>
              <a:srgbClr val="0C58D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156" name="Google Shape;156;p14"/>
            <p:cNvSpPr txBox="1"/>
            <p:nvPr/>
          </p:nvSpPr>
          <p:spPr>
            <a:xfrm>
              <a:off x="3066213" y="3212857"/>
              <a:ext cx="1624200" cy="415800"/>
            </a:xfrm>
            <a:prstGeom prst="rect">
              <a:avLst/>
            </a:prstGeom>
            <a:solidFill>
              <a:srgbClr val="0C58D3"/>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pt-BR" sz="1100">
                  <a:solidFill>
                    <a:srgbClr val="FFFFFF"/>
                  </a:solidFill>
                  <a:latin typeface="Roboto"/>
                  <a:ea typeface="Roboto"/>
                  <a:cs typeface="Roboto"/>
                  <a:sym typeface="Roboto"/>
                </a:rPr>
                <a:t>HUMILDADE</a:t>
              </a:r>
              <a:endParaRPr sz="1100">
                <a:solidFill>
                  <a:srgbClr val="FFFFFF"/>
                </a:solidFill>
                <a:latin typeface="Roboto"/>
                <a:ea typeface="Roboto"/>
                <a:cs typeface="Roboto"/>
                <a:sym typeface="Roboto"/>
              </a:endParaRPr>
            </a:p>
            <a:p>
              <a:pPr indent="0" lvl="0" marL="0" rtl="0" algn="ctr">
                <a:lnSpc>
                  <a:spcPct val="100000"/>
                </a:lnSpc>
                <a:spcBef>
                  <a:spcPts val="0"/>
                </a:spcBef>
                <a:spcAft>
                  <a:spcPts val="0"/>
                </a:spcAft>
                <a:buNone/>
              </a:pPr>
              <a:r>
                <a:rPr lang="pt-BR" sz="1100">
                  <a:solidFill>
                    <a:srgbClr val="FFFFFF"/>
                  </a:solidFill>
                  <a:latin typeface="Roboto"/>
                  <a:ea typeface="Roboto"/>
                  <a:cs typeface="Roboto"/>
                  <a:sym typeface="Roboto"/>
                </a:rPr>
                <a:t>A base da Oração</a:t>
              </a:r>
              <a:endParaRPr sz="1100">
                <a:solidFill>
                  <a:srgbClr val="FFFFFF"/>
                </a:solidFill>
                <a:latin typeface="Roboto"/>
                <a:ea typeface="Roboto"/>
                <a:cs typeface="Roboto"/>
                <a:sym typeface="Roboto"/>
              </a:endParaRPr>
            </a:p>
          </p:txBody>
        </p:sp>
        <p:sp>
          <p:nvSpPr>
            <p:cNvPr id="157" name="Google Shape;157;p14"/>
            <p:cNvSpPr/>
            <p:nvPr/>
          </p:nvSpPr>
          <p:spPr>
            <a:xfrm>
              <a:off x="3833325" y="3004364"/>
              <a:ext cx="90000" cy="67500"/>
            </a:xfrm>
            <a:prstGeom prst="triangle">
              <a:avLst>
                <a:gd fmla="val 50000" name="adj"/>
              </a:avLst>
            </a:prstGeom>
            <a:solidFill>
              <a:srgbClr val="0C58D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p:txBody>
        </p:sp>
      </p:grpSp>
      <p:sp>
        <p:nvSpPr>
          <p:cNvPr id="158" name="Google Shape;158;p14"/>
          <p:cNvSpPr/>
          <p:nvPr/>
        </p:nvSpPr>
        <p:spPr>
          <a:xfrm rot="-711236">
            <a:off x="1575683" y="2855738"/>
            <a:ext cx="1350909" cy="57662"/>
          </a:xfrm>
          <a:prstGeom prst="roundRect">
            <a:avLst>
              <a:gd fmla="val 50000" name="adj"/>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 name="Google Shape;159;p14"/>
          <p:cNvGrpSpPr/>
          <p:nvPr/>
        </p:nvGrpSpPr>
        <p:grpSpPr>
          <a:xfrm>
            <a:off x="2031425" y="1610609"/>
            <a:ext cx="1712700" cy="1246754"/>
            <a:chOff x="1637475" y="1219942"/>
            <a:chExt cx="1712700" cy="1246754"/>
          </a:xfrm>
        </p:grpSpPr>
        <p:sp>
          <p:nvSpPr>
            <p:cNvPr id="160" name="Google Shape;160;p14"/>
            <p:cNvSpPr/>
            <p:nvPr/>
          </p:nvSpPr>
          <p:spPr>
            <a:xfrm>
              <a:off x="1637475" y="1219942"/>
              <a:ext cx="1712700" cy="703500"/>
            </a:xfrm>
            <a:prstGeom prst="roundRect">
              <a:avLst>
                <a:gd fmla="val 4485" name="adj"/>
              </a:avLst>
            </a:prstGeom>
            <a:solidFill>
              <a:srgbClr val="0C58D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161" name="Google Shape;161;p14"/>
            <p:cNvSpPr/>
            <p:nvPr/>
          </p:nvSpPr>
          <p:spPr>
            <a:xfrm rot="10800000">
              <a:off x="2448800" y="1919036"/>
              <a:ext cx="90000" cy="67500"/>
            </a:xfrm>
            <a:prstGeom prst="triangle">
              <a:avLst>
                <a:gd fmla="val 50000" name="adj"/>
              </a:avLst>
            </a:prstGeom>
            <a:solidFill>
              <a:srgbClr val="0C58D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p:txBody>
        </p:sp>
        <p:sp>
          <p:nvSpPr>
            <p:cNvPr id="162" name="Google Shape;162;p14"/>
            <p:cNvSpPr txBox="1"/>
            <p:nvPr/>
          </p:nvSpPr>
          <p:spPr>
            <a:xfrm>
              <a:off x="1681725" y="1324043"/>
              <a:ext cx="1624200" cy="450900"/>
            </a:xfrm>
            <a:prstGeom prst="rect">
              <a:avLst/>
            </a:prstGeom>
            <a:solidFill>
              <a:srgbClr val="0C58D3"/>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pt-BR" sz="1100">
                  <a:solidFill>
                    <a:srgbClr val="FFFFFF"/>
                  </a:solidFill>
                  <a:latin typeface="Roboto"/>
                  <a:ea typeface="Roboto"/>
                  <a:cs typeface="Roboto"/>
                  <a:sym typeface="Roboto"/>
                </a:rPr>
                <a:t>É um impulso do nosso coração</a:t>
              </a:r>
              <a:endParaRPr sz="1100">
                <a:solidFill>
                  <a:srgbClr val="FFFFFF"/>
                </a:solidFill>
              </a:endParaRPr>
            </a:p>
          </p:txBody>
        </p:sp>
        <p:sp>
          <p:nvSpPr>
            <p:cNvPr id="163" name="Google Shape;163;p14"/>
            <p:cNvSpPr/>
            <p:nvPr/>
          </p:nvSpPr>
          <p:spPr>
            <a:xfrm rot="-1789476">
              <a:off x="2410765" y="2276970"/>
              <a:ext cx="160451" cy="160451"/>
            </a:xfrm>
            <a:prstGeom prst="ellipse">
              <a:avLst/>
            </a:prstGeom>
            <a:solidFill>
              <a:srgbClr val="0C58D3"/>
            </a:solid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p:txBody>
        </p:sp>
      </p:grpSp>
      <p:grpSp>
        <p:nvGrpSpPr>
          <p:cNvPr id="164" name="Google Shape;164;p14"/>
          <p:cNvGrpSpPr/>
          <p:nvPr/>
        </p:nvGrpSpPr>
        <p:grpSpPr>
          <a:xfrm>
            <a:off x="4574650" y="1608386"/>
            <a:ext cx="1712700" cy="1248976"/>
            <a:chOff x="4409300" y="1217720"/>
            <a:chExt cx="1712700" cy="1248976"/>
          </a:xfrm>
        </p:grpSpPr>
        <p:sp>
          <p:nvSpPr>
            <p:cNvPr id="165" name="Google Shape;165;p14"/>
            <p:cNvSpPr/>
            <p:nvPr/>
          </p:nvSpPr>
          <p:spPr>
            <a:xfrm rot="-1789476">
              <a:off x="5185416" y="2276970"/>
              <a:ext cx="160451" cy="160451"/>
            </a:xfrm>
            <a:prstGeom prst="ellipse">
              <a:avLst/>
            </a:prstGeom>
            <a:solidFill>
              <a:srgbClr val="FFFFFF"/>
            </a:solid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p:txBody>
        </p:sp>
        <p:sp>
          <p:nvSpPr>
            <p:cNvPr id="166" name="Google Shape;166;p14"/>
            <p:cNvSpPr/>
            <p:nvPr/>
          </p:nvSpPr>
          <p:spPr>
            <a:xfrm>
              <a:off x="4409300" y="1219942"/>
              <a:ext cx="1712700" cy="703500"/>
            </a:xfrm>
            <a:prstGeom prst="roundRect">
              <a:avLst>
                <a:gd fmla="val 4485" name="adj"/>
              </a:avLst>
            </a:prstGeom>
            <a:solidFill>
              <a:srgbClr val="D9D9D9"/>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167" name="Google Shape;167;p14"/>
            <p:cNvSpPr/>
            <p:nvPr/>
          </p:nvSpPr>
          <p:spPr>
            <a:xfrm rot="10800000">
              <a:off x="5220625" y="1919036"/>
              <a:ext cx="90000" cy="675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a:p>
          </p:txBody>
        </p:sp>
        <p:sp>
          <p:nvSpPr>
            <p:cNvPr id="168" name="Google Shape;168;p14"/>
            <p:cNvSpPr txBox="1"/>
            <p:nvPr/>
          </p:nvSpPr>
          <p:spPr>
            <a:xfrm>
              <a:off x="4453550" y="1217720"/>
              <a:ext cx="1624200" cy="400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pt-BR" sz="1100">
                  <a:solidFill>
                    <a:srgbClr val="5E5E5E"/>
                  </a:solidFill>
                  <a:latin typeface="Roboto"/>
                  <a:ea typeface="Roboto"/>
                  <a:cs typeface="Roboto"/>
                  <a:sym typeface="Roboto"/>
                </a:rPr>
                <a:t>Nossa miséria</a:t>
              </a:r>
              <a:endParaRPr sz="1100">
                <a:solidFill>
                  <a:srgbClr val="5E5E5E"/>
                </a:solidFill>
                <a:latin typeface="Roboto"/>
                <a:ea typeface="Roboto"/>
                <a:cs typeface="Roboto"/>
                <a:sym typeface="Roboto"/>
              </a:endParaRPr>
            </a:p>
            <a:p>
              <a:pPr indent="0" lvl="0" marL="0" rtl="0" algn="ctr">
                <a:lnSpc>
                  <a:spcPct val="100000"/>
                </a:lnSpc>
                <a:spcBef>
                  <a:spcPts val="0"/>
                </a:spcBef>
                <a:spcAft>
                  <a:spcPts val="0"/>
                </a:spcAft>
                <a:buNone/>
              </a:pPr>
              <a:r>
                <a:rPr lang="pt-BR" sz="1100">
                  <a:solidFill>
                    <a:srgbClr val="5E5E5E"/>
                  </a:solidFill>
                  <a:latin typeface="Roboto"/>
                  <a:ea typeface="Roboto"/>
                  <a:cs typeface="Roboto"/>
                  <a:sym typeface="Roboto"/>
                </a:rPr>
                <a:t>x</a:t>
              </a:r>
              <a:endParaRPr sz="1100">
                <a:solidFill>
                  <a:srgbClr val="5E5E5E"/>
                </a:solidFill>
                <a:latin typeface="Roboto"/>
                <a:ea typeface="Roboto"/>
                <a:cs typeface="Roboto"/>
                <a:sym typeface="Roboto"/>
              </a:endParaRPr>
            </a:p>
            <a:p>
              <a:pPr indent="0" lvl="0" marL="0" rtl="0" algn="ctr">
                <a:lnSpc>
                  <a:spcPct val="100000"/>
                </a:lnSpc>
                <a:spcBef>
                  <a:spcPts val="0"/>
                </a:spcBef>
                <a:spcAft>
                  <a:spcPts val="0"/>
                </a:spcAft>
                <a:buNone/>
              </a:pPr>
              <a:r>
                <a:rPr lang="pt-BR" sz="1100">
                  <a:solidFill>
                    <a:srgbClr val="5E5E5E"/>
                  </a:solidFill>
                  <a:latin typeface="Roboto"/>
                  <a:ea typeface="Roboto"/>
                  <a:cs typeface="Roboto"/>
                  <a:sym typeface="Roboto"/>
                </a:rPr>
                <a:t>Misericórdia de Deus</a:t>
              </a:r>
              <a:endParaRPr sz="1100">
                <a:solidFill>
                  <a:srgbClr val="5E5E5E"/>
                </a:solidFill>
              </a:endParaRPr>
            </a:p>
          </p:txBody>
        </p:sp>
      </p:grpSp>
      <p:sp>
        <p:nvSpPr>
          <p:cNvPr id="169" name="Google Shape;169;p14"/>
          <p:cNvSpPr txBox="1"/>
          <p:nvPr/>
        </p:nvSpPr>
        <p:spPr>
          <a:xfrm rot="1832709">
            <a:off x="6050061" y="723672"/>
            <a:ext cx="2999899" cy="147762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pt-BR">
                <a:solidFill>
                  <a:schemeClr val="lt1"/>
                </a:solidFill>
              </a:rPr>
              <a:t>Deus nos chama incessantemente a oração.</a:t>
            </a:r>
            <a:endParaRPr>
              <a:solidFill>
                <a:schemeClr val="lt1"/>
              </a:solidFill>
            </a:endParaRPr>
          </a:p>
          <a:p>
            <a:pPr indent="0" lvl="0" marL="0" rtl="0" algn="just">
              <a:spcBef>
                <a:spcPts val="0"/>
              </a:spcBef>
              <a:spcAft>
                <a:spcPts val="0"/>
              </a:spcAft>
              <a:buNone/>
            </a:pPr>
            <a:r>
              <a:rPr lang="pt-BR">
                <a:solidFill>
                  <a:schemeClr val="lt1"/>
                </a:solidFill>
              </a:rPr>
              <a:t>É um recíproco apelo que confirma nossa aliança e procura essencial dos homens.</a:t>
            </a:r>
            <a:endParaRPr>
              <a:solidFill>
                <a:schemeClr val="lt1"/>
              </a:solidFill>
            </a:endParaRPr>
          </a:p>
          <a:p>
            <a:pPr indent="0" lvl="0" marL="0" rtl="0" algn="just">
              <a:spcBef>
                <a:spcPts val="0"/>
              </a:spcBef>
              <a:spcAft>
                <a:spcPts val="0"/>
              </a:spcAft>
              <a:buNone/>
            </a:pPr>
            <a:r>
              <a:t/>
            </a:r>
            <a:endParaRPr>
              <a:solidFill>
                <a:schemeClr val="lt1"/>
              </a:solidFill>
            </a:endParaRPr>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1000"/>
                                        <p:tgtEl>
                                          <p:spTgt spid="153"/>
                                        </p:tgtEl>
                                        <p:attrNameLst>
                                          <p:attrName>ppt_w</p:attrName>
                                        </p:attrNameLst>
                                      </p:cBhvr>
                                      <p:tavLst>
                                        <p:tav fmla="" tm="0">
                                          <p:val>
                                            <p:strVal val="0"/>
                                          </p:val>
                                        </p:tav>
                                        <p:tav fmla="" tm="100000">
                                          <p:val>
                                            <p:strVal val="#ppt_w"/>
                                          </p:val>
                                        </p:tav>
                                      </p:tavLst>
                                    </p:anim>
                                    <p:anim calcmode="lin" valueType="num">
                                      <p:cBhvr additive="base">
                                        <p:cTn dur="1000"/>
                                        <p:tgtEl>
                                          <p:spTgt spid="15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1000"/>
                                        <p:tgtEl>
                                          <p:spTgt spid="164"/>
                                        </p:tgtEl>
                                        <p:attrNameLst>
                                          <p:attrName>ppt_w</p:attrName>
                                        </p:attrNameLst>
                                      </p:cBhvr>
                                      <p:tavLst>
                                        <p:tav fmla="" tm="0">
                                          <p:val>
                                            <p:strVal val="0"/>
                                          </p:val>
                                        </p:tav>
                                        <p:tav fmla="" tm="100000">
                                          <p:val>
                                            <p:strVal val="#ppt_w"/>
                                          </p:val>
                                        </p:tav>
                                      </p:tavLst>
                                    </p:anim>
                                    <p:anim calcmode="lin" valueType="num">
                                      <p:cBhvr additive="base">
                                        <p:cTn dur="1000"/>
                                        <p:tgtEl>
                                          <p:spTgt spid="16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Mas de onde vem a Oração?</a:t>
            </a:r>
            <a:endParaRPr b="1"/>
          </a:p>
        </p:txBody>
      </p:sp>
      <p:sp>
        <p:nvSpPr>
          <p:cNvPr id="175" name="Google Shape;175;p15"/>
          <p:cNvSpPr txBox="1"/>
          <p:nvPr/>
        </p:nvSpPr>
        <p:spPr>
          <a:xfrm>
            <a:off x="152400" y="1524000"/>
            <a:ext cx="8947500" cy="954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a:solidFill>
                  <a:schemeClr val="lt1"/>
                </a:solidFill>
              </a:rPr>
              <a:t>No </a:t>
            </a:r>
            <a:r>
              <a:rPr b="1" lang="pt-BR">
                <a:solidFill>
                  <a:schemeClr val="lt1"/>
                </a:solidFill>
                <a:uFill>
                  <a:noFill/>
                </a:uFill>
                <a:hlinkClick r:id="rId3">
                  <a:extLst>
                    <a:ext uri="{A12FA001-AC4F-418D-AE19-62706E023703}">
                      <ahyp:hlinkClr val="tx"/>
                    </a:ext>
                  </a:extLst>
                </a:hlinkClick>
              </a:rPr>
              <a:t>Antigo Testamento</a:t>
            </a:r>
            <a:endParaRPr b="1">
              <a:solidFill>
                <a:schemeClr val="lt1"/>
              </a:solidFill>
            </a:endParaRPr>
          </a:p>
          <a:p>
            <a:pPr indent="0" lvl="0" marL="0" rtl="0" algn="just">
              <a:spcBef>
                <a:spcPts val="0"/>
              </a:spcBef>
              <a:spcAft>
                <a:spcPts val="0"/>
              </a:spcAft>
              <a:buNone/>
            </a:pPr>
            <a:r>
              <a:t/>
            </a:r>
            <a:endParaRPr sz="1200">
              <a:solidFill>
                <a:schemeClr val="lt1"/>
              </a:solidFill>
            </a:endParaRPr>
          </a:p>
          <a:p>
            <a:pPr indent="0" lvl="0" marL="0" rtl="0" algn="just">
              <a:spcBef>
                <a:spcPts val="0"/>
              </a:spcBef>
              <a:spcAft>
                <a:spcPts val="0"/>
              </a:spcAft>
              <a:buNone/>
            </a:pPr>
            <a:r>
              <a:rPr lang="pt-BR" sz="1200">
                <a:solidFill>
                  <a:schemeClr val="lt1"/>
                </a:solidFill>
              </a:rPr>
              <a:t>A oração já estava presente, como por exemplo, nos vários episódios importantes de </a:t>
            </a:r>
            <a:r>
              <a:rPr lang="pt-BR" sz="1200">
                <a:solidFill>
                  <a:schemeClr val="lt1"/>
                </a:solidFill>
                <a:uFill>
                  <a:noFill/>
                </a:uFill>
                <a:hlinkClick r:id="rId4">
                  <a:extLst>
                    <a:ext uri="{A12FA001-AC4F-418D-AE19-62706E023703}">
                      <ahyp:hlinkClr val="tx"/>
                    </a:ext>
                  </a:extLst>
                </a:hlinkClick>
              </a:rPr>
              <a:t>personagens bíblicos</a:t>
            </a:r>
            <a:r>
              <a:rPr lang="pt-BR" sz="1200">
                <a:solidFill>
                  <a:schemeClr val="lt1"/>
                </a:solidFill>
              </a:rPr>
              <a:t> (nomeadamente de </a:t>
            </a:r>
            <a:r>
              <a:rPr b="1" lang="pt-BR" sz="1200">
                <a:solidFill>
                  <a:schemeClr val="lt1"/>
                </a:solidFill>
                <a:uFill>
                  <a:noFill/>
                </a:uFill>
                <a:hlinkClick r:id="rId5">
                  <a:extLst>
                    <a:ext uri="{A12FA001-AC4F-418D-AE19-62706E023703}">
                      <ahyp:hlinkClr val="tx"/>
                    </a:ext>
                  </a:extLst>
                </a:hlinkClick>
              </a:rPr>
              <a:t>Abraão</a:t>
            </a:r>
            <a:r>
              <a:rPr b="1" lang="pt-BR" sz="1200">
                <a:solidFill>
                  <a:schemeClr val="lt1"/>
                </a:solidFill>
              </a:rPr>
              <a:t>, </a:t>
            </a:r>
            <a:r>
              <a:rPr b="1" lang="pt-BR" sz="1200">
                <a:solidFill>
                  <a:schemeClr val="lt1"/>
                </a:solidFill>
                <a:uFill>
                  <a:noFill/>
                </a:uFill>
                <a:hlinkClick r:id="rId6">
                  <a:extLst>
                    <a:ext uri="{A12FA001-AC4F-418D-AE19-62706E023703}">
                      <ahyp:hlinkClr val="tx"/>
                    </a:ext>
                  </a:extLst>
                </a:hlinkClick>
              </a:rPr>
              <a:t>Moisés</a:t>
            </a:r>
            <a:r>
              <a:rPr b="1" lang="pt-BR" sz="1200">
                <a:solidFill>
                  <a:schemeClr val="lt1"/>
                </a:solidFill>
              </a:rPr>
              <a:t>, </a:t>
            </a:r>
            <a:r>
              <a:rPr b="1" lang="pt-BR" sz="1200">
                <a:solidFill>
                  <a:schemeClr val="lt1"/>
                </a:solidFill>
                <a:uFill>
                  <a:noFill/>
                </a:uFill>
                <a:hlinkClick r:id="rId7">
                  <a:extLst>
                    <a:ext uri="{A12FA001-AC4F-418D-AE19-62706E023703}">
                      <ahyp:hlinkClr val="tx"/>
                    </a:ext>
                  </a:extLst>
                </a:hlinkClick>
              </a:rPr>
              <a:t>David</a:t>
            </a:r>
            <a:r>
              <a:rPr b="1" lang="pt-BR" sz="1200">
                <a:solidFill>
                  <a:schemeClr val="lt1"/>
                </a:solidFill>
              </a:rPr>
              <a:t>, </a:t>
            </a:r>
            <a:r>
              <a:rPr b="1" lang="pt-BR" sz="1200">
                <a:solidFill>
                  <a:schemeClr val="lt1"/>
                </a:solidFill>
                <a:uFill>
                  <a:noFill/>
                </a:uFill>
                <a:hlinkClick r:id="rId8">
                  <a:extLst>
                    <a:ext uri="{A12FA001-AC4F-418D-AE19-62706E023703}">
                      <ahyp:hlinkClr val="tx"/>
                    </a:ext>
                  </a:extLst>
                </a:hlinkClick>
              </a:rPr>
              <a:t>Isaías</a:t>
            </a:r>
            <a:r>
              <a:rPr b="1" lang="pt-BR" sz="1200">
                <a:solidFill>
                  <a:schemeClr val="lt1"/>
                </a:solidFill>
              </a:rPr>
              <a:t>, etc.</a:t>
            </a:r>
            <a:r>
              <a:rPr lang="pt-BR" sz="1200">
                <a:solidFill>
                  <a:schemeClr val="lt1"/>
                </a:solidFill>
              </a:rPr>
              <a:t>) e do próprio povo de Deus, sendo </a:t>
            </a:r>
            <a:r>
              <a:rPr b="1" lang="pt-BR" sz="1200">
                <a:solidFill>
                  <a:schemeClr val="lt1"/>
                </a:solidFill>
              </a:rPr>
              <a:t>os </a:t>
            </a:r>
            <a:r>
              <a:rPr b="1" lang="pt-BR" sz="1200">
                <a:solidFill>
                  <a:schemeClr val="lt1"/>
                </a:solidFill>
                <a:uFill>
                  <a:noFill/>
                </a:uFill>
                <a:hlinkClick r:id="rId9">
                  <a:extLst>
                    <a:ext uri="{A12FA001-AC4F-418D-AE19-62706E023703}">
                      <ahyp:hlinkClr val="tx"/>
                    </a:ext>
                  </a:extLst>
                </a:hlinkClick>
              </a:rPr>
              <a:t>salmos</a:t>
            </a:r>
            <a:r>
              <a:rPr lang="pt-BR" sz="1200">
                <a:solidFill>
                  <a:schemeClr val="lt1"/>
                </a:solidFill>
              </a:rPr>
              <a:t> um exemplo da sua expressão.</a:t>
            </a:r>
            <a:endParaRPr sz="1200">
              <a:solidFill>
                <a:schemeClr val="lt1"/>
              </a:solidFill>
            </a:endParaRPr>
          </a:p>
        </p:txBody>
      </p:sp>
      <p:sp>
        <p:nvSpPr>
          <p:cNvPr id="176" name="Google Shape;176;p15"/>
          <p:cNvSpPr txBox="1"/>
          <p:nvPr/>
        </p:nvSpPr>
        <p:spPr>
          <a:xfrm>
            <a:off x="152400" y="2694450"/>
            <a:ext cx="8947500" cy="369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sz="1200">
                <a:solidFill>
                  <a:srgbClr val="FF0000"/>
                </a:solidFill>
              </a:rPr>
              <a:t>Abel e Noé -</a:t>
            </a:r>
            <a:r>
              <a:rPr lang="pt-BR" sz="1200">
                <a:solidFill>
                  <a:schemeClr val="lt1"/>
                </a:solidFill>
              </a:rPr>
              <a:t> Viviam a oração com sua fidelidade e ofertas à Deus;</a:t>
            </a:r>
            <a:endParaRPr sz="1200">
              <a:solidFill>
                <a:schemeClr val="lt1"/>
              </a:solidFill>
            </a:endParaRPr>
          </a:p>
        </p:txBody>
      </p:sp>
      <p:sp>
        <p:nvSpPr>
          <p:cNvPr id="177" name="Google Shape;177;p15"/>
          <p:cNvSpPr txBox="1"/>
          <p:nvPr/>
        </p:nvSpPr>
        <p:spPr>
          <a:xfrm>
            <a:off x="152525" y="3138200"/>
            <a:ext cx="8947500" cy="923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sz="1200">
                <a:solidFill>
                  <a:srgbClr val="FF0000"/>
                </a:solidFill>
              </a:rPr>
              <a:t>Abraão </a:t>
            </a:r>
            <a:r>
              <a:rPr b="1" lang="pt-BR" sz="1200">
                <a:solidFill>
                  <a:srgbClr val="FF0000"/>
                </a:solidFill>
              </a:rPr>
              <a:t>-</a:t>
            </a:r>
            <a:r>
              <a:rPr lang="pt-BR" sz="1200">
                <a:solidFill>
                  <a:schemeClr val="lt1"/>
                </a:solidFill>
              </a:rPr>
              <a:t> </a:t>
            </a:r>
            <a:r>
              <a:rPr lang="pt-BR" sz="1200">
                <a:solidFill>
                  <a:schemeClr val="lt1"/>
                </a:solidFill>
              </a:rPr>
              <a:t>a primeira oração com palavras é revelada por Abraão (Deus o chama, ele parte e mostra submissão de coração). Ele a mostra primeiramente com suas ações (construção de altares) e posteriormente se direciona a queixas (promessas que parecem nunca se realizar). Desde o início se procura a provação da fé pela fidelidade de Deus. Abraão intercede pelos homens e prova sua fé, demonstrando intenção de sacrifício de seu filho, mostrando total entrega à vontade do Pai.</a:t>
            </a:r>
            <a:endParaRPr sz="1200">
              <a:solidFill>
                <a:schemeClr val="lt1"/>
              </a:solidFill>
            </a:endParaRPr>
          </a:p>
        </p:txBody>
      </p:sp>
      <p:sp>
        <p:nvSpPr>
          <p:cNvPr id="178" name="Google Shape;178;p15"/>
          <p:cNvSpPr txBox="1"/>
          <p:nvPr/>
        </p:nvSpPr>
        <p:spPr>
          <a:xfrm>
            <a:off x="130350" y="4061600"/>
            <a:ext cx="89916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sz="1200">
                <a:solidFill>
                  <a:srgbClr val="FF0000"/>
                </a:solidFill>
              </a:rPr>
              <a:t>Moisés -</a:t>
            </a:r>
            <a:r>
              <a:rPr lang="pt-BR" sz="1200">
                <a:solidFill>
                  <a:schemeClr val="lt1"/>
                </a:solidFill>
              </a:rPr>
              <a:t> A</a:t>
            </a:r>
            <a:r>
              <a:rPr lang="pt-BR" sz="1200">
                <a:solidFill>
                  <a:schemeClr val="lt1"/>
                </a:solidFill>
              </a:rPr>
              <a:t> oração de Moisés é de intercessão, como único mediador entre Deus e a humanidade. Deus o chama, através da sarça ardente, em missão de salvação do povo escolhido. Em várias passagens Moisés conversa com Deus, para lembrá-lo de sua promessa e rogar pela condução de seu povo à terra prometida.</a:t>
            </a:r>
            <a:endParaRPr>
              <a:solidFill>
                <a:schemeClr val="lt1"/>
              </a:solidFill>
            </a:endParaRPr>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Mas de onde vem a Oração?</a:t>
            </a:r>
            <a:endParaRPr b="1"/>
          </a:p>
        </p:txBody>
      </p:sp>
      <p:sp>
        <p:nvSpPr>
          <p:cNvPr id="184" name="Google Shape;184;p16"/>
          <p:cNvSpPr txBox="1"/>
          <p:nvPr/>
        </p:nvSpPr>
        <p:spPr>
          <a:xfrm>
            <a:off x="152400" y="1524000"/>
            <a:ext cx="8947500" cy="954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a:solidFill>
                  <a:schemeClr val="lt1"/>
                </a:solidFill>
              </a:rPr>
              <a:t>No </a:t>
            </a:r>
            <a:r>
              <a:rPr b="1" lang="pt-BR">
                <a:solidFill>
                  <a:schemeClr val="lt1"/>
                </a:solidFill>
                <a:uFill>
                  <a:noFill/>
                </a:uFill>
                <a:hlinkClick r:id="rId3">
                  <a:extLst>
                    <a:ext uri="{A12FA001-AC4F-418D-AE19-62706E023703}">
                      <ahyp:hlinkClr val="tx"/>
                    </a:ext>
                  </a:extLst>
                </a:hlinkClick>
              </a:rPr>
              <a:t>Antigo Testamento</a:t>
            </a:r>
            <a:endParaRPr b="1">
              <a:solidFill>
                <a:schemeClr val="lt1"/>
              </a:solidFill>
            </a:endParaRPr>
          </a:p>
          <a:p>
            <a:pPr indent="0" lvl="0" marL="0" rtl="0" algn="just">
              <a:spcBef>
                <a:spcPts val="0"/>
              </a:spcBef>
              <a:spcAft>
                <a:spcPts val="0"/>
              </a:spcAft>
              <a:buNone/>
            </a:pPr>
            <a:r>
              <a:t/>
            </a:r>
            <a:endParaRPr sz="1200">
              <a:solidFill>
                <a:schemeClr val="lt1"/>
              </a:solidFill>
            </a:endParaRPr>
          </a:p>
          <a:p>
            <a:pPr indent="0" lvl="0" marL="0" rtl="0" algn="just">
              <a:spcBef>
                <a:spcPts val="0"/>
              </a:spcBef>
              <a:spcAft>
                <a:spcPts val="0"/>
              </a:spcAft>
              <a:buNone/>
            </a:pPr>
            <a:r>
              <a:rPr lang="pt-BR" sz="1200">
                <a:solidFill>
                  <a:schemeClr val="lt1"/>
                </a:solidFill>
              </a:rPr>
              <a:t>A oração já estava presente, como por exemplo, nos vários episódios importantes de </a:t>
            </a:r>
            <a:r>
              <a:rPr lang="pt-BR" sz="1200">
                <a:solidFill>
                  <a:schemeClr val="lt1"/>
                </a:solidFill>
                <a:uFill>
                  <a:noFill/>
                </a:uFill>
                <a:hlinkClick r:id="rId4">
                  <a:extLst>
                    <a:ext uri="{A12FA001-AC4F-418D-AE19-62706E023703}">
                      <ahyp:hlinkClr val="tx"/>
                    </a:ext>
                  </a:extLst>
                </a:hlinkClick>
              </a:rPr>
              <a:t>personagens bíblicos</a:t>
            </a:r>
            <a:r>
              <a:rPr lang="pt-BR" sz="1200">
                <a:solidFill>
                  <a:schemeClr val="lt1"/>
                </a:solidFill>
              </a:rPr>
              <a:t> (nomeadamente de </a:t>
            </a:r>
            <a:r>
              <a:rPr b="1" lang="pt-BR" sz="1200">
                <a:solidFill>
                  <a:schemeClr val="lt1"/>
                </a:solidFill>
                <a:uFill>
                  <a:noFill/>
                </a:uFill>
                <a:hlinkClick r:id="rId5">
                  <a:extLst>
                    <a:ext uri="{A12FA001-AC4F-418D-AE19-62706E023703}">
                      <ahyp:hlinkClr val="tx"/>
                    </a:ext>
                  </a:extLst>
                </a:hlinkClick>
              </a:rPr>
              <a:t>Abraão</a:t>
            </a:r>
            <a:r>
              <a:rPr b="1" lang="pt-BR" sz="1200">
                <a:solidFill>
                  <a:schemeClr val="lt1"/>
                </a:solidFill>
              </a:rPr>
              <a:t>, </a:t>
            </a:r>
            <a:r>
              <a:rPr b="1" lang="pt-BR" sz="1200">
                <a:solidFill>
                  <a:schemeClr val="lt1"/>
                </a:solidFill>
                <a:uFill>
                  <a:noFill/>
                </a:uFill>
                <a:hlinkClick r:id="rId6">
                  <a:extLst>
                    <a:ext uri="{A12FA001-AC4F-418D-AE19-62706E023703}">
                      <ahyp:hlinkClr val="tx"/>
                    </a:ext>
                  </a:extLst>
                </a:hlinkClick>
              </a:rPr>
              <a:t>Moisés</a:t>
            </a:r>
            <a:r>
              <a:rPr b="1" lang="pt-BR" sz="1200">
                <a:solidFill>
                  <a:schemeClr val="lt1"/>
                </a:solidFill>
              </a:rPr>
              <a:t>, </a:t>
            </a:r>
            <a:r>
              <a:rPr b="1" lang="pt-BR" sz="1200">
                <a:solidFill>
                  <a:schemeClr val="lt1"/>
                </a:solidFill>
                <a:uFill>
                  <a:noFill/>
                </a:uFill>
                <a:hlinkClick r:id="rId7">
                  <a:extLst>
                    <a:ext uri="{A12FA001-AC4F-418D-AE19-62706E023703}">
                      <ahyp:hlinkClr val="tx"/>
                    </a:ext>
                  </a:extLst>
                </a:hlinkClick>
              </a:rPr>
              <a:t>David</a:t>
            </a:r>
            <a:r>
              <a:rPr b="1" lang="pt-BR" sz="1200">
                <a:solidFill>
                  <a:schemeClr val="lt1"/>
                </a:solidFill>
              </a:rPr>
              <a:t>, </a:t>
            </a:r>
            <a:r>
              <a:rPr b="1" lang="pt-BR" sz="1200">
                <a:solidFill>
                  <a:schemeClr val="lt1"/>
                </a:solidFill>
                <a:uFill>
                  <a:noFill/>
                </a:uFill>
                <a:hlinkClick r:id="rId8">
                  <a:extLst>
                    <a:ext uri="{A12FA001-AC4F-418D-AE19-62706E023703}">
                      <ahyp:hlinkClr val="tx"/>
                    </a:ext>
                  </a:extLst>
                </a:hlinkClick>
              </a:rPr>
              <a:t>Isaías</a:t>
            </a:r>
            <a:r>
              <a:rPr b="1" lang="pt-BR" sz="1200">
                <a:solidFill>
                  <a:schemeClr val="lt1"/>
                </a:solidFill>
              </a:rPr>
              <a:t>, etc.</a:t>
            </a:r>
            <a:r>
              <a:rPr lang="pt-BR" sz="1200">
                <a:solidFill>
                  <a:schemeClr val="lt1"/>
                </a:solidFill>
              </a:rPr>
              <a:t>) e do próprio povo de Deus, sendo </a:t>
            </a:r>
            <a:r>
              <a:rPr b="1" lang="pt-BR" sz="1200">
                <a:solidFill>
                  <a:schemeClr val="lt1"/>
                </a:solidFill>
              </a:rPr>
              <a:t>os </a:t>
            </a:r>
            <a:r>
              <a:rPr b="1" lang="pt-BR" sz="1200">
                <a:solidFill>
                  <a:schemeClr val="lt1"/>
                </a:solidFill>
                <a:uFill>
                  <a:noFill/>
                </a:uFill>
                <a:hlinkClick r:id="rId9">
                  <a:extLst>
                    <a:ext uri="{A12FA001-AC4F-418D-AE19-62706E023703}">
                      <ahyp:hlinkClr val="tx"/>
                    </a:ext>
                  </a:extLst>
                </a:hlinkClick>
              </a:rPr>
              <a:t>salmos</a:t>
            </a:r>
            <a:r>
              <a:rPr lang="pt-BR" sz="1200">
                <a:solidFill>
                  <a:schemeClr val="lt1"/>
                </a:solidFill>
              </a:rPr>
              <a:t> um exemplo da sua expressão.</a:t>
            </a:r>
            <a:endParaRPr sz="1200">
              <a:solidFill>
                <a:schemeClr val="lt1"/>
              </a:solidFill>
            </a:endParaRPr>
          </a:p>
        </p:txBody>
      </p:sp>
      <p:sp>
        <p:nvSpPr>
          <p:cNvPr id="185" name="Google Shape;185;p16"/>
          <p:cNvSpPr txBox="1"/>
          <p:nvPr/>
        </p:nvSpPr>
        <p:spPr>
          <a:xfrm>
            <a:off x="152400" y="2694450"/>
            <a:ext cx="8947500" cy="258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sz="1200">
                <a:solidFill>
                  <a:srgbClr val="FF0000"/>
                </a:solidFill>
              </a:rPr>
              <a:t>Davi -</a:t>
            </a:r>
            <a:r>
              <a:rPr lang="pt-BR" sz="1200">
                <a:solidFill>
                  <a:schemeClr val="lt1"/>
                </a:solidFill>
              </a:rPr>
              <a:t> Davi, o rei escolhido pelo Pai, nos mostra modelo de oração de louvor e arrependimento - Salmos.</a:t>
            </a:r>
            <a:endParaRPr sz="1200">
              <a:solidFill>
                <a:schemeClr val="lt1"/>
              </a:solidFill>
            </a:endParaRPr>
          </a:p>
          <a:p>
            <a:pPr indent="0" lvl="0" marL="0" rtl="0" algn="just">
              <a:spcBef>
                <a:spcPts val="0"/>
              </a:spcBef>
              <a:spcAft>
                <a:spcPts val="0"/>
              </a:spcAft>
              <a:buNone/>
            </a:pPr>
            <a:r>
              <a:t/>
            </a:r>
            <a:endParaRPr sz="1200">
              <a:solidFill>
                <a:schemeClr val="lt1"/>
              </a:solidFill>
            </a:endParaRPr>
          </a:p>
          <a:p>
            <a:pPr indent="0" lvl="0" marL="0" rtl="0" algn="just">
              <a:spcBef>
                <a:spcPts val="0"/>
              </a:spcBef>
              <a:spcAft>
                <a:spcPts val="0"/>
              </a:spcAft>
              <a:buNone/>
            </a:pPr>
            <a:r>
              <a:rPr lang="pt-BR" sz="1200">
                <a:solidFill>
                  <a:schemeClr val="lt1"/>
                </a:solidFill>
              </a:rPr>
              <a:t>Ex. Salmo 51 (50).</a:t>
            </a:r>
            <a:endParaRPr sz="1200">
              <a:solidFill>
                <a:schemeClr val="lt1"/>
              </a:solidFill>
            </a:endParaRPr>
          </a:p>
          <a:p>
            <a:pPr indent="0" lvl="0" marL="0" rtl="0" algn="just">
              <a:spcBef>
                <a:spcPts val="0"/>
              </a:spcBef>
              <a:spcAft>
                <a:spcPts val="0"/>
              </a:spcAft>
              <a:buNone/>
            </a:pPr>
            <a:r>
              <a:t/>
            </a:r>
            <a:endParaRPr sz="1200">
              <a:solidFill>
                <a:schemeClr val="lt1"/>
              </a:solidFill>
            </a:endParaRPr>
          </a:p>
          <a:p>
            <a:pPr indent="0" lvl="0" marL="0" rtl="0" algn="just">
              <a:spcBef>
                <a:spcPts val="0"/>
              </a:spcBef>
              <a:spcAft>
                <a:spcPts val="0"/>
              </a:spcAft>
              <a:buNone/>
            </a:pPr>
            <a:r>
              <a:rPr i="1" lang="pt-BR" sz="1200">
                <a:solidFill>
                  <a:schemeClr val="lt1"/>
                </a:solidFill>
              </a:rPr>
              <a:t>³Ó Deus, tem piedade de mim, conforme a tua misericórdia; no teu grande amor cancela o meu pecado. </a:t>
            </a:r>
            <a:r>
              <a:rPr baseline="30000" i="1" lang="pt-BR" sz="1200">
                <a:solidFill>
                  <a:schemeClr val="lt1"/>
                </a:solidFill>
              </a:rPr>
              <a:t>4</a:t>
            </a:r>
            <a:r>
              <a:rPr i="1" lang="pt-BR" sz="1200">
                <a:solidFill>
                  <a:schemeClr val="lt1"/>
                </a:solidFill>
              </a:rPr>
              <a:t>Lava-me de toda a minha culpa, e purifica-me de meu pecado.</a:t>
            </a:r>
            <a:endParaRPr i="1" sz="1200">
              <a:solidFill>
                <a:schemeClr val="lt1"/>
              </a:solidFill>
            </a:endParaRPr>
          </a:p>
          <a:p>
            <a:pPr indent="0" lvl="0" marL="0" rtl="0" algn="just">
              <a:spcBef>
                <a:spcPts val="0"/>
              </a:spcBef>
              <a:spcAft>
                <a:spcPts val="0"/>
              </a:spcAft>
              <a:buNone/>
            </a:pPr>
            <a:r>
              <a:rPr baseline="30000" i="1" lang="pt-BR" sz="1200">
                <a:solidFill>
                  <a:schemeClr val="lt1"/>
                </a:solidFill>
              </a:rPr>
              <a:t>5</a:t>
            </a:r>
            <a:r>
              <a:rPr i="1" lang="pt-BR" sz="1200">
                <a:solidFill>
                  <a:schemeClr val="lt1"/>
                </a:solidFill>
              </a:rPr>
              <a:t>Reconheço a minha iniquidade e meu pecado está sempre diante de mim. [...]</a:t>
            </a:r>
            <a:endParaRPr i="1" sz="1200">
              <a:solidFill>
                <a:schemeClr val="lt1"/>
              </a:solidFill>
            </a:endParaRPr>
          </a:p>
          <a:p>
            <a:pPr indent="0" lvl="0" marL="0" rtl="0" algn="just">
              <a:spcBef>
                <a:spcPts val="0"/>
              </a:spcBef>
              <a:spcAft>
                <a:spcPts val="0"/>
              </a:spcAft>
              <a:buNone/>
            </a:pPr>
            <a:r>
              <a:t/>
            </a:r>
            <a:endParaRPr sz="1200">
              <a:solidFill>
                <a:schemeClr val="lt1"/>
              </a:solidFill>
            </a:endParaRPr>
          </a:p>
          <a:p>
            <a:pPr indent="0" lvl="0" marL="0" rtl="0" algn="just">
              <a:spcBef>
                <a:spcPts val="0"/>
              </a:spcBef>
              <a:spcAft>
                <a:spcPts val="0"/>
              </a:spcAft>
              <a:buNone/>
            </a:pPr>
            <a:r>
              <a:rPr lang="pt-BR" sz="1200">
                <a:solidFill>
                  <a:schemeClr val="lt1"/>
                </a:solidFill>
              </a:rPr>
              <a:t>Ex. Salmo 141 (140).</a:t>
            </a:r>
            <a:endParaRPr sz="1200">
              <a:solidFill>
                <a:schemeClr val="lt1"/>
              </a:solidFill>
            </a:endParaRPr>
          </a:p>
          <a:p>
            <a:pPr indent="0" lvl="0" marL="0" rtl="0" algn="just">
              <a:spcBef>
                <a:spcPts val="0"/>
              </a:spcBef>
              <a:spcAft>
                <a:spcPts val="0"/>
              </a:spcAft>
              <a:buNone/>
            </a:pPr>
            <a:r>
              <a:t/>
            </a:r>
            <a:endParaRPr sz="1200">
              <a:solidFill>
                <a:schemeClr val="lt1"/>
              </a:solidFill>
            </a:endParaRPr>
          </a:p>
          <a:p>
            <a:pPr indent="0" lvl="0" marL="0" rtl="0" algn="just">
              <a:spcBef>
                <a:spcPts val="0"/>
              </a:spcBef>
              <a:spcAft>
                <a:spcPts val="0"/>
              </a:spcAft>
              <a:buNone/>
            </a:pPr>
            <a:r>
              <a:rPr i="1" lang="pt-BR" sz="1200">
                <a:solidFill>
                  <a:schemeClr val="lt1"/>
                </a:solidFill>
              </a:rPr>
              <a:t>¹Senhor, clamo a ti, corre em meu auxílio; escuta a minha voz quando te invoco. ²Que minha minha oração suba à tua presença como incenso, a elevação de minhas mãos como sacrifício da tarde. [...].</a:t>
            </a:r>
            <a:endParaRPr i="1" sz="1200">
              <a:solidFill>
                <a:schemeClr val="lt1"/>
              </a:solidFill>
            </a:endParaRPr>
          </a:p>
          <a:p>
            <a:pPr indent="0" lvl="0" marL="0" rtl="0" algn="just">
              <a:spcBef>
                <a:spcPts val="0"/>
              </a:spcBef>
              <a:spcAft>
                <a:spcPts val="0"/>
              </a:spcAft>
              <a:buNone/>
            </a:pPr>
            <a:r>
              <a:t/>
            </a:r>
            <a:endParaRPr sz="1200">
              <a:solidFill>
                <a:schemeClr val="lt1"/>
              </a:solidFill>
            </a:endParaRPr>
          </a:p>
        </p:txBody>
      </p:sp>
      <p:sp>
        <p:nvSpPr>
          <p:cNvPr id="186" name="Google Shape;186;p16"/>
          <p:cNvSpPr txBox="1"/>
          <p:nvPr/>
        </p:nvSpPr>
        <p:spPr>
          <a:xfrm>
            <a:off x="2687400" y="886275"/>
            <a:ext cx="64125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pt-BR" u="sng">
                <a:solidFill>
                  <a:schemeClr val="lt1"/>
                </a:solidFill>
              </a:rPr>
              <a:t>Os salmos são alimento e expressão da oração do povo, pessoais e ao mesmo tempo comunitários. São simples, espontâneos e motivados pelo louvor. Nos mostram a comemoração das promessas de Deus e a espera do Messias.</a:t>
            </a:r>
            <a:endParaRPr u="sng">
              <a:solidFill>
                <a:schemeClr val="lt1"/>
              </a:solidFill>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7"/>
          <p:cNvSpPr txBox="1"/>
          <p:nvPr/>
        </p:nvSpPr>
        <p:spPr>
          <a:xfrm>
            <a:off x="152400" y="2740575"/>
            <a:ext cx="89475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i="1" lang="pt-BR" sz="1200">
                <a:solidFill>
                  <a:schemeClr val="lt1"/>
                </a:solidFill>
              </a:rPr>
              <a:t>Mt 7, 7</a:t>
            </a:r>
            <a:r>
              <a:rPr lang="pt-BR" sz="1200">
                <a:solidFill>
                  <a:schemeClr val="lt1"/>
                </a:solidFill>
              </a:rPr>
              <a:t> - Pedi e vos será dado! Procurai e encontrareis! Batei e a porta vos será aberta!</a:t>
            </a:r>
            <a:endParaRPr sz="1200">
              <a:solidFill>
                <a:schemeClr val="lt1"/>
              </a:solidFill>
            </a:endParaRPr>
          </a:p>
          <a:p>
            <a:pPr indent="0" lvl="0" marL="0" rtl="0" algn="just">
              <a:spcBef>
                <a:spcPts val="0"/>
              </a:spcBef>
              <a:spcAft>
                <a:spcPts val="0"/>
              </a:spcAft>
              <a:buNone/>
            </a:pPr>
            <a:r>
              <a:t/>
            </a:r>
            <a:endParaRPr i="1" sz="1200">
              <a:solidFill>
                <a:schemeClr val="lt1"/>
              </a:solidFill>
            </a:endParaRPr>
          </a:p>
          <a:p>
            <a:pPr indent="0" lvl="0" marL="0" rtl="0" algn="just">
              <a:spcBef>
                <a:spcPts val="0"/>
              </a:spcBef>
              <a:spcAft>
                <a:spcPts val="0"/>
              </a:spcAft>
              <a:buNone/>
            </a:pPr>
            <a:r>
              <a:rPr i="1" lang="pt-BR" sz="1200">
                <a:solidFill>
                  <a:schemeClr val="lt1"/>
                </a:solidFill>
              </a:rPr>
              <a:t>Procurai na leitura e achareis na meditação; </a:t>
            </a:r>
            <a:r>
              <a:rPr i="1" lang="pt-BR" sz="1200" u="sng">
                <a:solidFill>
                  <a:schemeClr val="lt1"/>
                </a:solidFill>
              </a:rPr>
              <a:t>batei à porta na oração e ela abrir-se-vos-á na contemplação</a:t>
            </a:r>
            <a:r>
              <a:rPr lang="pt-BR" sz="1200">
                <a:solidFill>
                  <a:schemeClr val="lt1"/>
                </a:solidFill>
              </a:rPr>
              <a:t>¹</a:t>
            </a:r>
            <a:endParaRPr/>
          </a:p>
        </p:txBody>
      </p:sp>
      <p:sp>
        <p:nvSpPr>
          <p:cNvPr id="192" name="Google Shape;192;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Mas de onde vem a Oração?</a:t>
            </a:r>
            <a:endParaRPr b="1"/>
          </a:p>
        </p:txBody>
      </p:sp>
      <p:sp>
        <p:nvSpPr>
          <p:cNvPr id="193" name="Google Shape;193;p17"/>
          <p:cNvSpPr txBox="1"/>
          <p:nvPr/>
        </p:nvSpPr>
        <p:spPr>
          <a:xfrm>
            <a:off x="152400" y="1524000"/>
            <a:ext cx="8947500" cy="1139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a:solidFill>
                  <a:schemeClr val="lt1"/>
                </a:solidFill>
              </a:rPr>
              <a:t>No Novo Testamento</a:t>
            </a:r>
            <a:endParaRPr b="1">
              <a:solidFill>
                <a:schemeClr val="lt1"/>
              </a:solidFill>
            </a:endParaRPr>
          </a:p>
          <a:p>
            <a:pPr indent="0" lvl="0" marL="0" rtl="0" algn="just">
              <a:spcBef>
                <a:spcPts val="0"/>
              </a:spcBef>
              <a:spcAft>
                <a:spcPts val="0"/>
              </a:spcAft>
              <a:buNone/>
            </a:pPr>
            <a:r>
              <a:t/>
            </a:r>
            <a:endParaRPr sz="1200">
              <a:solidFill>
                <a:schemeClr val="lt1"/>
              </a:solidFill>
            </a:endParaRPr>
          </a:p>
          <a:p>
            <a:pPr indent="0" lvl="0" marL="0" rtl="0" algn="just">
              <a:spcBef>
                <a:spcPts val="0"/>
              </a:spcBef>
              <a:spcAft>
                <a:spcPts val="0"/>
              </a:spcAft>
              <a:buNone/>
            </a:pPr>
            <a:r>
              <a:rPr lang="pt-BR" sz="1200">
                <a:solidFill>
                  <a:schemeClr val="accent2"/>
                </a:solidFill>
              </a:rPr>
              <a:t>Jesus</a:t>
            </a:r>
            <a:r>
              <a:rPr lang="pt-BR" sz="1200">
                <a:solidFill>
                  <a:schemeClr val="lt1"/>
                </a:solidFill>
              </a:rPr>
              <a:t>, apesar de estar em íntima comunhão com </a:t>
            </a:r>
            <a:r>
              <a:rPr lang="pt-BR" sz="1200">
                <a:solidFill>
                  <a:schemeClr val="lt1"/>
                </a:solidFill>
                <a:uFill>
                  <a:noFill/>
                </a:uFill>
                <a:hlinkClick r:id="rId3">
                  <a:extLst>
                    <a:ext uri="{A12FA001-AC4F-418D-AE19-62706E023703}">
                      <ahyp:hlinkClr val="tx"/>
                    </a:ext>
                  </a:extLst>
                </a:hlinkClick>
              </a:rPr>
              <a:t>Deus Pai</a:t>
            </a:r>
            <a:r>
              <a:rPr lang="pt-BR" sz="1200">
                <a:solidFill>
                  <a:schemeClr val="lt1"/>
                </a:solidFill>
              </a:rPr>
              <a:t>, é considerado o perfeito modelo e mestre de oração, "orando ao Pai em longas </a:t>
            </a:r>
            <a:r>
              <a:rPr lang="pt-BR" sz="1200">
                <a:solidFill>
                  <a:schemeClr val="lt1"/>
                </a:solidFill>
                <a:uFill>
                  <a:noFill/>
                </a:uFill>
                <a:hlinkClick r:id="rId4">
                  <a:extLst>
                    <a:ext uri="{A12FA001-AC4F-418D-AE19-62706E023703}">
                      <ahyp:hlinkClr val="tx"/>
                    </a:ext>
                  </a:extLst>
                </a:hlinkClick>
              </a:rPr>
              <a:t>vigílias</a:t>
            </a:r>
            <a:r>
              <a:rPr lang="pt-BR" sz="1200">
                <a:solidFill>
                  <a:schemeClr val="lt1"/>
                </a:solidFill>
              </a:rPr>
              <a:t> e em momentos decisivos da sua vida, desde o </a:t>
            </a:r>
            <a:r>
              <a:rPr lang="pt-BR" sz="1200">
                <a:solidFill>
                  <a:schemeClr val="lt1"/>
                </a:solidFill>
                <a:uFill>
                  <a:noFill/>
                </a:uFill>
                <a:hlinkClick r:id="rId5">
                  <a:extLst>
                    <a:ext uri="{A12FA001-AC4F-418D-AE19-62706E023703}">
                      <ahyp:hlinkClr val="tx"/>
                    </a:ext>
                  </a:extLst>
                </a:hlinkClick>
              </a:rPr>
              <a:t>baptismo no Jordão</a:t>
            </a:r>
            <a:r>
              <a:rPr lang="pt-BR" sz="1200">
                <a:solidFill>
                  <a:schemeClr val="lt1"/>
                </a:solidFill>
              </a:rPr>
              <a:t> à morte no </a:t>
            </a:r>
            <a:r>
              <a:rPr lang="pt-BR" sz="1200">
                <a:solidFill>
                  <a:schemeClr val="lt1"/>
                </a:solidFill>
                <a:uFill>
                  <a:noFill/>
                </a:uFill>
                <a:hlinkClick r:id="rId6">
                  <a:extLst>
                    <a:ext uri="{A12FA001-AC4F-418D-AE19-62706E023703}">
                      <ahyp:hlinkClr val="tx"/>
                    </a:ext>
                  </a:extLst>
                </a:hlinkClick>
              </a:rPr>
              <a:t>Calvário</a:t>
            </a:r>
            <a:r>
              <a:rPr lang="pt-BR" sz="1200">
                <a:solidFill>
                  <a:schemeClr val="lt1"/>
                </a:solidFill>
              </a:rPr>
              <a:t>".  </a:t>
            </a:r>
            <a:r>
              <a:rPr b="1" lang="pt-BR" sz="1200" u="sng">
                <a:solidFill>
                  <a:schemeClr val="accent2"/>
                </a:solidFill>
              </a:rPr>
              <a:t>JESUS NOS ENSINA A ORAR</a:t>
            </a:r>
            <a:r>
              <a:rPr lang="pt-BR" sz="1200">
                <a:solidFill>
                  <a:schemeClr val="lt1"/>
                </a:solidFill>
              </a:rPr>
              <a:t>.</a:t>
            </a:r>
            <a:endParaRPr/>
          </a:p>
        </p:txBody>
      </p:sp>
      <p:sp>
        <p:nvSpPr>
          <p:cNvPr id="194" name="Google Shape;194;p17"/>
          <p:cNvSpPr txBox="1"/>
          <p:nvPr/>
        </p:nvSpPr>
        <p:spPr>
          <a:xfrm>
            <a:off x="4194050" y="4881900"/>
            <a:ext cx="4996200" cy="261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sz="500">
                <a:solidFill>
                  <a:schemeClr val="lt1"/>
                </a:solidFill>
              </a:rPr>
              <a:t>[1] </a:t>
            </a:r>
            <a:r>
              <a:rPr lang="pt-BR" sz="500">
                <a:solidFill>
                  <a:schemeClr val="lt1"/>
                </a:solidFill>
              </a:rPr>
              <a:t>Guigo, O Cartuxo, </a:t>
            </a:r>
            <a:r>
              <a:rPr i="1" lang="pt-BR" sz="500">
                <a:solidFill>
                  <a:schemeClr val="lt1"/>
                </a:solidFill>
              </a:rPr>
              <a:t>Scala claustralium</a:t>
            </a:r>
            <a:r>
              <a:rPr lang="pt-BR" sz="500">
                <a:solidFill>
                  <a:schemeClr val="lt1"/>
                </a:solidFill>
              </a:rPr>
              <a:t>, 2, 2: PL 184, 476. Entretanto, estas palavras não foram retidas no texto da edição crítica SC 163, 84; veja-se aí o aparato crítico.</a:t>
            </a:r>
            <a:endParaRPr sz="500">
              <a:solidFill>
                <a:schemeClr val="lt1"/>
              </a:solidFill>
            </a:endParaRPr>
          </a:p>
        </p:txBody>
      </p:sp>
      <p:sp>
        <p:nvSpPr>
          <p:cNvPr id="195" name="Google Shape;195;p17"/>
          <p:cNvSpPr txBox="1"/>
          <p:nvPr/>
        </p:nvSpPr>
        <p:spPr>
          <a:xfrm>
            <a:off x="152400" y="3572925"/>
            <a:ext cx="8947500" cy="1231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pt-BR">
                <a:solidFill>
                  <a:schemeClr val="lt1"/>
                </a:solidFill>
              </a:rPr>
              <a:t>Jesus é o maior exemplo do poder da oração:</a:t>
            </a:r>
            <a:endParaRPr b="1">
              <a:solidFill>
                <a:schemeClr val="lt1"/>
              </a:solidFill>
            </a:endParaRPr>
          </a:p>
          <a:p>
            <a:pPr indent="0" lvl="0" marL="0" rtl="0" algn="just">
              <a:spcBef>
                <a:spcPts val="0"/>
              </a:spcBef>
              <a:spcAft>
                <a:spcPts val="0"/>
              </a:spcAft>
              <a:buNone/>
            </a:pPr>
            <a:r>
              <a:t/>
            </a:r>
            <a:endParaRPr sz="1200">
              <a:solidFill>
                <a:schemeClr val="lt1"/>
              </a:solidFill>
            </a:endParaRPr>
          </a:p>
          <a:p>
            <a:pPr indent="0" lvl="0" marL="0" rtl="0" algn="ctr">
              <a:spcBef>
                <a:spcPts val="0"/>
              </a:spcBef>
              <a:spcAft>
                <a:spcPts val="0"/>
              </a:spcAft>
              <a:buNone/>
            </a:pPr>
            <a:r>
              <a:rPr b="1" lang="pt-BR">
                <a:solidFill>
                  <a:schemeClr val="lt1"/>
                </a:solidFill>
                <a:uFill>
                  <a:noFill/>
                </a:uFill>
                <a:hlinkClick r:id="rId7">
                  <a:extLst>
                    <a:ext uri="{A12FA001-AC4F-418D-AE19-62706E023703}">
                      <ahyp:hlinkClr val="tx"/>
                    </a:ext>
                  </a:extLst>
                </a:hlinkClick>
              </a:rPr>
              <a:t>Mateus 26, 39</a:t>
            </a:r>
            <a:endParaRPr b="1">
              <a:solidFill>
                <a:schemeClr val="lt1"/>
              </a:solidFill>
            </a:endParaRPr>
          </a:p>
          <a:p>
            <a:pPr indent="0" lvl="0" marL="0" rtl="0" algn="ctr">
              <a:spcBef>
                <a:spcPts val="0"/>
              </a:spcBef>
              <a:spcAft>
                <a:spcPts val="0"/>
              </a:spcAft>
              <a:buNone/>
            </a:pPr>
            <a:r>
              <a:rPr b="1" lang="pt-BR">
                <a:solidFill>
                  <a:schemeClr val="lt1"/>
                </a:solidFill>
                <a:uFill>
                  <a:noFill/>
                </a:uFill>
                <a:hlinkClick r:id="rId8">
                  <a:extLst>
                    <a:ext uri="{A12FA001-AC4F-418D-AE19-62706E023703}">
                      <ahyp:hlinkClr val="tx"/>
                    </a:ext>
                  </a:extLst>
                </a:hlinkClick>
              </a:rPr>
              <a:t>João 17, 24</a:t>
            </a:r>
            <a:endParaRPr b="1">
              <a:solidFill>
                <a:schemeClr val="lt1"/>
              </a:solidFill>
            </a:endParaRPr>
          </a:p>
          <a:p>
            <a:pPr indent="0" lvl="0" marL="0" rtl="0" algn="ctr">
              <a:spcBef>
                <a:spcPts val="0"/>
              </a:spcBef>
              <a:spcAft>
                <a:spcPts val="0"/>
              </a:spcAft>
              <a:buNone/>
            </a:pPr>
            <a:r>
              <a:rPr b="1" lang="pt-BR">
                <a:solidFill>
                  <a:schemeClr val="lt1"/>
                </a:solidFill>
                <a:uFill>
                  <a:noFill/>
                </a:uFill>
                <a:hlinkClick r:id="rId9">
                  <a:extLst>
                    <a:ext uri="{A12FA001-AC4F-418D-AE19-62706E023703}">
                      <ahyp:hlinkClr val="tx"/>
                    </a:ext>
                  </a:extLst>
                </a:hlinkClick>
              </a:rPr>
              <a:t>Mateus 9, 38</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p:nvPr/>
        </p:nvSpPr>
        <p:spPr>
          <a:xfrm rot="-6597866">
            <a:off x="1933291" y="3911316"/>
            <a:ext cx="629106" cy="629106"/>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8"/>
          <p:cNvSpPr/>
          <p:nvPr/>
        </p:nvSpPr>
        <p:spPr>
          <a:xfrm rot="-6598839">
            <a:off x="1784316" y="2740546"/>
            <a:ext cx="1199287" cy="1199287"/>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8"/>
          <p:cNvSpPr/>
          <p:nvPr/>
        </p:nvSpPr>
        <p:spPr>
          <a:xfrm rot="-6596588">
            <a:off x="5475663" y="3414033"/>
            <a:ext cx="771357" cy="771357"/>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8"/>
          <p:cNvSpPr/>
          <p:nvPr/>
        </p:nvSpPr>
        <p:spPr>
          <a:xfrm rot="-6599386">
            <a:off x="4067871" y="1311171"/>
            <a:ext cx="440541" cy="440541"/>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8"/>
          <p:cNvSpPr/>
          <p:nvPr/>
        </p:nvSpPr>
        <p:spPr>
          <a:xfrm rot="-6598839">
            <a:off x="4636916" y="2250621"/>
            <a:ext cx="1199287" cy="1199287"/>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
          <p:cNvSpPr/>
          <p:nvPr/>
        </p:nvSpPr>
        <p:spPr>
          <a:xfrm rot="-6598620">
            <a:off x="6743866" y="817700"/>
            <a:ext cx="1681581" cy="1681581"/>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
          <p:cNvSpPr/>
          <p:nvPr/>
        </p:nvSpPr>
        <p:spPr>
          <a:xfrm rot="-6597866">
            <a:off x="4282554" y="1799779"/>
            <a:ext cx="629106" cy="629106"/>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8"/>
          <p:cNvSpPr/>
          <p:nvPr/>
        </p:nvSpPr>
        <p:spPr>
          <a:xfrm rot="-6597701">
            <a:off x="5016900" y="1017455"/>
            <a:ext cx="274172" cy="274172"/>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Quais são os tipo de </a:t>
            </a:r>
            <a:r>
              <a:rPr b="1" lang="pt-BR"/>
              <a:t>Oração?</a:t>
            </a:r>
            <a:endParaRPr b="1"/>
          </a:p>
        </p:txBody>
      </p:sp>
      <p:sp>
        <p:nvSpPr>
          <p:cNvPr id="209" name="Google Shape;209;p18"/>
          <p:cNvSpPr/>
          <p:nvPr/>
        </p:nvSpPr>
        <p:spPr>
          <a:xfrm rot="-6599386">
            <a:off x="423709" y="1646283"/>
            <a:ext cx="440541" cy="440541"/>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8"/>
          <p:cNvSpPr/>
          <p:nvPr/>
        </p:nvSpPr>
        <p:spPr>
          <a:xfrm rot="-6598620">
            <a:off x="2480029" y="1152513"/>
            <a:ext cx="1681581" cy="1681581"/>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8"/>
          <p:cNvSpPr/>
          <p:nvPr/>
        </p:nvSpPr>
        <p:spPr>
          <a:xfrm rot="-6597866">
            <a:off x="766941" y="2446966"/>
            <a:ext cx="629106" cy="629106"/>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8"/>
          <p:cNvSpPr/>
          <p:nvPr/>
        </p:nvSpPr>
        <p:spPr>
          <a:xfrm rot="-6597701">
            <a:off x="1372738" y="1352568"/>
            <a:ext cx="274172" cy="274172"/>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8"/>
          <p:cNvSpPr/>
          <p:nvPr/>
        </p:nvSpPr>
        <p:spPr>
          <a:xfrm>
            <a:off x="2742806" y="2188716"/>
            <a:ext cx="2440200" cy="2440200"/>
          </a:xfrm>
          <a:prstGeom prst="ellipse">
            <a:avLst/>
          </a:prstGeom>
          <a:solidFill>
            <a:srgbClr val="55156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
          <p:cNvSpPr/>
          <p:nvPr/>
        </p:nvSpPr>
        <p:spPr>
          <a:xfrm>
            <a:off x="1297505" y="1423148"/>
            <a:ext cx="1750847" cy="1624271"/>
          </a:xfrm>
          <a:prstGeom prst="ellipse">
            <a:avLst/>
          </a:prstGeom>
          <a:solidFill>
            <a:srgbClr val="701C7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8"/>
          <p:cNvSpPr/>
          <p:nvPr/>
        </p:nvSpPr>
        <p:spPr>
          <a:xfrm>
            <a:off x="6364544" y="2441691"/>
            <a:ext cx="2440200" cy="2440200"/>
          </a:xfrm>
          <a:prstGeom prst="ellipse">
            <a:avLst/>
          </a:prstGeom>
          <a:solidFill>
            <a:srgbClr val="55156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8"/>
          <p:cNvSpPr/>
          <p:nvPr/>
        </p:nvSpPr>
        <p:spPr>
          <a:xfrm>
            <a:off x="4863300" y="1181213"/>
            <a:ext cx="2010975" cy="1866200"/>
          </a:xfrm>
          <a:prstGeom prst="ellipse">
            <a:avLst/>
          </a:prstGeom>
          <a:solidFill>
            <a:srgbClr val="701C7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8"/>
          <p:cNvSpPr/>
          <p:nvPr/>
        </p:nvSpPr>
        <p:spPr>
          <a:xfrm rot="-6598842">
            <a:off x="245443" y="2888021"/>
            <a:ext cx="1832290" cy="1805813"/>
          </a:xfrm>
          <a:prstGeom prst="ellipse">
            <a:avLst/>
          </a:prstGeom>
          <a:solidFill>
            <a:srgbClr val="D68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8"/>
          <p:cNvSpPr txBox="1"/>
          <p:nvPr/>
        </p:nvSpPr>
        <p:spPr>
          <a:xfrm>
            <a:off x="1344475" y="1531438"/>
            <a:ext cx="16569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800">
                <a:solidFill>
                  <a:schemeClr val="lt1"/>
                </a:solidFill>
              </a:rPr>
              <a:t>A </a:t>
            </a:r>
            <a:r>
              <a:rPr b="1" lang="pt-BR" sz="800">
                <a:solidFill>
                  <a:schemeClr val="lt1"/>
                </a:solidFill>
              </a:rPr>
              <a:t>ADORAÇÃO</a:t>
            </a:r>
            <a:r>
              <a:rPr lang="pt-BR" sz="800">
                <a:solidFill>
                  <a:schemeClr val="lt1"/>
                </a:solidFill>
              </a:rPr>
              <a:t> é nosso reconhecimento como criaturas diante do nosso Criador. Reconhecemos a Sua infinita majestade e supremo poder. Diante de sua infinita bondade, o agradecemos pelas inúmeras graças derramadas sobre nossas vidas. Somos gratos aos dons que ainda não conhecemos.</a:t>
            </a:r>
            <a:endParaRPr sz="800">
              <a:solidFill>
                <a:schemeClr val="lt1"/>
              </a:solidFill>
            </a:endParaRPr>
          </a:p>
        </p:txBody>
      </p:sp>
      <p:sp>
        <p:nvSpPr>
          <p:cNvPr id="219" name="Google Shape;219;p18"/>
          <p:cNvSpPr txBox="1"/>
          <p:nvPr/>
        </p:nvSpPr>
        <p:spPr>
          <a:xfrm>
            <a:off x="6918350" y="827350"/>
            <a:ext cx="13326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800">
                <a:solidFill>
                  <a:schemeClr val="lt1"/>
                </a:solidFill>
              </a:rPr>
              <a:t>A </a:t>
            </a:r>
            <a:r>
              <a:rPr b="1" lang="pt-BR" sz="800">
                <a:solidFill>
                  <a:schemeClr val="lt1"/>
                </a:solidFill>
              </a:rPr>
              <a:t>ORAÇÃO DE BÊNÇÃO</a:t>
            </a:r>
            <a:r>
              <a:rPr lang="pt-BR" sz="800">
                <a:solidFill>
                  <a:schemeClr val="lt1"/>
                </a:solidFill>
              </a:rPr>
              <a:t> é a união do dom de Deus e da acolhida do homem. Ela pode ser levada ao Espírito Santo por Cristo até o Pai ou pode descer até nós quando imploramos a graça do Espírito Santo que por Cristo desce junto do Pai.</a:t>
            </a:r>
            <a:endParaRPr sz="800">
              <a:solidFill>
                <a:schemeClr val="lt1"/>
              </a:solidFill>
            </a:endParaRPr>
          </a:p>
        </p:txBody>
      </p:sp>
      <p:sp>
        <p:nvSpPr>
          <p:cNvPr id="220" name="Google Shape;220;p18"/>
          <p:cNvSpPr txBox="1"/>
          <p:nvPr/>
        </p:nvSpPr>
        <p:spPr>
          <a:xfrm>
            <a:off x="442650" y="3082913"/>
            <a:ext cx="14379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lt1"/>
                </a:solidFill>
                <a:latin typeface="Roboto"/>
                <a:ea typeface="Roboto"/>
                <a:cs typeface="Roboto"/>
                <a:sym typeface="Roboto"/>
              </a:rPr>
              <a:t>A </a:t>
            </a:r>
            <a:r>
              <a:rPr b="1" lang="pt-BR" sz="1000">
                <a:solidFill>
                  <a:schemeClr val="lt1"/>
                </a:solidFill>
                <a:latin typeface="Roboto"/>
                <a:ea typeface="Roboto"/>
                <a:cs typeface="Roboto"/>
                <a:sym typeface="Roboto"/>
              </a:rPr>
              <a:t>ORAÇÃO DE LOUVOR</a:t>
            </a:r>
            <a:r>
              <a:rPr lang="pt-BR" sz="1000">
                <a:solidFill>
                  <a:schemeClr val="lt1"/>
                </a:solidFill>
                <a:latin typeface="Roboto"/>
                <a:ea typeface="Roboto"/>
                <a:cs typeface="Roboto"/>
                <a:sym typeface="Roboto"/>
              </a:rPr>
              <a:t> é o reconhecimento que Deus é Deus, integrando as orações e as levando a fonte, sem qualquer interesse pessoal.</a:t>
            </a:r>
            <a:endParaRPr sz="1000">
              <a:solidFill>
                <a:schemeClr val="lt1"/>
              </a:solidFill>
              <a:latin typeface="Roboto"/>
              <a:ea typeface="Roboto"/>
              <a:cs typeface="Roboto"/>
              <a:sym typeface="Roboto"/>
            </a:endParaRPr>
          </a:p>
        </p:txBody>
      </p:sp>
      <p:sp>
        <p:nvSpPr>
          <p:cNvPr id="221" name="Google Shape;221;p18"/>
          <p:cNvSpPr txBox="1"/>
          <p:nvPr/>
        </p:nvSpPr>
        <p:spPr>
          <a:xfrm>
            <a:off x="3080425" y="2441700"/>
            <a:ext cx="1750800" cy="215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800">
                <a:solidFill>
                  <a:schemeClr val="lt1"/>
                </a:solidFill>
                <a:latin typeface="Roboto"/>
                <a:ea typeface="Roboto"/>
                <a:cs typeface="Roboto"/>
                <a:sym typeface="Roboto"/>
              </a:rPr>
              <a:t>A </a:t>
            </a:r>
            <a:r>
              <a:rPr b="1" lang="pt-BR" sz="800">
                <a:solidFill>
                  <a:schemeClr val="lt1"/>
                </a:solidFill>
                <a:latin typeface="Roboto"/>
                <a:ea typeface="Roboto"/>
                <a:cs typeface="Roboto"/>
                <a:sym typeface="Roboto"/>
              </a:rPr>
              <a:t>ORAÇÃO DE SÚPLICA</a:t>
            </a:r>
            <a:r>
              <a:rPr lang="pt-BR" sz="800">
                <a:solidFill>
                  <a:schemeClr val="lt1"/>
                </a:solidFill>
                <a:latin typeface="Roboto"/>
                <a:ea typeface="Roboto"/>
                <a:cs typeface="Roboto"/>
                <a:sym typeface="Roboto"/>
              </a:rPr>
              <a:t>  é a de pedido. Em primeiro lugar,  devemos pedir perdão diante de nossas faltas a fim de repararmos quaisquer penas merecidas. Em seguida, pedimos as graças e favores que desejamos alcançar. Vale ressaltar que a finalidade principal dessa oração não é forçar a Deus a dar-nos o que desejamos, e sim nos colocarmos à Sua mercê. Afinal, não há nada que peçamos que seja desconhecido a Ele. Temos que ser conscientes da bondade Divina.</a:t>
            </a:r>
            <a:endParaRPr sz="800">
              <a:solidFill>
                <a:schemeClr val="lt1"/>
              </a:solidFill>
              <a:latin typeface="Roboto"/>
              <a:ea typeface="Roboto"/>
              <a:cs typeface="Roboto"/>
              <a:sym typeface="Roboto"/>
            </a:endParaRPr>
          </a:p>
        </p:txBody>
      </p:sp>
      <p:sp>
        <p:nvSpPr>
          <p:cNvPr id="222" name="Google Shape;222;p18"/>
          <p:cNvSpPr txBox="1"/>
          <p:nvPr/>
        </p:nvSpPr>
        <p:spPr>
          <a:xfrm>
            <a:off x="5067039" y="1314000"/>
            <a:ext cx="1615500" cy="172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lt1"/>
                </a:solidFill>
                <a:latin typeface="Roboto"/>
                <a:ea typeface="Roboto"/>
                <a:cs typeface="Roboto"/>
                <a:sym typeface="Roboto"/>
              </a:rPr>
              <a:t>A </a:t>
            </a:r>
            <a:r>
              <a:rPr b="1" lang="pt-BR" sz="1000">
                <a:solidFill>
                  <a:schemeClr val="lt1"/>
                </a:solidFill>
                <a:latin typeface="Roboto"/>
                <a:ea typeface="Roboto"/>
                <a:cs typeface="Roboto"/>
                <a:sym typeface="Roboto"/>
              </a:rPr>
              <a:t>AÇÃO DE GRAÇAS</a:t>
            </a:r>
            <a:r>
              <a:rPr lang="pt-BR" sz="1000">
                <a:solidFill>
                  <a:schemeClr val="lt1"/>
                </a:solidFill>
                <a:latin typeface="Roboto"/>
                <a:ea typeface="Roboto"/>
                <a:cs typeface="Roboto"/>
                <a:sym typeface="Roboto"/>
              </a:rPr>
              <a:t> (oração da Igreja), presente na Eucaristia, é onde Cristo nos liberta do pecado e nos consagra de novo para que possamos retornar ao Pai. Todas as situações merecem graças.</a:t>
            </a:r>
            <a:endParaRPr sz="1000">
              <a:solidFill>
                <a:schemeClr val="lt1"/>
              </a:solidFill>
              <a:latin typeface="Roboto"/>
              <a:ea typeface="Roboto"/>
              <a:cs typeface="Roboto"/>
              <a:sym typeface="Roboto"/>
            </a:endParaRPr>
          </a:p>
        </p:txBody>
      </p:sp>
      <p:sp>
        <p:nvSpPr>
          <p:cNvPr id="223" name="Google Shape;223;p18"/>
          <p:cNvSpPr txBox="1"/>
          <p:nvPr/>
        </p:nvSpPr>
        <p:spPr>
          <a:xfrm>
            <a:off x="6539700" y="2816075"/>
            <a:ext cx="2082000" cy="1985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900">
                <a:solidFill>
                  <a:schemeClr val="lt1"/>
                </a:solidFill>
                <a:latin typeface="Roboto"/>
                <a:ea typeface="Roboto"/>
                <a:cs typeface="Roboto"/>
                <a:sym typeface="Roboto"/>
              </a:rPr>
              <a:t>A </a:t>
            </a:r>
            <a:r>
              <a:rPr b="1" lang="pt-BR" sz="900">
                <a:solidFill>
                  <a:schemeClr val="lt1"/>
                </a:solidFill>
                <a:latin typeface="Roboto"/>
                <a:ea typeface="Roboto"/>
                <a:cs typeface="Roboto"/>
                <a:sym typeface="Roboto"/>
              </a:rPr>
              <a:t>ORAÇÃO DE INTERCESSÃO</a:t>
            </a:r>
            <a:r>
              <a:rPr lang="pt-BR" sz="900">
                <a:solidFill>
                  <a:schemeClr val="lt1"/>
                </a:solidFill>
                <a:latin typeface="Roboto"/>
                <a:ea typeface="Roboto"/>
                <a:cs typeface="Roboto"/>
                <a:sym typeface="Roboto"/>
              </a:rPr>
              <a:t> é a que nos conforma de perto com a oração de Jesus (intercessor pelos homens). O Espírito Santo também intercede por nós ao Pai. É caracterizada por pedirmos pelos outros, e se estende dos próximos até aos nossos inimigos, em consonância com a misericórdia Divina. A falta de caridade é um obstáculo terrível para obtermos os frutos da nossa oração. </a:t>
            </a:r>
            <a:endParaRPr sz="900">
              <a:solidFill>
                <a:schemeClr val="lt1"/>
              </a:solidFill>
              <a:latin typeface="Roboto"/>
              <a:ea typeface="Roboto"/>
              <a:cs typeface="Roboto"/>
              <a:sym typeface="Roboto"/>
            </a:endParaRPr>
          </a:p>
          <a:p>
            <a:pPr indent="0" lvl="0" marL="0" rtl="0" algn="ctr">
              <a:spcBef>
                <a:spcPts val="0"/>
              </a:spcBef>
              <a:spcAft>
                <a:spcPts val="0"/>
              </a:spcAft>
              <a:buNone/>
            </a:pPr>
            <a:r>
              <a:t/>
            </a:r>
            <a:endParaRPr sz="900">
              <a:solidFill>
                <a:schemeClr val="lt1"/>
              </a:solidFill>
              <a:latin typeface="Roboto"/>
              <a:ea typeface="Roboto"/>
              <a:cs typeface="Roboto"/>
              <a:sym typeface="Roboto"/>
            </a:endParaRPr>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1000"/>
                                        <p:tgtEl>
                                          <p:spTgt spid="219"/>
                                        </p:tgtEl>
                                        <p:attrNameLst>
                                          <p:attrName>ppt_w</p:attrName>
                                        </p:attrNameLst>
                                      </p:cBhvr>
                                      <p:tavLst>
                                        <p:tav fmla="" tm="0">
                                          <p:val>
                                            <p:strVal val="0"/>
                                          </p:val>
                                        </p:tav>
                                        <p:tav fmla="" tm="100000">
                                          <p:val>
                                            <p:strVal val="#ppt_w"/>
                                          </p:val>
                                        </p:tav>
                                      </p:tavLst>
                                    </p:anim>
                                    <p:anim calcmode="lin" valueType="num">
                                      <p:cBhvr additive="base">
                                        <p:cTn dur="1000"/>
                                        <p:tgtEl>
                                          <p:spTgt spid="21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1000"/>
                                        <p:tgtEl>
                                          <p:spTgt spid="218"/>
                                        </p:tgtEl>
                                        <p:attrNameLst>
                                          <p:attrName>ppt_w</p:attrName>
                                        </p:attrNameLst>
                                      </p:cBhvr>
                                      <p:tavLst>
                                        <p:tav fmla="" tm="0">
                                          <p:val>
                                            <p:strVal val="0"/>
                                          </p:val>
                                        </p:tav>
                                        <p:tav fmla="" tm="100000">
                                          <p:val>
                                            <p:strVal val="#ppt_w"/>
                                          </p:val>
                                        </p:tav>
                                      </p:tavLst>
                                    </p:anim>
                                    <p:anim calcmode="lin" valueType="num">
                                      <p:cBhvr additive="base">
                                        <p:cTn dur="1000"/>
                                        <p:tgtEl>
                                          <p:spTgt spid="21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1"/>
                                        </p:tgtEl>
                                        <p:attrNameLst>
                                          <p:attrName>style.visibility</p:attrName>
                                        </p:attrNameLst>
                                      </p:cBhvr>
                                      <p:to>
                                        <p:strVal val="visible"/>
                                      </p:to>
                                    </p:set>
                                    <p:anim calcmode="lin" valueType="num">
                                      <p:cBhvr additive="base">
                                        <p:cTn dur="1000"/>
                                        <p:tgtEl>
                                          <p:spTgt spid="221"/>
                                        </p:tgtEl>
                                        <p:attrNameLst>
                                          <p:attrName>ppt_w</p:attrName>
                                        </p:attrNameLst>
                                      </p:cBhvr>
                                      <p:tavLst>
                                        <p:tav fmla="" tm="0">
                                          <p:val>
                                            <p:strVal val="0"/>
                                          </p:val>
                                        </p:tav>
                                        <p:tav fmla="" tm="100000">
                                          <p:val>
                                            <p:strVal val="#ppt_w"/>
                                          </p:val>
                                        </p:tav>
                                      </p:tavLst>
                                    </p:anim>
                                    <p:anim calcmode="lin" valueType="num">
                                      <p:cBhvr additive="base">
                                        <p:cTn dur="1000"/>
                                        <p:tgtEl>
                                          <p:spTgt spid="2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1000"/>
                                        <p:tgtEl>
                                          <p:spTgt spid="223"/>
                                        </p:tgtEl>
                                        <p:attrNameLst>
                                          <p:attrName>ppt_w</p:attrName>
                                        </p:attrNameLst>
                                      </p:cBhvr>
                                      <p:tavLst>
                                        <p:tav fmla="" tm="0">
                                          <p:val>
                                            <p:strVal val="0"/>
                                          </p:val>
                                        </p:tav>
                                        <p:tav fmla="" tm="100000">
                                          <p:val>
                                            <p:strVal val="#ppt_w"/>
                                          </p:val>
                                        </p:tav>
                                      </p:tavLst>
                                    </p:anim>
                                    <p:anim calcmode="lin" valueType="num">
                                      <p:cBhvr additive="base">
                                        <p:cTn dur="1000"/>
                                        <p:tgtEl>
                                          <p:spTgt spid="22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1000"/>
                                        <p:tgtEl>
                                          <p:spTgt spid="222"/>
                                        </p:tgtEl>
                                        <p:attrNameLst>
                                          <p:attrName>ppt_w</p:attrName>
                                        </p:attrNameLst>
                                      </p:cBhvr>
                                      <p:tavLst>
                                        <p:tav fmla="" tm="0">
                                          <p:val>
                                            <p:strVal val="0"/>
                                          </p:val>
                                        </p:tav>
                                        <p:tav fmla="" tm="100000">
                                          <p:val>
                                            <p:strVal val="#ppt_w"/>
                                          </p:val>
                                        </p:tav>
                                      </p:tavLst>
                                    </p:anim>
                                    <p:anim calcmode="lin" valueType="num">
                                      <p:cBhvr additive="base">
                                        <p:cTn dur="1000"/>
                                        <p:tgtEl>
                                          <p:spTgt spid="2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1000"/>
                                        <p:tgtEl>
                                          <p:spTgt spid="220"/>
                                        </p:tgtEl>
                                        <p:attrNameLst>
                                          <p:attrName>ppt_w</p:attrName>
                                        </p:attrNameLst>
                                      </p:cBhvr>
                                      <p:tavLst>
                                        <p:tav fmla="" tm="0">
                                          <p:val>
                                            <p:strVal val="0"/>
                                          </p:val>
                                        </p:tav>
                                        <p:tav fmla="" tm="100000">
                                          <p:val>
                                            <p:strVal val="#ppt_w"/>
                                          </p:val>
                                        </p:tav>
                                      </p:tavLst>
                                    </p:anim>
                                    <p:anim calcmode="lin" valueType="num">
                                      <p:cBhvr additive="base">
                                        <p:cTn dur="1000"/>
                                        <p:tgtEl>
                                          <p:spTgt spid="22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9"/>
          <p:cNvSpPr/>
          <p:nvPr/>
        </p:nvSpPr>
        <p:spPr>
          <a:xfrm rot="-6597866">
            <a:off x="1933291" y="3911316"/>
            <a:ext cx="629106" cy="629106"/>
          </a:xfrm>
          <a:prstGeom prst="ellipse">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
          <p:cNvSpPr/>
          <p:nvPr/>
        </p:nvSpPr>
        <p:spPr>
          <a:xfrm rot="-6598839">
            <a:off x="1784316" y="2740546"/>
            <a:ext cx="1199287" cy="1199287"/>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p:nvPr/>
        </p:nvSpPr>
        <p:spPr>
          <a:xfrm rot="-6596588">
            <a:off x="5475663" y="3414033"/>
            <a:ext cx="771357" cy="771357"/>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p:nvPr/>
        </p:nvSpPr>
        <p:spPr>
          <a:xfrm rot="-6599386">
            <a:off x="4067871" y="1311171"/>
            <a:ext cx="440541" cy="440541"/>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p:nvPr/>
        </p:nvSpPr>
        <p:spPr>
          <a:xfrm rot="-6598839">
            <a:off x="4636916" y="2250621"/>
            <a:ext cx="1199287" cy="1199287"/>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9"/>
          <p:cNvSpPr/>
          <p:nvPr/>
        </p:nvSpPr>
        <p:spPr>
          <a:xfrm rot="-6598620">
            <a:off x="6743866" y="817700"/>
            <a:ext cx="1681581" cy="1681581"/>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p:nvPr/>
        </p:nvSpPr>
        <p:spPr>
          <a:xfrm rot="-6597866">
            <a:off x="4282554" y="1799779"/>
            <a:ext cx="629106" cy="629106"/>
          </a:xfrm>
          <a:prstGeom prst="ellipse">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9"/>
          <p:cNvSpPr/>
          <p:nvPr/>
        </p:nvSpPr>
        <p:spPr>
          <a:xfrm rot="-6597701">
            <a:off x="5016900" y="1017455"/>
            <a:ext cx="274172" cy="274172"/>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txBox="1"/>
          <p:nvPr>
            <p:ph type="title"/>
          </p:nvPr>
        </p:nvSpPr>
        <p:spPr>
          <a:xfrm>
            <a:off x="1297500" y="393750"/>
            <a:ext cx="7038900" cy="5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Quais são as fontes da Oração?</a:t>
            </a:r>
            <a:endParaRPr b="1"/>
          </a:p>
        </p:txBody>
      </p:sp>
      <p:sp>
        <p:nvSpPr>
          <p:cNvPr id="237" name="Google Shape;237;p19"/>
          <p:cNvSpPr/>
          <p:nvPr/>
        </p:nvSpPr>
        <p:spPr>
          <a:xfrm rot="-6599386">
            <a:off x="423709" y="1646283"/>
            <a:ext cx="440541" cy="440541"/>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
          <p:cNvSpPr/>
          <p:nvPr/>
        </p:nvSpPr>
        <p:spPr>
          <a:xfrm rot="-6598620">
            <a:off x="2480029" y="1152513"/>
            <a:ext cx="1681581" cy="1681581"/>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800">
              <a:solidFill>
                <a:schemeClr val="lt1"/>
              </a:solidFill>
            </a:endParaRPr>
          </a:p>
        </p:txBody>
      </p:sp>
      <p:sp>
        <p:nvSpPr>
          <p:cNvPr id="239" name="Google Shape;239;p19"/>
          <p:cNvSpPr/>
          <p:nvPr/>
        </p:nvSpPr>
        <p:spPr>
          <a:xfrm rot="-6597866">
            <a:off x="766941" y="2446966"/>
            <a:ext cx="629106" cy="629106"/>
          </a:xfrm>
          <a:prstGeom prst="ellipse">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9"/>
          <p:cNvSpPr/>
          <p:nvPr/>
        </p:nvSpPr>
        <p:spPr>
          <a:xfrm rot="-6597701">
            <a:off x="1372738" y="1352568"/>
            <a:ext cx="274172" cy="274172"/>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2742806" y="2188716"/>
            <a:ext cx="2440200" cy="2440200"/>
          </a:xfrm>
          <a:prstGeom prst="ellipse">
            <a:avLst/>
          </a:prstGeom>
          <a:solidFill>
            <a:srgbClr val="38761D"/>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800">
              <a:solidFill>
                <a:schemeClr val="lt1"/>
              </a:solidFill>
            </a:endParaRPr>
          </a:p>
        </p:txBody>
      </p:sp>
      <p:sp>
        <p:nvSpPr>
          <p:cNvPr id="242" name="Google Shape;242;p19"/>
          <p:cNvSpPr/>
          <p:nvPr/>
        </p:nvSpPr>
        <p:spPr>
          <a:xfrm>
            <a:off x="1297505" y="1423148"/>
            <a:ext cx="1750800" cy="1624200"/>
          </a:xfrm>
          <a:prstGeom prst="ellipse">
            <a:avLst/>
          </a:prstGeom>
          <a:solidFill>
            <a:srgbClr val="38761D"/>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a:off x="6364544" y="2441691"/>
            <a:ext cx="2440200" cy="2440200"/>
          </a:xfrm>
          <a:prstGeom prst="ellipse">
            <a:avLst/>
          </a:prstGeom>
          <a:solidFill>
            <a:srgbClr val="38761D"/>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4863300" y="1181213"/>
            <a:ext cx="2010900" cy="1866300"/>
          </a:xfrm>
          <a:prstGeom prst="ellipse">
            <a:avLst/>
          </a:prstGeom>
          <a:solidFill>
            <a:srgbClr val="38761D"/>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rot="-6598842">
            <a:off x="245443" y="2888021"/>
            <a:ext cx="1832290" cy="1805813"/>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txBox="1"/>
          <p:nvPr/>
        </p:nvSpPr>
        <p:spPr>
          <a:xfrm>
            <a:off x="3080388" y="2623875"/>
            <a:ext cx="1750800" cy="173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100">
                <a:solidFill>
                  <a:schemeClr val="lt1"/>
                </a:solidFill>
              </a:rPr>
              <a:t>A PALAVRA DE DEUS</a:t>
            </a:r>
            <a:endParaRPr b="1" sz="1100">
              <a:solidFill>
                <a:schemeClr val="lt1"/>
              </a:solidFill>
            </a:endParaRPr>
          </a:p>
          <a:p>
            <a:pPr indent="0" lvl="0" marL="0" rtl="0" algn="ctr">
              <a:spcBef>
                <a:spcPts val="0"/>
              </a:spcBef>
              <a:spcAft>
                <a:spcPts val="0"/>
              </a:spcAft>
              <a:buNone/>
            </a:pPr>
            <a:r>
              <a:rPr b="1" lang="pt-BR" sz="1000">
                <a:solidFill>
                  <a:schemeClr val="lt1"/>
                </a:solidFill>
              </a:rPr>
              <a:t> </a:t>
            </a:r>
            <a:endParaRPr b="1" sz="1000">
              <a:solidFill>
                <a:schemeClr val="lt1"/>
              </a:solidFill>
            </a:endParaRPr>
          </a:p>
          <a:p>
            <a:pPr indent="0" lvl="0" marL="0" rtl="0" algn="ctr">
              <a:spcBef>
                <a:spcPts val="0"/>
              </a:spcBef>
              <a:spcAft>
                <a:spcPts val="0"/>
              </a:spcAft>
              <a:buNone/>
            </a:pPr>
            <a:r>
              <a:rPr lang="pt-BR" sz="1000">
                <a:solidFill>
                  <a:schemeClr val="lt1"/>
                </a:solidFill>
              </a:rPr>
              <a:t>Através da leitura orante, a Palavra de Deus se torna uma dessas fontes. É importante que a leitura e a oração caminhem juntas, para que se estabeleça a comunicação entre Deus e o homem.</a:t>
            </a:r>
            <a:endParaRPr b="1" sz="1000">
              <a:solidFill>
                <a:schemeClr val="lt1"/>
              </a:solidFill>
            </a:endParaRPr>
          </a:p>
        </p:txBody>
      </p:sp>
      <p:sp>
        <p:nvSpPr>
          <p:cNvPr id="247" name="Google Shape;247;p19"/>
          <p:cNvSpPr txBox="1"/>
          <p:nvPr/>
        </p:nvSpPr>
        <p:spPr>
          <a:xfrm>
            <a:off x="6580100" y="2876850"/>
            <a:ext cx="20820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100">
                <a:solidFill>
                  <a:schemeClr val="lt1"/>
                </a:solidFill>
                <a:latin typeface="Roboto"/>
                <a:ea typeface="Roboto"/>
                <a:cs typeface="Roboto"/>
                <a:sym typeface="Roboto"/>
              </a:rPr>
              <a:t>A </a:t>
            </a:r>
            <a:r>
              <a:rPr b="1" lang="pt-BR" sz="1100">
                <a:solidFill>
                  <a:schemeClr val="lt1"/>
                </a:solidFill>
                <a:latin typeface="Roboto"/>
                <a:ea typeface="Roboto"/>
                <a:cs typeface="Roboto"/>
                <a:sym typeface="Roboto"/>
              </a:rPr>
              <a:t>LITURGIA DA IGREJA</a:t>
            </a:r>
            <a:endParaRPr b="1" sz="1100">
              <a:solidFill>
                <a:schemeClr val="lt1"/>
              </a:solidFill>
              <a:latin typeface="Roboto"/>
              <a:ea typeface="Roboto"/>
              <a:cs typeface="Roboto"/>
              <a:sym typeface="Roboto"/>
            </a:endParaRPr>
          </a:p>
          <a:p>
            <a:pPr indent="0" lvl="0" marL="0" rtl="0" algn="ctr">
              <a:spcBef>
                <a:spcPts val="0"/>
              </a:spcBef>
              <a:spcAft>
                <a:spcPts val="0"/>
              </a:spcAft>
              <a:buNone/>
            </a:pPr>
            <a:r>
              <a:t/>
            </a:r>
            <a:endParaRPr sz="900">
              <a:solidFill>
                <a:schemeClr val="lt1"/>
              </a:solidFill>
              <a:latin typeface="Roboto"/>
              <a:ea typeface="Roboto"/>
              <a:cs typeface="Roboto"/>
              <a:sym typeface="Roboto"/>
            </a:endParaRPr>
          </a:p>
          <a:p>
            <a:pPr indent="0" lvl="0" marL="0" rtl="0" algn="ctr">
              <a:spcBef>
                <a:spcPts val="0"/>
              </a:spcBef>
              <a:spcAft>
                <a:spcPts val="0"/>
              </a:spcAft>
              <a:buNone/>
            </a:pPr>
            <a:r>
              <a:rPr lang="pt-BR" sz="1000">
                <a:solidFill>
                  <a:schemeClr val="lt1"/>
                </a:solidFill>
                <a:latin typeface="Roboto"/>
                <a:ea typeface="Roboto"/>
                <a:cs typeface="Roboto"/>
                <a:sym typeface="Roboto"/>
              </a:rPr>
              <a:t>Através da Liturgia da Igreja, somos comunicados do mistério da salvação. A vida litúrgica alimenta a nossa esperança e nos direciona a orar em todo o tempo, nos acontecimentos do cotidiano.</a:t>
            </a:r>
            <a:endParaRPr sz="1000">
              <a:solidFill>
                <a:schemeClr val="lt1"/>
              </a:solidFill>
              <a:latin typeface="Roboto"/>
              <a:ea typeface="Roboto"/>
              <a:cs typeface="Roboto"/>
              <a:sym typeface="Roboto"/>
            </a:endParaRPr>
          </a:p>
        </p:txBody>
      </p:sp>
      <p:pic>
        <p:nvPicPr>
          <p:cNvPr id="248" name="Google Shape;248;p19"/>
          <p:cNvPicPr preferRelativeResize="0"/>
          <p:nvPr/>
        </p:nvPicPr>
        <p:blipFill>
          <a:blip r:embed="rId3">
            <a:alphaModFix/>
          </a:blip>
          <a:stretch>
            <a:fillRect/>
          </a:stretch>
        </p:blipFill>
        <p:spPr>
          <a:xfrm>
            <a:off x="445075" y="3396649"/>
            <a:ext cx="1433059" cy="806101"/>
          </a:xfrm>
          <a:prstGeom prst="rect">
            <a:avLst/>
          </a:prstGeom>
          <a:noFill/>
          <a:ln>
            <a:noFill/>
          </a:ln>
        </p:spPr>
      </p:pic>
      <p:pic>
        <p:nvPicPr>
          <p:cNvPr id="249" name="Google Shape;249;p19"/>
          <p:cNvPicPr preferRelativeResize="0"/>
          <p:nvPr/>
        </p:nvPicPr>
        <p:blipFill>
          <a:blip r:embed="rId4">
            <a:alphaModFix/>
          </a:blip>
          <a:stretch>
            <a:fillRect/>
          </a:stretch>
        </p:blipFill>
        <p:spPr>
          <a:xfrm>
            <a:off x="6361113" y="949073"/>
            <a:ext cx="2519974" cy="1418875"/>
          </a:xfrm>
          <a:prstGeom prst="rect">
            <a:avLst/>
          </a:prstGeom>
          <a:noFill/>
          <a:ln>
            <a:noFill/>
          </a:ln>
        </p:spPr>
      </p:pic>
      <p:sp>
        <p:nvSpPr>
          <p:cNvPr id="250" name="Google Shape;250;p19"/>
          <p:cNvSpPr txBox="1"/>
          <p:nvPr/>
        </p:nvSpPr>
        <p:spPr>
          <a:xfrm>
            <a:off x="4993350" y="1350750"/>
            <a:ext cx="17508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200">
                <a:solidFill>
                  <a:schemeClr val="lt1"/>
                </a:solidFill>
              </a:rPr>
              <a:t>O </a:t>
            </a:r>
            <a:r>
              <a:rPr b="1" lang="pt-BR" sz="1200">
                <a:solidFill>
                  <a:schemeClr val="lt1"/>
                </a:solidFill>
              </a:rPr>
              <a:t>Espírito Santo</a:t>
            </a:r>
            <a:r>
              <a:rPr lang="pt-BR" sz="1200">
                <a:solidFill>
                  <a:schemeClr val="lt1"/>
                </a:solidFill>
              </a:rPr>
              <a:t> é a água viva que jorra para a Vida eterna. É ele que nos inspira e nos ensina a buscar as fontes nas quais Cristo nos espera para saciar a nossa sede.</a:t>
            </a:r>
            <a:endParaRPr sz="1200">
              <a:solidFill>
                <a:schemeClr val="lt1"/>
              </a:solidFill>
            </a:endParaRPr>
          </a:p>
        </p:txBody>
      </p:sp>
      <p:pic>
        <p:nvPicPr>
          <p:cNvPr id="251" name="Google Shape;251;p19"/>
          <p:cNvPicPr preferRelativeResize="0"/>
          <p:nvPr/>
        </p:nvPicPr>
        <p:blipFill>
          <a:blip r:embed="rId5">
            <a:alphaModFix/>
          </a:blip>
          <a:stretch>
            <a:fillRect/>
          </a:stretch>
        </p:blipFill>
        <p:spPr>
          <a:xfrm>
            <a:off x="1131899" y="1018481"/>
            <a:ext cx="2082000" cy="2433544"/>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1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p:nvPr/>
        </p:nvSpPr>
        <p:spPr>
          <a:xfrm rot="-6597866">
            <a:off x="1933291" y="3911316"/>
            <a:ext cx="629106" cy="629106"/>
          </a:xfrm>
          <a:prstGeom prst="ellipse">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0"/>
          <p:cNvSpPr/>
          <p:nvPr/>
        </p:nvSpPr>
        <p:spPr>
          <a:xfrm rot="-6598839">
            <a:off x="1784316" y="2740546"/>
            <a:ext cx="1199287" cy="1199287"/>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0"/>
          <p:cNvSpPr/>
          <p:nvPr/>
        </p:nvSpPr>
        <p:spPr>
          <a:xfrm rot="-6596588">
            <a:off x="5475663" y="3414033"/>
            <a:ext cx="771357" cy="771357"/>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0"/>
          <p:cNvSpPr/>
          <p:nvPr/>
        </p:nvSpPr>
        <p:spPr>
          <a:xfrm rot="-6599386">
            <a:off x="4067871" y="1311171"/>
            <a:ext cx="440541" cy="440541"/>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
          <p:cNvSpPr/>
          <p:nvPr/>
        </p:nvSpPr>
        <p:spPr>
          <a:xfrm rot="-6598839">
            <a:off x="4636916" y="2250621"/>
            <a:ext cx="1199287" cy="1199287"/>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0"/>
          <p:cNvSpPr/>
          <p:nvPr/>
        </p:nvSpPr>
        <p:spPr>
          <a:xfrm rot="-6598620">
            <a:off x="6743866" y="817700"/>
            <a:ext cx="1681581" cy="1681581"/>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0"/>
          <p:cNvSpPr/>
          <p:nvPr/>
        </p:nvSpPr>
        <p:spPr>
          <a:xfrm rot="-6597866">
            <a:off x="4282554" y="1799779"/>
            <a:ext cx="629106" cy="629106"/>
          </a:xfrm>
          <a:prstGeom prst="ellipse">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0"/>
          <p:cNvSpPr/>
          <p:nvPr/>
        </p:nvSpPr>
        <p:spPr>
          <a:xfrm rot="-6597701">
            <a:off x="5016900" y="1017455"/>
            <a:ext cx="274172" cy="274172"/>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0"/>
          <p:cNvSpPr txBox="1"/>
          <p:nvPr>
            <p:ph type="title"/>
          </p:nvPr>
        </p:nvSpPr>
        <p:spPr>
          <a:xfrm>
            <a:off x="1297500" y="393750"/>
            <a:ext cx="7038900" cy="5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Quais são as expressões da Oração?</a:t>
            </a:r>
            <a:endParaRPr b="1"/>
          </a:p>
        </p:txBody>
      </p:sp>
      <p:sp>
        <p:nvSpPr>
          <p:cNvPr id="265" name="Google Shape;265;p20"/>
          <p:cNvSpPr/>
          <p:nvPr/>
        </p:nvSpPr>
        <p:spPr>
          <a:xfrm rot="-6599386">
            <a:off x="423709" y="1646283"/>
            <a:ext cx="440541" cy="440541"/>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
          <p:cNvSpPr/>
          <p:nvPr/>
        </p:nvSpPr>
        <p:spPr>
          <a:xfrm rot="-6598620">
            <a:off x="2480029" y="1152513"/>
            <a:ext cx="1681581" cy="1681581"/>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800">
              <a:solidFill>
                <a:schemeClr val="lt1"/>
              </a:solidFill>
            </a:endParaRPr>
          </a:p>
        </p:txBody>
      </p:sp>
      <p:sp>
        <p:nvSpPr>
          <p:cNvPr id="267" name="Google Shape;267;p20"/>
          <p:cNvSpPr/>
          <p:nvPr/>
        </p:nvSpPr>
        <p:spPr>
          <a:xfrm rot="-6597866">
            <a:off x="766941" y="2446966"/>
            <a:ext cx="629106" cy="629106"/>
          </a:xfrm>
          <a:prstGeom prst="ellipse">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0"/>
          <p:cNvSpPr/>
          <p:nvPr/>
        </p:nvSpPr>
        <p:spPr>
          <a:xfrm rot="-6597701">
            <a:off x="1372738" y="1352568"/>
            <a:ext cx="274172" cy="274172"/>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0"/>
          <p:cNvSpPr/>
          <p:nvPr/>
        </p:nvSpPr>
        <p:spPr>
          <a:xfrm>
            <a:off x="2742806" y="2188716"/>
            <a:ext cx="2440200" cy="2440200"/>
          </a:xfrm>
          <a:prstGeom prst="ellipse">
            <a:avLst/>
          </a:prstGeom>
          <a:solidFill>
            <a:srgbClr val="1155CC"/>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800">
              <a:solidFill>
                <a:schemeClr val="lt1"/>
              </a:solidFill>
            </a:endParaRPr>
          </a:p>
        </p:txBody>
      </p:sp>
      <p:sp>
        <p:nvSpPr>
          <p:cNvPr id="270" name="Google Shape;270;p20"/>
          <p:cNvSpPr/>
          <p:nvPr/>
        </p:nvSpPr>
        <p:spPr>
          <a:xfrm>
            <a:off x="1297505" y="1423148"/>
            <a:ext cx="1750800" cy="1624200"/>
          </a:xfrm>
          <a:prstGeom prst="ellipse">
            <a:avLst/>
          </a:prstGeom>
          <a:solidFill>
            <a:srgbClr val="1155CC"/>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a:off x="6364544" y="2441691"/>
            <a:ext cx="2440200" cy="2440200"/>
          </a:xfrm>
          <a:prstGeom prst="ellipse">
            <a:avLst/>
          </a:prstGeom>
          <a:solidFill>
            <a:srgbClr val="1155CC"/>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0"/>
          <p:cNvSpPr/>
          <p:nvPr/>
        </p:nvSpPr>
        <p:spPr>
          <a:xfrm>
            <a:off x="4863300" y="1181213"/>
            <a:ext cx="2010900" cy="1866300"/>
          </a:xfrm>
          <a:prstGeom prst="ellipse">
            <a:avLst/>
          </a:prstGeom>
          <a:solidFill>
            <a:srgbClr val="1155CC"/>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
          <p:cNvSpPr/>
          <p:nvPr/>
        </p:nvSpPr>
        <p:spPr>
          <a:xfrm rot="-6598842">
            <a:off x="245443" y="2888021"/>
            <a:ext cx="1832290" cy="1805813"/>
          </a:xfrm>
          <a:prstGeom prst="ellipse">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
          <p:cNvSpPr txBox="1"/>
          <p:nvPr/>
        </p:nvSpPr>
        <p:spPr>
          <a:xfrm>
            <a:off x="2804950" y="2616075"/>
            <a:ext cx="2239200" cy="158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300">
                <a:solidFill>
                  <a:schemeClr val="lt1"/>
                </a:solidFill>
              </a:rPr>
              <a:t>Oração vocal</a:t>
            </a:r>
            <a:r>
              <a:rPr lang="pt-BR" sz="1300">
                <a:solidFill>
                  <a:schemeClr val="lt1"/>
                </a:solidFill>
              </a:rPr>
              <a:t>: é indispensável, sendo o mais importante a presença do coração, sendo feita de todo o ser para que nossa súplica alcance todo o poder possível. </a:t>
            </a:r>
            <a:endParaRPr sz="1300">
              <a:solidFill>
                <a:schemeClr val="lt1"/>
              </a:solidFill>
            </a:endParaRPr>
          </a:p>
        </p:txBody>
      </p:sp>
      <p:pic>
        <p:nvPicPr>
          <p:cNvPr id="275" name="Google Shape;275;p20"/>
          <p:cNvPicPr preferRelativeResize="0"/>
          <p:nvPr/>
        </p:nvPicPr>
        <p:blipFill>
          <a:blip r:embed="rId3">
            <a:alphaModFix/>
          </a:blip>
          <a:stretch>
            <a:fillRect/>
          </a:stretch>
        </p:blipFill>
        <p:spPr>
          <a:xfrm>
            <a:off x="6890825" y="1164400"/>
            <a:ext cx="1368912" cy="988200"/>
          </a:xfrm>
          <a:prstGeom prst="rect">
            <a:avLst/>
          </a:prstGeom>
          <a:noFill/>
          <a:ln>
            <a:noFill/>
          </a:ln>
        </p:spPr>
      </p:pic>
      <p:sp>
        <p:nvSpPr>
          <p:cNvPr id="276" name="Google Shape;276;p20"/>
          <p:cNvSpPr txBox="1"/>
          <p:nvPr/>
        </p:nvSpPr>
        <p:spPr>
          <a:xfrm>
            <a:off x="286200" y="3070750"/>
            <a:ext cx="1750800" cy="158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300">
                <a:solidFill>
                  <a:schemeClr val="lt1"/>
                </a:solidFill>
              </a:rPr>
              <a:t>Meditação</a:t>
            </a:r>
            <a:r>
              <a:rPr lang="pt-BR" sz="1300">
                <a:solidFill>
                  <a:schemeClr val="lt1"/>
                </a:solidFill>
              </a:rPr>
              <a:t>: é uma procura pela compreensão dos pedidos do Senhor para que consigamos responder.</a:t>
            </a:r>
            <a:endParaRPr sz="1300">
              <a:solidFill>
                <a:schemeClr val="lt1"/>
              </a:solidFill>
            </a:endParaRPr>
          </a:p>
        </p:txBody>
      </p:sp>
      <p:pic>
        <p:nvPicPr>
          <p:cNvPr id="277" name="Google Shape;277;p20"/>
          <p:cNvPicPr preferRelativeResize="0"/>
          <p:nvPr/>
        </p:nvPicPr>
        <p:blipFill>
          <a:blip r:embed="rId4">
            <a:alphaModFix/>
          </a:blip>
          <a:stretch>
            <a:fillRect/>
          </a:stretch>
        </p:blipFill>
        <p:spPr>
          <a:xfrm>
            <a:off x="1473588" y="1769500"/>
            <a:ext cx="1398625" cy="931490"/>
          </a:xfrm>
          <a:prstGeom prst="rect">
            <a:avLst/>
          </a:prstGeom>
          <a:noFill/>
          <a:ln>
            <a:noFill/>
          </a:ln>
        </p:spPr>
      </p:pic>
      <p:sp>
        <p:nvSpPr>
          <p:cNvPr id="278" name="Google Shape;278;p20"/>
          <p:cNvSpPr txBox="1"/>
          <p:nvPr/>
        </p:nvSpPr>
        <p:spPr>
          <a:xfrm>
            <a:off x="6634850" y="2737700"/>
            <a:ext cx="1899600" cy="212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a:solidFill>
                  <a:schemeClr val="lt1"/>
                </a:solidFill>
              </a:rPr>
              <a:t>Contemplação</a:t>
            </a:r>
            <a:r>
              <a:rPr lang="pt-BR">
                <a:solidFill>
                  <a:schemeClr val="lt1"/>
                </a:solidFill>
              </a:rPr>
              <a:t>: É a reserva de um tempo para estarmos com o Senhor e pode vir associada a meditação, é a busca em colocar o nosso coração em Deus, em silêncio.</a:t>
            </a:r>
            <a:endParaRPr>
              <a:solidFill>
                <a:schemeClr val="lt1"/>
              </a:solidFill>
            </a:endParaRPr>
          </a:p>
        </p:txBody>
      </p:sp>
      <p:pic>
        <p:nvPicPr>
          <p:cNvPr id="279" name="Google Shape;279;p20"/>
          <p:cNvPicPr preferRelativeResize="0"/>
          <p:nvPr/>
        </p:nvPicPr>
        <p:blipFill>
          <a:blip r:embed="rId5">
            <a:alphaModFix/>
          </a:blip>
          <a:stretch>
            <a:fillRect/>
          </a:stretch>
        </p:blipFill>
        <p:spPr>
          <a:xfrm>
            <a:off x="5083188" y="1586799"/>
            <a:ext cx="1571125" cy="1055045"/>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21"/>
          <p:cNvPicPr preferRelativeResize="0"/>
          <p:nvPr/>
        </p:nvPicPr>
        <p:blipFill>
          <a:blip r:embed="rId3">
            <a:alphaModFix/>
          </a:blip>
          <a:stretch>
            <a:fillRect/>
          </a:stretch>
        </p:blipFill>
        <p:spPr>
          <a:xfrm>
            <a:off x="6088825" y="1007300"/>
            <a:ext cx="1443376" cy="2011074"/>
          </a:xfrm>
          <a:prstGeom prst="rect">
            <a:avLst/>
          </a:prstGeom>
          <a:noFill/>
          <a:ln>
            <a:noFill/>
          </a:ln>
        </p:spPr>
      </p:pic>
      <p:sp>
        <p:nvSpPr>
          <p:cNvPr id="285" name="Google Shape;285;p21"/>
          <p:cNvSpPr txBox="1"/>
          <p:nvPr/>
        </p:nvSpPr>
        <p:spPr>
          <a:xfrm>
            <a:off x="4902050" y="2541000"/>
            <a:ext cx="3624900" cy="240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200">
                <a:solidFill>
                  <a:srgbClr val="00FFFF"/>
                </a:solidFill>
              </a:rPr>
              <a:t>Maria </a:t>
            </a:r>
            <a:r>
              <a:rPr lang="pt-BR" sz="1200">
                <a:solidFill>
                  <a:schemeClr val="lt1"/>
                </a:solidFill>
              </a:rPr>
              <a:t>ocupa um papel especial em nossas orações católicas. Quando oramos à Maria, não estamos desejando que ela realize nenhum tipo de graça diretamente em nossas vidas. Entretanto, por estar tão próxima do Pai, estamos pedindo socorro à maior Intercessora da humanidade, como evidenciado claramente pelas bodas de Caná. Cristo nos orienta diretamente o pedido a essa intercessão, quando confia sua mãe ao seu discípulo muito amado (João, e por extensão, os fiéis da Igreja) e, ao mesmo tempo, confia ao discípulo sua mãe. </a:t>
            </a:r>
            <a:endParaRPr sz="1200">
              <a:solidFill>
                <a:schemeClr val="lt1"/>
              </a:solidFill>
            </a:endParaRPr>
          </a:p>
        </p:txBody>
      </p:sp>
      <p:pic>
        <p:nvPicPr>
          <p:cNvPr id="286" name="Google Shape;286;p21"/>
          <p:cNvPicPr preferRelativeResize="0"/>
          <p:nvPr/>
        </p:nvPicPr>
        <p:blipFill>
          <a:blip r:embed="rId4">
            <a:alphaModFix/>
          </a:blip>
          <a:stretch>
            <a:fillRect/>
          </a:stretch>
        </p:blipFill>
        <p:spPr>
          <a:xfrm>
            <a:off x="1641163" y="1007300"/>
            <a:ext cx="1443376" cy="2011075"/>
          </a:xfrm>
          <a:prstGeom prst="rect">
            <a:avLst/>
          </a:prstGeom>
          <a:noFill/>
          <a:ln>
            <a:noFill/>
          </a:ln>
        </p:spPr>
      </p:pic>
      <p:sp>
        <p:nvSpPr>
          <p:cNvPr id="287" name="Google Shape;287;p21"/>
          <p:cNvSpPr txBox="1"/>
          <p:nvPr>
            <p:ph type="title"/>
          </p:nvPr>
        </p:nvSpPr>
        <p:spPr>
          <a:xfrm>
            <a:off x="1297500" y="393750"/>
            <a:ext cx="7038900" cy="5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O caminho da </a:t>
            </a:r>
            <a:r>
              <a:rPr b="1" lang="pt-BR"/>
              <a:t>Oração</a:t>
            </a:r>
            <a:endParaRPr b="1"/>
          </a:p>
        </p:txBody>
      </p:sp>
      <p:sp>
        <p:nvSpPr>
          <p:cNvPr id="288" name="Google Shape;288;p21"/>
          <p:cNvSpPr txBox="1"/>
          <p:nvPr/>
        </p:nvSpPr>
        <p:spPr>
          <a:xfrm>
            <a:off x="862850" y="2571750"/>
            <a:ext cx="3000000" cy="233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lt1"/>
                </a:solidFill>
              </a:rPr>
              <a:t>A oração só tem acesso ao Pai se for feita em nome de </a:t>
            </a:r>
            <a:r>
              <a:rPr b="1" lang="pt-BR">
                <a:solidFill>
                  <a:schemeClr val="accent2"/>
                </a:solidFill>
              </a:rPr>
              <a:t>Jesus</a:t>
            </a:r>
            <a:r>
              <a:rPr lang="pt-BR">
                <a:solidFill>
                  <a:schemeClr val="lt1"/>
                </a:solidFill>
              </a:rPr>
              <a:t>, pois Ele, através de Sua natureza humana e Divina, nos incluiu como filhos de Deus. O Espírito Santo que nos garante esse acesso, nos unge e nos une a Cristo. Por isso, devemos sempre invocar o Espírito Santo em nosso dia a dia.</a:t>
            </a:r>
            <a:endParaRPr>
              <a:solidFill>
                <a:schemeClr val="lt1"/>
              </a:solidFill>
            </a:endParaRPr>
          </a:p>
          <a:p>
            <a:pPr indent="0" lvl="0" marL="0" rtl="0" algn="ctr">
              <a:spcBef>
                <a:spcPts val="0"/>
              </a:spcBef>
              <a:spcAft>
                <a:spcPts val="0"/>
              </a:spcAft>
              <a:buNone/>
            </a:pPr>
            <a:r>
              <a:t/>
            </a:r>
            <a:endParaRPr>
              <a:solidFill>
                <a:schemeClr val="lt1"/>
              </a:solidFill>
            </a:endParaRPr>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2"/>
          <p:cNvSpPr txBox="1"/>
          <p:nvPr>
            <p:ph type="title"/>
          </p:nvPr>
        </p:nvSpPr>
        <p:spPr>
          <a:xfrm>
            <a:off x="1297500" y="393750"/>
            <a:ext cx="7038900" cy="5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Guias para a</a:t>
            </a:r>
            <a:r>
              <a:rPr b="1" lang="pt-BR"/>
              <a:t> Oração</a:t>
            </a:r>
            <a:endParaRPr b="1"/>
          </a:p>
        </p:txBody>
      </p:sp>
      <p:grpSp>
        <p:nvGrpSpPr>
          <p:cNvPr id="294" name="Google Shape;294;p22"/>
          <p:cNvGrpSpPr/>
          <p:nvPr/>
        </p:nvGrpSpPr>
        <p:grpSpPr>
          <a:xfrm>
            <a:off x="2573677" y="958340"/>
            <a:ext cx="3996624" cy="3797539"/>
            <a:chOff x="2820225" y="891450"/>
            <a:chExt cx="3175200" cy="3175200"/>
          </a:xfrm>
        </p:grpSpPr>
        <p:sp>
          <p:nvSpPr>
            <p:cNvPr id="295" name="Google Shape;295;p22"/>
            <p:cNvSpPr/>
            <p:nvPr/>
          </p:nvSpPr>
          <p:spPr>
            <a:xfrm rot="10800000">
              <a:off x="2820225" y="891450"/>
              <a:ext cx="3175200" cy="3175200"/>
            </a:xfrm>
            <a:prstGeom prst="blockArc">
              <a:avLst>
                <a:gd fmla="val 5399801" name="adj1"/>
                <a:gd fmla="val 3012680" name="adj2"/>
                <a:gd fmla="val 6939" name="adj3"/>
              </a:avLst>
            </a:prstGeom>
            <a:solidFill>
              <a:srgbClr val="83E3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2"/>
            <p:cNvSpPr/>
            <p:nvPr/>
          </p:nvSpPr>
          <p:spPr>
            <a:xfrm rot="10800000">
              <a:off x="3175023" y="1179900"/>
              <a:ext cx="450600" cy="450600"/>
            </a:xfrm>
            <a:prstGeom prst="rtTriangle">
              <a:avLst/>
            </a:prstGeom>
            <a:solidFill>
              <a:srgbClr val="83E3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 name="Google Shape;297;p22"/>
          <p:cNvGrpSpPr/>
          <p:nvPr/>
        </p:nvGrpSpPr>
        <p:grpSpPr>
          <a:xfrm>
            <a:off x="5832050" y="2298913"/>
            <a:ext cx="1332300" cy="914700"/>
            <a:chOff x="5130375" y="2422675"/>
            <a:chExt cx="1332300" cy="914700"/>
          </a:xfrm>
        </p:grpSpPr>
        <p:sp>
          <p:nvSpPr>
            <p:cNvPr id="298" name="Google Shape;298;p22"/>
            <p:cNvSpPr/>
            <p:nvPr/>
          </p:nvSpPr>
          <p:spPr>
            <a:xfrm>
              <a:off x="5130375" y="2707675"/>
              <a:ext cx="1332300" cy="629700"/>
            </a:xfrm>
            <a:prstGeom prst="rect">
              <a:avLst/>
            </a:prstGeom>
            <a:solidFill>
              <a:srgbClr val="1B786E"/>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Roboto"/>
                <a:ea typeface="Roboto"/>
                <a:cs typeface="Roboto"/>
                <a:sym typeface="Roboto"/>
              </a:endParaRPr>
            </a:p>
            <a:p>
              <a:pPr indent="0" lvl="0" marL="0" rtl="0" algn="ctr">
                <a:spcBef>
                  <a:spcPts val="0"/>
                </a:spcBef>
                <a:spcAft>
                  <a:spcPts val="0"/>
                </a:spcAft>
                <a:buNone/>
              </a:pPr>
              <a:r>
                <a:rPr lang="pt-BR" sz="1000">
                  <a:solidFill>
                    <a:srgbClr val="FFFFFF"/>
                  </a:solidFill>
                  <a:latin typeface="Roboto"/>
                  <a:ea typeface="Roboto"/>
                  <a:cs typeface="Roboto"/>
                  <a:sym typeface="Roboto"/>
                </a:rPr>
                <a:t>A igreja doméstica</a:t>
              </a:r>
              <a:endParaRPr sz="1000">
                <a:solidFill>
                  <a:srgbClr val="FFFFFF"/>
                </a:solidFill>
              </a:endParaRPr>
            </a:p>
          </p:txBody>
        </p:sp>
        <p:sp>
          <p:nvSpPr>
            <p:cNvPr id="299" name="Google Shape;299;p22"/>
            <p:cNvSpPr/>
            <p:nvPr/>
          </p:nvSpPr>
          <p:spPr>
            <a:xfrm>
              <a:off x="5130375" y="2422675"/>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000">
                  <a:solidFill>
                    <a:srgbClr val="FFFFFF"/>
                  </a:solidFill>
                  <a:latin typeface="Roboto"/>
                  <a:ea typeface="Roboto"/>
                  <a:cs typeface="Roboto"/>
                  <a:sym typeface="Roboto"/>
                </a:rPr>
                <a:t>Família</a:t>
              </a:r>
              <a:endParaRPr b="1" sz="1000">
                <a:solidFill>
                  <a:srgbClr val="FFFFFF"/>
                </a:solidFill>
              </a:endParaRPr>
            </a:p>
          </p:txBody>
        </p:sp>
      </p:grpSp>
      <p:grpSp>
        <p:nvGrpSpPr>
          <p:cNvPr id="300" name="Google Shape;300;p22"/>
          <p:cNvGrpSpPr/>
          <p:nvPr/>
        </p:nvGrpSpPr>
        <p:grpSpPr>
          <a:xfrm>
            <a:off x="5048850" y="1023025"/>
            <a:ext cx="1332300" cy="914700"/>
            <a:chOff x="3798075" y="709250"/>
            <a:chExt cx="1332300" cy="914700"/>
          </a:xfrm>
        </p:grpSpPr>
        <p:sp>
          <p:nvSpPr>
            <p:cNvPr id="301" name="Google Shape;301;p22"/>
            <p:cNvSpPr/>
            <p:nvPr/>
          </p:nvSpPr>
          <p:spPr>
            <a:xfrm>
              <a:off x="3798075" y="994250"/>
              <a:ext cx="1332300" cy="629700"/>
            </a:xfrm>
            <a:prstGeom prst="rect">
              <a:avLst/>
            </a:prstGeom>
            <a:solidFill>
              <a:srgbClr val="1B786E"/>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000">
                  <a:solidFill>
                    <a:srgbClr val="FFFFFF"/>
                  </a:solidFill>
                  <a:latin typeface="Roboto"/>
                  <a:ea typeface="Roboto"/>
                  <a:cs typeface="Roboto"/>
                  <a:sym typeface="Roboto"/>
                </a:rPr>
                <a:t>Tradição viva da oração e modelos de vida</a:t>
              </a:r>
              <a:endParaRPr sz="1600">
                <a:solidFill>
                  <a:srgbClr val="FFFFFF"/>
                </a:solidFill>
              </a:endParaRPr>
            </a:p>
          </p:txBody>
        </p:sp>
        <p:sp>
          <p:nvSpPr>
            <p:cNvPr id="302" name="Google Shape;302;p22"/>
            <p:cNvSpPr/>
            <p:nvPr/>
          </p:nvSpPr>
          <p:spPr>
            <a:xfrm>
              <a:off x="3798075" y="709250"/>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000">
                  <a:solidFill>
                    <a:srgbClr val="FFFFFF"/>
                  </a:solidFill>
                  <a:latin typeface="Roboto"/>
                  <a:ea typeface="Roboto"/>
                  <a:cs typeface="Roboto"/>
                  <a:sym typeface="Roboto"/>
                </a:rPr>
                <a:t>Maria e os Santos</a:t>
              </a:r>
              <a:endParaRPr b="1" sz="1000">
                <a:solidFill>
                  <a:srgbClr val="FFFFFF"/>
                </a:solidFill>
              </a:endParaRPr>
            </a:p>
          </p:txBody>
        </p:sp>
      </p:grpSp>
      <p:grpSp>
        <p:nvGrpSpPr>
          <p:cNvPr id="303" name="Google Shape;303;p22"/>
          <p:cNvGrpSpPr/>
          <p:nvPr/>
        </p:nvGrpSpPr>
        <p:grpSpPr>
          <a:xfrm>
            <a:off x="5407450" y="3664475"/>
            <a:ext cx="1332300" cy="914700"/>
            <a:chOff x="2465775" y="2422675"/>
            <a:chExt cx="1332300" cy="914700"/>
          </a:xfrm>
        </p:grpSpPr>
        <p:sp>
          <p:nvSpPr>
            <p:cNvPr id="304" name="Google Shape;304;p22"/>
            <p:cNvSpPr/>
            <p:nvPr/>
          </p:nvSpPr>
          <p:spPr>
            <a:xfrm>
              <a:off x="2465775" y="2707675"/>
              <a:ext cx="1332300" cy="629700"/>
            </a:xfrm>
            <a:prstGeom prst="rect">
              <a:avLst/>
            </a:prstGeom>
            <a:solidFill>
              <a:srgbClr val="1B786E"/>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000">
                  <a:solidFill>
                    <a:srgbClr val="FFFFFF"/>
                  </a:solidFill>
                  <a:latin typeface="Roboto"/>
                  <a:ea typeface="Roboto"/>
                  <a:cs typeface="Roboto"/>
                  <a:sym typeface="Roboto"/>
                </a:rPr>
                <a:t>Orientadores da formação da comunidade</a:t>
              </a:r>
              <a:endParaRPr sz="1000">
                <a:solidFill>
                  <a:srgbClr val="FFFFFF"/>
                </a:solidFill>
              </a:endParaRPr>
            </a:p>
          </p:txBody>
        </p:sp>
        <p:sp>
          <p:nvSpPr>
            <p:cNvPr id="305" name="Google Shape;305;p22"/>
            <p:cNvSpPr/>
            <p:nvPr/>
          </p:nvSpPr>
          <p:spPr>
            <a:xfrm>
              <a:off x="2465775" y="2422675"/>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000">
                  <a:solidFill>
                    <a:srgbClr val="FFFFFF"/>
                  </a:solidFill>
                  <a:latin typeface="Roboto"/>
                  <a:ea typeface="Roboto"/>
                  <a:cs typeface="Roboto"/>
                  <a:sym typeface="Roboto"/>
                </a:rPr>
                <a:t>Padres e Ministros</a:t>
              </a:r>
              <a:endParaRPr b="1" sz="1000">
                <a:solidFill>
                  <a:srgbClr val="FFFFFF"/>
                </a:solidFill>
              </a:endParaRPr>
            </a:p>
          </p:txBody>
        </p:sp>
      </p:grpSp>
      <p:grpSp>
        <p:nvGrpSpPr>
          <p:cNvPr id="306" name="Google Shape;306;p22"/>
          <p:cNvGrpSpPr/>
          <p:nvPr/>
        </p:nvGrpSpPr>
        <p:grpSpPr>
          <a:xfrm>
            <a:off x="3716550" y="4159600"/>
            <a:ext cx="1332300" cy="914700"/>
            <a:chOff x="2465775" y="2422675"/>
            <a:chExt cx="1332300" cy="914700"/>
          </a:xfrm>
        </p:grpSpPr>
        <p:sp>
          <p:nvSpPr>
            <p:cNvPr id="307" name="Google Shape;307;p22"/>
            <p:cNvSpPr/>
            <p:nvPr/>
          </p:nvSpPr>
          <p:spPr>
            <a:xfrm>
              <a:off x="2465775" y="2707675"/>
              <a:ext cx="1332300" cy="629700"/>
            </a:xfrm>
            <a:prstGeom prst="rect">
              <a:avLst/>
            </a:prstGeom>
            <a:solidFill>
              <a:srgbClr val="1B786E"/>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600">
                <a:solidFill>
                  <a:srgbClr val="FFFFFF"/>
                </a:solidFill>
                <a:latin typeface="Roboto"/>
                <a:ea typeface="Roboto"/>
                <a:cs typeface="Roboto"/>
                <a:sym typeface="Roboto"/>
              </a:endParaRPr>
            </a:p>
            <a:p>
              <a:pPr indent="0" lvl="0" marL="0" rtl="0" algn="ctr">
                <a:spcBef>
                  <a:spcPts val="0"/>
                </a:spcBef>
                <a:spcAft>
                  <a:spcPts val="0"/>
                </a:spcAft>
                <a:buNone/>
              </a:pPr>
              <a:r>
                <a:rPr lang="pt-BR" sz="1000">
                  <a:solidFill>
                    <a:srgbClr val="FFFFFF"/>
                  </a:solidFill>
                  <a:latin typeface="Roboto"/>
                  <a:ea typeface="Roboto"/>
                  <a:cs typeface="Roboto"/>
                  <a:sym typeface="Roboto"/>
                </a:rPr>
                <a:t>Meditação da palavra de Deus</a:t>
              </a:r>
              <a:endParaRPr sz="1600">
                <a:solidFill>
                  <a:srgbClr val="FFFFFF"/>
                </a:solidFill>
              </a:endParaRPr>
            </a:p>
          </p:txBody>
        </p:sp>
        <p:sp>
          <p:nvSpPr>
            <p:cNvPr id="308" name="Google Shape;308;p22"/>
            <p:cNvSpPr/>
            <p:nvPr/>
          </p:nvSpPr>
          <p:spPr>
            <a:xfrm>
              <a:off x="2465775" y="2422675"/>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000">
                  <a:solidFill>
                    <a:srgbClr val="FFFFFF"/>
                  </a:solidFill>
                  <a:latin typeface="Roboto"/>
                  <a:ea typeface="Roboto"/>
                  <a:cs typeface="Roboto"/>
                  <a:sym typeface="Roboto"/>
                </a:rPr>
                <a:t>Catequese</a:t>
              </a:r>
              <a:endParaRPr b="1" sz="1000">
                <a:solidFill>
                  <a:srgbClr val="FFFFFF"/>
                </a:solidFill>
              </a:endParaRPr>
            </a:p>
          </p:txBody>
        </p:sp>
      </p:grpSp>
      <p:grpSp>
        <p:nvGrpSpPr>
          <p:cNvPr id="309" name="Google Shape;309;p22"/>
          <p:cNvGrpSpPr/>
          <p:nvPr/>
        </p:nvGrpSpPr>
        <p:grpSpPr>
          <a:xfrm>
            <a:off x="2155500" y="3162850"/>
            <a:ext cx="1332300" cy="914700"/>
            <a:chOff x="2465775" y="2422675"/>
            <a:chExt cx="1332300" cy="914700"/>
          </a:xfrm>
        </p:grpSpPr>
        <p:sp>
          <p:nvSpPr>
            <p:cNvPr id="310" name="Google Shape;310;p22"/>
            <p:cNvSpPr/>
            <p:nvPr/>
          </p:nvSpPr>
          <p:spPr>
            <a:xfrm>
              <a:off x="2465775" y="2707675"/>
              <a:ext cx="1332300" cy="629700"/>
            </a:xfrm>
            <a:prstGeom prst="rect">
              <a:avLst/>
            </a:prstGeom>
            <a:solidFill>
              <a:srgbClr val="1B786E"/>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000">
                <a:solidFill>
                  <a:srgbClr val="FFFFFF"/>
                </a:solidFill>
                <a:latin typeface="Roboto"/>
                <a:ea typeface="Roboto"/>
                <a:cs typeface="Roboto"/>
                <a:sym typeface="Roboto"/>
              </a:endParaRPr>
            </a:p>
            <a:p>
              <a:pPr indent="0" lvl="0" marL="0" rtl="0" algn="ctr">
                <a:spcBef>
                  <a:spcPts val="0"/>
                </a:spcBef>
                <a:spcAft>
                  <a:spcPts val="0"/>
                </a:spcAft>
                <a:buNone/>
              </a:pPr>
              <a:r>
                <a:rPr b="1" lang="pt-BR" sz="1000">
                  <a:solidFill>
                    <a:srgbClr val="FFFFFF"/>
                  </a:solidFill>
                  <a:latin typeface="Roboto"/>
                  <a:ea typeface="Roboto"/>
                  <a:cs typeface="Roboto"/>
                  <a:sym typeface="Roboto"/>
                </a:rPr>
                <a:t>Guias para a oração</a:t>
              </a:r>
              <a:endParaRPr b="1" sz="1600">
                <a:solidFill>
                  <a:srgbClr val="FFFFFF"/>
                </a:solidFill>
              </a:endParaRPr>
            </a:p>
          </p:txBody>
        </p:sp>
        <p:sp>
          <p:nvSpPr>
            <p:cNvPr id="311" name="Google Shape;311;p22"/>
            <p:cNvSpPr/>
            <p:nvPr/>
          </p:nvSpPr>
          <p:spPr>
            <a:xfrm>
              <a:off x="2465775" y="2422675"/>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000">
                  <a:solidFill>
                    <a:srgbClr val="FFFFFF"/>
                  </a:solidFill>
                  <a:latin typeface="Roboto"/>
                  <a:ea typeface="Roboto"/>
                  <a:cs typeface="Roboto"/>
                  <a:sym typeface="Roboto"/>
                </a:rPr>
                <a:t>Grupos de oração</a:t>
              </a:r>
              <a:endParaRPr b="1" sz="1000">
                <a:solidFill>
                  <a:srgbClr val="FFFFFF"/>
                </a:solidFill>
              </a:endParaRPr>
            </a:p>
          </p:txBody>
        </p:sp>
      </p:grpSp>
      <p:grpSp>
        <p:nvGrpSpPr>
          <p:cNvPr id="312" name="Google Shape;312;p22"/>
          <p:cNvGrpSpPr/>
          <p:nvPr/>
        </p:nvGrpSpPr>
        <p:grpSpPr>
          <a:xfrm>
            <a:off x="2155500" y="1776925"/>
            <a:ext cx="1332300" cy="914700"/>
            <a:chOff x="2465775" y="2422675"/>
            <a:chExt cx="1332300" cy="914700"/>
          </a:xfrm>
        </p:grpSpPr>
        <p:sp>
          <p:nvSpPr>
            <p:cNvPr id="313" name="Google Shape;313;p22"/>
            <p:cNvSpPr/>
            <p:nvPr/>
          </p:nvSpPr>
          <p:spPr>
            <a:xfrm>
              <a:off x="2465775" y="2707675"/>
              <a:ext cx="1332300" cy="629700"/>
            </a:xfrm>
            <a:prstGeom prst="rect">
              <a:avLst/>
            </a:prstGeom>
            <a:solidFill>
              <a:srgbClr val="1B786E"/>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000">
                  <a:solidFill>
                    <a:srgbClr val="FFFFFF"/>
                  </a:solidFill>
                  <a:latin typeface="Roboto"/>
                  <a:ea typeface="Roboto"/>
                  <a:cs typeface="Roboto"/>
                  <a:sym typeface="Roboto"/>
                </a:rPr>
                <a:t>Direcionamento dos irmãos ao caminho da oração</a:t>
              </a:r>
              <a:endParaRPr sz="1000">
                <a:solidFill>
                  <a:srgbClr val="FFFFFF"/>
                </a:solidFill>
              </a:endParaRPr>
            </a:p>
          </p:txBody>
        </p:sp>
        <p:sp>
          <p:nvSpPr>
            <p:cNvPr id="314" name="Google Shape;314;p22"/>
            <p:cNvSpPr/>
            <p:nvPr/>
          </p:nvSpPr>
          <p:spPr>
            <a:xfrm>
              <a:off x="2465775" y="2422675"/>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000">
                  <a:solidFill>
                    <a:srgbClr val="FFFFFF"/>
                  </a:solidFill>
                  <a:latin typeface="Roboto"/>
                  <a:ea typeface="Roboto"/>
                  <a:cs typeface="Roboto"/>
                  <a:sym typeface="Roboto"/>
                </a:rPr>
                <a:t>Direcionamento Espiritual</a:t>
              </a:r>
              <a:endParaRPr b="1" sz="1000">
                <a:solidFill>
                  <a:srgbClr val="FFFFFF"/>
                </a:solidFill>
              </a:endParaRPr>
            </a:p>
          </p:txBody>
        </p:sp>
      </p:gr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10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3"/>
          <p:cNvSpPr txBox="1"/>
          <p:nvPr>
            <p:ph type="title"/>
          </p:nvPr>
        </p:nvSpPr>
        <p:spPr>
          <a:xfrm>
            <a:off x="1297500" y="393750"/>
            <a:ext cx="7038900" cy="5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Lugares favoráveis à oração</a:t>
            </a:r>
            <a:endParaRPr b="1"/>
          </a:p>
        </p:txBody>
      </p:sp>
      <p:pic>
        <p:nvPicPr>
          <p:cNvPr id="320" name="Google Shape;320;p23"/>
          <p:cNvPicPr preferRelativeResize="0"/>
          <p:nvPr/>
        </p:nvPicPr>
        <p:blipFill>
          <a:blip r:embed="rId3">
            <a:alphaModFix amt="20000"/>
          </a:blip>
          <a:stretch>
            <a:fillRect/>
          </a:stretch>
        </p:blipFill>
        <p:spPr>
          <a:xfrm>
            <a:off x="1098400" y="958350"/>
            <a:ext cx="7238009" cy="4066375"/>
          </a:xfrm>
          <a:prstGeom prst="rect">
            <a:avLst/>
          </a:prstGeom>
          <a:noFill/>
          <a:ln>
            <a:noFill/>
          </a:ln>
        </p:spPr>
      </p:pic>
      <p:sp>
        <p:nvSpPr>
          <p:cNvPr id="321" name="Google Shape;321;p23"/>
          <p:cNvSpPr txBox="1"/>
          <p:nvPr/>
        </p:nvSpPr>
        <p:spPr>
          <a:xfrm>
            <a:off x="4311800" y="1283038"/>
            <a:ext cx="3955800" cy="3417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pt-BR" sz="1500">
                <a:solidFill>
                  <a:schemeClr val="lt1"/>
                </a:solidFill>
              </a:rPr>
              <a:t>Devemos buscar a Deus no </a:t>
            </a:r>
            <a:r>
              <a:rPr b="1" lang="pt-BR" sz="1500">
                <a:solidFill>
                  <a:schemeClr val="lt1"/>
                </a:solidFill>
              </a:rPr>
              <a:t>recolhimento</a:t>
            </a:r>
            <a:r>
              <a:rPr lang="pt-BR" sz="1500">
                <a:solidFill>
                  <a:schemeClr val="lt1"/>
                </a:solidFill>
              </a:rPr>
              <a:t>. Para nos encontrar com Deus, precisamos nos encontrar conosco. Em recolhimento, fazemos o propósito de rezar bem, nos mantendo atentos no que dizemos e a quem dizemos. Nesses locais favoráveis, procuramos não nos perder em divagações que pioram quando nossa mente está perturbada por preocupações ou ansiedades ou enfraquecida por doenças ou cansaço. Somente as distrações que nascem da nossa indiferença e desinteresse fazem com que nossa oração deixe de ser uma oração. </a:t>
            </a:r>
            <a:endParaRPr sz="1500">
              <a:solidFill>
                <a:schemeClr val="lt1"/>
              </a:solidFill>
            </a:endParaRPr>
          </a:p>
        </p:txBody>
      </p:sp>
    </p:spTree>
  </p:cSld>
  <p:clrMapOvr>
    <a:masterClrMapping/>
  </p:clrMapOvr>
  <mc:AlternateContent>
    <mc:Choice Requires="p14">
      <p:transition spd="slow" p14:dur="1000">
        <p14:gallery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24"/>
          <p:cNvPicPr preferRelativeResize="0"/>
          <p:nvPr/>
        </p:nvPicPr>
        <p:blipFill>
          <a:blip r:embed="rId3">
            <a:alphaModFix amt="20000"/>
          </a:blip>
          <a:stretch>
            <a:fillRect/>
          </a:stretch>
        </p:blipFill>
        <p:spPr>
          <a:xfrm>
            <a:off x="80575" y="846275"/>
            <a:ext cx="6269950" cy="4131351"/>
          </a:xfrm>
          <a:prstGeom prst="rect">
            <a:avLst/>
          </a:prstGeom>
          <a:noFill/>
          <a:ln>
            <a:noFill/>
          </a:ln>
        </p:spPr>
      </p:pic>
      <p:sp>
        <p:nvSpPr>
          <p:cNvPr id="327" name="Google Shape;327;p24"/>
          <p:cNvSpPr txBox="1"/>
          <p:nvPr>
            <p:ph type="title"/>
          </p:nvPr>
        </p:nvSpPr>
        <p:spPr>
          <a:xfrm>
            <a:off x="1297500" y="393750"/>
            <a:ext cx="7038900" cy="5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Lugares favoráveis à oração</a:t>
            </a:r>
            <a:endParaRPr b="1"/>
          </a:p>
        </p:txBody>
      </p:sp>
      <p:sp>
        <p:nvSpPr>
          <p:cNvPr id="328" name="Google Shape;328;p24"/>
          <p:cNvSpPr txBox="1"/>
          <p:nvPr/>
        </p:nvSpPr>
        <p:spPr>
          <a:xfrm>
            <a:off x="4311800" y="1283038"/>
            <a:ext cx="3955800" cy="3648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pt-BR" sz="1500">
                <a:solidFill>
                  <a:schemeClr val="lt1"/>
                </a:solidFill>
              </a:rPr>
              <a:t>A Igreja, casa de Deus, é um lugar próprio de oração e adoração ao Santíssimo Sacramento. Para orações pessoais, pode-se ter um Recanto de oração, ou seja, um pequeno oratório com a Sagrada Escritura, imagens de Santos e velas. Lembrando que esses artigos não têm por si só qualquer efeito salvífico, mas servem como fontes de inspiração e lembretes de nossos intercessores. em regiões onde existem mosteiros, pode-se contar com essas comunidades para a partilha das Orações das horas. Pode-se também realizar peregrinações a santuários, em busca de fontes vivas e testemunhos de fé.</a:t>
            </a:r>
            <a:endParaRPr sz="1500">
              <a:solidFill>
                <a:schemeClr val="lt1"/>
              </a:solidFill>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5"/>
          <p:cNvSpPr txBox="1"/>
          <p:nvPr>
            <p:ph type="title"/>
          </p:nvPr>
        </p:nvSpPr>
        <p:spPr>
          <a:xfrm>
            <a:off x="1297500" y="393750"/>
            <a:ext cx="7038900" cy="5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Dificuldades da oração</a:t>
            </a:r>
            <a:endParaRPr b="1"/>
          </a:p>
        </p:txBody>
      </p:sp>
      <p:grpSp>
        <p:nvGrpSpPr>
          <p:cNvPr id="334" name="Google Shape;334;p25"/>
          <p:cNvGrpSpPr/>
          <p:nvPr/>
        </p:nvGrpSpPr>
        <p:grpSpPr>
          <a:xfrm>
            <a:off x="309995" y="1397139"/>
            <a:ext cx="7914205" cy="1281100"/>
            <a:chOff x="233800" y="1473400"/>
            <a:chExt cx="8447225" cy="1501700"/>
          </a:xfrm>
        </p:grpSpPr>
        <p:pic>
          <p:nvPicPr>
            <p:cNvPr id="335" name="Google Shape;335;p25"/>
            <p:cNvPicPr preferRelativeResize="0"/>
            <p:nvPr/>
          </p:nvPicPr>
          <p:blipFill>
            <a:blip r:embed="rId3">
              <a:alphaModFix/>
            </a:blip>
            <a:stretch>
              <a:fillRect/>
            </a:stretch>
          </p:blipFill>
          <p:spPr>
            <a:xfrm>
              <a:off x="233800" y="1473400"/>
              <a:ext cx="2109301" cy="1501700"/>
            </a:xfrm>
            <a:prstGeom prst="rect">
              <a:avLst/>
            </a:prstGeom>
            <a:noFill/>
            <a:ln>
              <a:noFill/>
            </a:ln>
          </p:spPr>
        </p:pic>
        <p:sp>
          <p:nvSpPr>
            <p:cNvPr id="336" name="Google Shape;336;p25"/>
            <p:cNvSpPr txBox="1"/>
            <p:nvPr/>
          </p:nvSpPr>
          <p:spPr>
            <a:xfrm>
              <a:off x="2594625" y="1618250"/>
              <a:ext cx="6086400" cy="990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800"/>
                </a:spcAft>
                <a:buNone/>
              </a:pPr>
              <a:r>
                <a:rPr lang="pt-BR" sz="1300">
                  <a:solidFill>
                    <a:schemeClr val="lt1"/>
                  </a:solidFill>
                </a:rPr>
                <a:t>– A “</a:t>
              </a:r>
              <a:r>
                <a:rPr b="1" lang="pt-BR" sz="1300" u="sng">
                  <a:solidFill>
                    <a:schemeClr val="lt1"/>
                  </a:solidFill>
                </a:rPr>
                <a:t>distração</a:t>
              </a:r>
              <a:r>
                <a:rPr lang="pt-BR" sz="1300">
                  <a:solidFill>
                    <a:schemeClr val="lt1"/>
                  </a:solidFill>
                </a:rPr>
                <a:t>” é a dificuldade habitual da nossa oração. Ela afasta da atenção a Deus e pode também revelar aquilo a que estamos apegados. O nosso coração deve então regressar humildemente ao Senhor.</a:t>
              </a:r>
              <a:endParaRPr sz="1300">
                <a:solidFill>
                  <a:schemeClr val="lt1"/>
                </a:solidFill>
              </a:endParaRPr>
            </a:p>
          </p:txBody>
        </p:sp>
      </p:grpSp>
      <p:grpSp>
        <p:nvGrpSpPr>
          <p:cNvPr id="337" name="Google Shape;337;p25"/>
          <p:cNvGrpSpPr/>
          <p:nvPr/>
        </p:nvGrpSpPr>
        <p:grpSpPr>
          <a:xfrm>
            <a:off x="233800" y="2633850"/>
            <a:ext cx="8624875" cy="1281100"/>
            <a:chOff x="233800" y="2633850"/>
            <a:chExt cx="8624875" cy="1281100"/>
          </a:xfrm>
        </p:grpSpPr>
        <p:pic>
          <p:nvPicPr>
            <p:cNvPr id="338" name="Google Shape;338;p25"/>
            <p:cNvPicPr preferRelativeResize="0"/>
            <p:nvPr/>
          </p:nvPicPr>
          <p:blipFill>
            <a:blip r:embed="rId4">
              <a:alphaModFix/>
            </a:blip>
            <a:stretch>
              <a:fillRect/>
            </a:stretch>
          </p:blipFill>
          <p:spPr>
            <a:xfrm>
              <a:off x="6887050" y="2633850"/>
              <a:ext cx="1971625" cy="1281100"/>
            </a:xfrm>
            <a:prstGeom prst="rect">
              <a:avLst/>
            </a:prstGeom>
            <a:noFill/>
            <a:ln>
              <a:noFill/>
            </a:ln>
          </p:spPr>
        </p:pic>
        <p:sp>
          <p:nvSpPr>
            <p:cNvPr id="339" name="Google Shape;339;p25"/>
            <p:cNvSpPr txBox="1"/>
            <p:nvPr/>
          </p:nvSpPr>
          <p:spPr>
            <a:xfrm>
              <a:off x="233800" y="2966900"/>
              <a:ext cx="6493500" cy="615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800"/>
                </a:spcAft>
                <a:buNone/>
              </a:pPr>
              <a:r>
                <a:rPr lang="pt-BR" sz="1300">
                  <a:solidFill>
                    <a:schemeClr val="lt1"/>
                  </a:solidFill>
                </a:rPr>
                <a:t>– A oração é muitas vezes insidiada pela “</a:t>
              </a:r>
              <a:r>
                <a:rPr b="1" lang="pt-BR" sz="1300" u="sng">
                  <a:solidFill>
                    <a:schemeClr val="lt1"/>
                  </a:solidFill>
                </a:rPr>
                <a:t>aridez</a:t>
              </a:r>
              <a:r>
                <a:rPr lang="pt-BR" sz="1300">
                  <a:solidFill>
                    <a:schemeClr val="lt1"/>
                  </a:solidFill>
                </a:rPr>
                <a:t>”, cuja superação, na fé, permite aderir ao Senhor, mesmo sem uma consolação sensível.</a:t>
              </a:r>
              <a:endParaRPr sz="1300">
                <a:solidFill>
                  <a:schemeClr val="lt1"/>
                </a:solidFill>
              </a:endParaRPr>
            </a:p>
          </p:txBody>
        </p:sp>
      </p:grpSp>
      <p:grpSp>
        <p:nvGrpSpPr>
          <p:cNvPr id="340" name="Google Shape;340;p25"/>
          <p:cNvGrpSpPr/>
          <p:nvPr/>
        </p:nvGrpSpPr>
        <p:grpSpPr>
          <a:xfrm>
            <a:off x="270800" y="3708375"/>
            <a:ext cx="8587875" cy="1281100"/>
            <a:chOff x="270800" y="3708375"/>
            <a:chExt cx="8587875" cy="1281100"/>
          </a:xfrm>
        </p:grpSpPr>
        <p:sp>
          <p:nvSpPr>
            <p:cNvPr id="341" name="Google Shape;341;p25"/>
            <p:cNvSpPr txBox="1"/>
            <p:nvPr/>
          </p:nvSpPr>
          <p:spPr>
            <a:xfrm>
              <a:off x="2467175" y="4041425"/>
              <a:ext cx="6391500" cy="615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800"/>
                </a:spcAft>
                <a:buNone/>
              </a:pPr>
              <a:r>
                <a:rPr lang="pt-BR" sz="1300">
                  <a:solidFill>
                    <a:schemeClr val="lt1"/>
                  </a:solidFill>
                </a:rPr>
                <a:t>– A “</a:t>
              </a:r>
              <a:r>
                <a:rPr b="1" lang="pt-BR" sz="1300" u="sng">
                  <a:solidFill>
                    <a:schemeClr val="lt1"/>
                  </a:solidFill>
                </a:rPr>
                <a:t>acédia</a:t>
              </a:r>
              <a:r>
                <a:rPr lang="pt-BR" sz="1300">
                  <a:solidFill>
                    <a:schemeClr val="lt1"/>
                  </a:solidFill>
                </a:rPr>
                <a:t>” é uma forma de preguiça espiritual devida ao relaxamento da vigilância e à negligência na guarda do coração.</a:t>
              </a:r>
              <a:endParaRPr sz="1300">
                <a:solidFill>
                  <a:schemeClr val="lt1"/>
                </a:solidFill>
              </a:endParaRPr>
            </a:p>
          </p:txBody>
        </p:sp>
        <p:pic>
          <p:nvPicPr>
            <p:cNvPr id="342" name="Google Shape;342;p25"/>
            <p:cNvPicPr preferRelativeResize="0"/>
            <p:nvPr/>
          </p:nvPicPr>
          <p:blipFill>
            <a:blip r:embed="rId5">
              <a:alphaModFix/>
            </a:blip>
            <a:stretch>
              <a:fillRect/>
            </a:stretch>
          </p:blipFill>
          <p:spPr>
            <a:xfrm>
              <a:off x="270800" y="3708375"/>
              <a:ext cx="1964225" cy="1281100"/>
            </a:xfrm>
            <a:prstGeom prst="rect">
              <a:avLst/>
            </a:prstGeom>
            <a:noFill/>
            <a:ln>
              <a:noFill/>
            </a:ln>
          </p:spPr>
        </p:pic>
      </p:gr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4"/>
                                        </p:tgtEl>
                                        <p:attrNameLst>
                                          <p:attrName>style.visibility</p:attrName>
                                        </p:attrNameLst>
                                      </p:cBhvr>
                                      <p:to>
                                        <p:strVal val="visible"/>
                                      </p:to>
                                    </p:set>
                                    <p:anim calcmode="lin" valueType="num">
                                      <p:cBhvr additive="base">
                                        <p:cTn dur="1000"/>
                                        <p:tgtEl>
                                          <p:spTgt spid="33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37"/>
                                        </p:tgtEl>
                                        <p:attrNameLst>
                                          <p:attrName>style.visibility</p:attrName>
                                        </p:attrNameLst>
                                      </p:cBhvr>
                                      <p:to>
                                        <p:strVal val="visible"/>
                                      </p:to>
                                    </p:set>
                                    <p:anim calcmode="lin" valueType="num">
                                      <p:cBhvr additive="base">
                                        <p:cTn dur="1000"/>
                                        <p:tgtEl>
                                          <p:spTgt spid="33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0"/>
                                        </p:tgtEl>
                                        <p:attrNameLst>
                                          <p:attrName>style.visibility</p:attrName>
                                        </p:attrNameLst>
                                      </p:cBhvr>
                                      <p:to>
                                        <p:strVal val="visible"/>
                                      </p:to>
                                    </p:set>
                                    <p:anim calcmode="lin" valueType="num">
                                      <p:cBhvr additive="base">
                                        <p:cTn dur="1000"/>
                                        <p:tgtEl>
                                          <p:spTgt spid="34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6"/>
          <p:cNvSpPr txBox="1"/>
          <p:nvPr>
            <p:ph type="title"/>
          </p:nvPr>
        </p:nvSpPr>
        <p:spPr>
          <a:xfrm>
            <a:off x="1297500" y="393750"/>
            <a:ext cx="7038900" cy="62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Mas afinal, o que pedir em Oração</a:t>
            </a:r>
            <a:r>
              <a:rPr b="1" lang="pt-BR"/>
              <a:t>?</a:t>
            </a:r>
            <a:endParaRPr b="1"/>
          </a:p>
        </p:txBody>
      </p:sp>
      <p:sp>
        <p:nvSpPr>
          <p:cNvPr id="348" name="Google Shape;348;p26"/>
          <p:cNvSpPr txBox="1"/>
          <p:nvPr/>
        </p:nvSpPr>
        <p:spPr>
          <a:xfrm>
            <a:off x="44100" y="1477925"/>
            <a:ext cx="8947500" cy="3540300"/>
          </a:xfrm>
          <a:prstGeom prst="rect">
            <a:avLst/>
          </a:prstGeom>
          <a:noFill/>
          <a:ln>
            <a:noFill/>
          </a:ln>
        </p:spPr>
        <p:txBody>
          <a:bodyPr anchorCtr="0" anchor="t" bIns="91425" lIns="91425" spcFirstLastPara="1" rIns="91425" wrap="square" tIns="91425">
            <a:spAutoFit/>
          </a:bodyPr>
          <a:lstStyle/>
          <a:p>
            <a:pPr indent="-304800" lvl="0" marL="457200" rtl="0" algn="just">
              <a:lnSpc>
                <a:spcPct val="100000"/>
              </a:lnSpc>
              <a:spcBef>
                <a:spcPts val="1000"/>
              </a:spcBef>
              <a:spcAft>
                <a:spcPts val="0"/>
              </a:spcAft>
              <a:buClr>
                <a:schemeClr val="lt1"/>
              </a:buClr>
              <a:buSzPts val="1200"/>
              <a:buChar char="●"/>
            </a:pPr>
            <a:r>
              <a:rPr lang="pt-BR" sz="1200">
                <a:solidFill>
                  <a:schemeClr val="lt1"/>
                </a:solidFill>
              </a:rPr>
              <a:t>As nossas orações precisam ser por necessidades e desejos que sejam verdadeiros, e não egoístas. Pois quando pedimos apenas pelas nossas vaidades não seremos atendidos.</a:t>
            </a:r>
            <a:br>
              <a:rPr lang="pt-BR" sz="1200">
                <a:solidFill>
                  <a:schemeClr val="lt1"/>
                </a:solidFill>
              </a:rPr>
            </a:br>
            <a:r>
              <a:rPr lang="pt-BR" sz="1200">
                <a:solidFill>
                  <a:schemeClr val="lt1"/>
                </a:solidFill>
              </a:rPr>
              <a:t>“Pedis, e não recebeis, porque pedis mal, para o gastardes em vossos deleites.” </a:t>
            </a:r>
            <a:r>
              <a:rPr lang="pt-BR" sz="1200">
                <a:solidFill>
                  <a:schemeClr val="lt1"/>
                </a:solidFill>
                <a:uFill>
                  <a:noFill/>
                </a:uFill>
                <a:hlinkClick r:id="rId3">
                  <a:extLst>
                    <a:ext uri="{A12FA001-AC4F-418D-AE19-62706E023703}">
                      <ahyp:hlinkClr val="tx"/>
                    </a:ext>
                  </a:extLst>
                </a:hlinkClick>
              </a:rPr>
              <a:t>Tiago 4, 3</a:t>
            </a:r>
            <a:r>
              <a:rPr lang="pt-BR" sz="1200">
                <a:solidFill>
                  <a:schemeClr val="lt1"/>
                </a:solidFill>
              </a:rPr>
              <a:t>.</a:t>
            </a:r>
            <a:endParaRPr sz="1200">
              <a:solidFill>
                <a:schemeClr val="lt1"/>
              </a:solidFill>
            </a:endParaRPr>
          </a:p>
          <a:p>
            <a:pPr indent="0" lvl="0" marL="457200" rtl="0" algn="just">
              <a:lnSpc>
                <a:spcPct val="100000"/>
              </a:lnSpc>
              <a:spcBef>
                <a:spcPts val="1000"/>
              </a:spcBef>
              <a:spcAft>
                <a:spcPts val="0"/>
              </a:spcAft>
              <a:buNone/>
            </a:pPr>
            <a:r>
              <a:t/>
            </a:r>
            <a:endParaRPr sz="1200">
              <a:solidFill>
                <a:schemeClr val="lt1"/>
              </a:solidFill>
            </a:endParaRPr>
          </a:p>
          <a:p>
            <a:pPr indent="-304800" lvl="0" marL="457200" rtl="0" algn="just">
              <a:lnSpc>
                <a:spcPct val="100000"/>
              </a:lnSpc>
              <a:spcBef>
                <a:spcPts val="1000"/>
              </a:spcBef>
              <a:spcAft>
                <a:spcPts val="0"/>
              </a:spcAft>
              <a:buClr>
                <a:schemeClr val="lt1"/>
              </a:buClr>
              <a:buSzPts val="1200"/>
              <a:buChar char="●"/>
            </a:pPr>
            <a:r>
              <a:rPr lang="pt-BR" sz="1200">
                <a:solidFill>
                  <a:schemeClr val="lt1"/>
                </a:solidFill>
              </a:rPr>
              <a:t>O que pedimos precisa estar segundo o coração de Deus. Pois as nossas vontades são pecaminosas, e nem sempre o que pedimos é para o nosso bem.</a:t>
            </a:r>
            <a:br>
              <a:rPr lang="pt-BR" sz="1200">
                <a:solidFill>
                  <a:schemeClr val="lt1"/>
                </a:solidFill>
              </a:rPr>
            </a:br>
            <a:r>
              <a:rPr lang="pt-BR" sz="1200">
                <a:solidFill>
                  <a:schemeClr val="lt1"/>
                </a:solidFill>
              </a:rPr>
              <a:t>“E esta é a confiança que temos nele, que, se pedirmos alguma coisa, segundo a sua vontade, ele nos ouve.” </a:t>
            </a:r>
            <a:r>
              <a:rPr lang="pt-BR" sz="1200">
                <a:solidFill>
                  <a:schemeClr val="lt1"/>
                </a:solidFill>
                <a:uFill>
                  <a:noFill/>
                </a:uFill>
                <a:hlinkClick r:id="rId4">
                  <a:extLst>
                    <a:ext uri="{A12FA001-AC4F-418D-AE19-62706E023703}">
                      <ahyp:hlinkClr val="tx"/>
                    </a:ext>
                  </a:extLst>
                </a:hlinkClick>
              </a:rPr>
              <a:t>1 João 5, 14</a:t>
            </a:r>
            <a:endParaRPr sz="1200">
              <a:solidFill>
                <a:schemeClr val="lt1"/>
              </a:solidFill>
            </a:endParaRPr>
          </a:p>
          <a:p>
            <a:pPr indent="0" lvl="0" marL="457200" rtl="0" algn="just">
              <a:lnSpc>
                <a:spcPct val="100000"/>
              </a:lnSpc>
              <a:spcBef>
                <a:spcPts val="1000"/>
              </a:spcBef>
              <a:spcAft>
                <a:spcPts val="0"/>
              </a:spcAft>
              <a:buNone/>
            </a:pPr>
            <a:r>
              <a:t/>
            </a:r>
            <a:endParaRPr sz="1200">
              <a:solidFill>
                <a:schemeClr val="lt1"/>
              </a:solidFill>
            </a:endParaRPr>
          </a:p>
          <a:p>
            <a:pPr indent="-304800" lvl="0" marL="457200" rtl="0" algn="just">
              <a:lnSpc>
                <a:spcPct val="100000"/>
              </a:lnSpc>
              <a:spcBef>
                <a:spcPts val="1000"/>
              </a:spcBef>
              <a:spcAft>
                <a:spcPts val="0"/>
              </a:spcAft>
              <a:buClr>
                <a:schemeClr val="lt1"/>
              </a:buClr>
              <a:buSzPts val="1200"/>
              <a:buChar char="●"/>
            </a:pPr>
            <a:r>
              <a:rPr lang="pt-BR" sz="1200">
                <a:solidFill>
                  <a:schemeClr val="lt1"/>
                </a:solidFill>
              </a:rPr>
              <a:t>Precisamos saber pedir para que possamos receber. A oração é a forma como podemos nos conectar com Deus, e quando necessitamos de algo, precisamos pedir a Ele.</a:t>
            </a:r>
            <a:br>
              <a:rPr lang="pt-BR" sz="1200">
                <a:solidFill>
                  <a:schemeClr val="lt1"/>
                </a:solidFill>
              </a:rPr>
            </a:br>
            <a:r>
              <a:rPr lang="pt-BR" sz="1200">
                <a:solidFill>
                  <a:schemeClr val="lt1"/>
                </a:solidFill>
              </a:rPr>
              <a:t>"Peçam e vos será dado; buscai e achareis, batei e vos será aberto" </a:t>
            </a:r>
            <a:r>
              <a:rPr lang="pt-BR" sz="1200">
                <a:solidFill>
                  <a:schemeClr val="lt1"/>
                </a:solidFill>
                <a:uFill>
                  <a:noFill/>
                </a:uFill>
                <a:hlinkClick r:id="rId5">
                  <a:extLst>
                    <a:ext uri="{A12FA001-AC4F-418D-AE19-62706E023703}">
                      <ahyp:hlinkClr val="tx"/>
                    </a:ext>
                  </a:extLst>
                </a:hlinkClick>
              </a:rPr>
              <a:t>Mateus 7, 7</a:t>
            </a:r>
            <a:r>
              <a:rPr lang="pt-BR" sz="1200">
                <a:solidFill>
                  <a:schemeClr val="lt1"/>
                </a:solidFill>
              </a:rPr>
              <a:t>.</a:t>
            </a:r>
            <a:endParaRPr sz="1200">
              <a:solidFill>
                <a:schemeClr val="lt1"/>
              </a:solidFill>
            </a:endParaRPr>
          </a:p>
          <a:p>
            <a:pPr indent="0" lvl="0" marL="457200" rtl="0" algn="just">
              <a:lnSpc>
                <a:spcPct val="100000"/>
              </a:lnSpc>
              <a:spcBef>
                <a:spcPts val="1000"/>
              </a:spcBef>
              <a:spcAft>
                <a:spcPts val="0"/>
              </a:spcAft>
              <a:buNone/>
            </a:pPr>
            <a:r>
              <a:t/>
            </a:r>
            <a:endParaRPr sz="1200">
              <a:solidFill>
                <a:schemeClr val="lt1"/>
              </a:solidFill>
            </a:endParaRPr>
          </a:p>
          <a:p>
            <a:pPr indent="-304800" lvl="0" marL="457200" rtl="0" algn="just">
              <a:lnSpc>
                <a:spcPct val="100000"/>
              </a:lnSpc>
              <a:spcBef>
                <a:spcPts val="1000"/>
              </a:spcBef>
              <a:spcAft>
                <a:spcPts val="0"/>
              </a:spcAft>
              <a:buClr>
                <a:schemeClr val="lt1"/>
              </a:buClr>
              <a:buSzPts val="1200"/>
              <a:buChar char="●"/>
            </a:pPr>
            <a:r>
              <a:rPr lang="pt-BR" sz="1200">
                <a:solidFill>
                  <a:schemeClr val="lt1"/>
                </a:solidFill>
              </a:rPr>
              <a:t>É necessário que de forma constante estejamos em oração, pois assim estaremos em todo o tempo em contato com Deus.</a:t>
            </a:r>
            <a:endParaRPr b="1">
              <a:solidFill>
                <a:schemeClr val="lt1"/>
              </a:solidFill>
            </a:endParaRPr>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7"/>
          <p:cNvSpPr txBox="1"/>
          <p:nvPr>
            <p:ph type="title"/>
          </p:nvPr>
        </p:nvSpPr>
        <p:spPr>
          <a:xfrm>
            <a:off x="1297500" y="393750"/>
            <a:ext cx="7038900" cy="108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Mas eu ainda não sei orar. Não sei como conversar com Deus. E agora? </a:t>
            </a:r>
            <a:endParaRPr b="1"/>
          </a:p>
        </p:txBody>
      </p:sp>
      <p:pic>
        <p:nvPicPr>
          <p:cNvPr id="354" name="Google Shape;354;p27"/>
          <p:cNvPicPr preferRelativeResize="0"/>
          <p:nvPr/>
        </p:nvPicPr>
        <p:blipFill>
          <a:blip r:embed="rId3">
            <a:alphaModFix/>
          </a:blip>
          <a:stretch>
            <a:fillRect/>
          </a:stretch>
        </p:blipFill>
        <p:spPr>
          <a:xfrm>
            <a:off x="1149675" y="1477950"/>
            <a:ext cx="2361608" cy="3360750"/>
          </a:xfrm>
          <a:prstGeom prst="rect">
            <a:avLst/>
          </a:prstGeom>
          <a:noFill/>
          <a:ln>
            <a:noFill/>
          </a:ln>
        </p:spPr>
      </p:pic>
      <p:pic>
        <p:nvPicPr>
          <p:cNvPr id="355" name="Google Shape;355;p27"/>
          <p:cNvPicPr preferRelativeResize="0"/>
          <p:nvPr/>
        </p:nvPicPr>
        <p:blipFill>
          <a:blip r:embed="rId4">
            <a:alphaModFix/>
          </a:blip>
          <a:stretch>
            <a:fillRect/>
          </a:stretch>
        </p:blipFill>
        <p:spPr>
          <a:xfrm>
            <a:off x="3744033" y="1598500"/>
            <a:ext cx="5327916" cy="3196750"/>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54"/>
                                        </p:tgtEl>
                                        <p:attrNameLst>
                                          <p:attrName>style.visibility</p:attrName>
                                        </p:attrNameLst>
                                      </p:cBhvr>
                                      <p:to>
                                        <p:strVal val="visible"/>
                                      </p:to>
                                    </p:set>
                                    <p:anim calcmode="lin" valueType="num">
                                      <p:cBhvr additive="base">
                                        <p:cTn dur="1000"/>
                                        <p:tgtEl>
                                          <p:spTgt spid="354"/>
                                        </p:tgtEl>
                                        <p:attrNameLst>
                                          <p:attrName>ppt_w</p:attrName>
                                        </p:attrNameLst>
                                      </p:cBhvr>
                                      <p:tavLst>
                                        <p:tav fmla="" tm="0">
                                          <p:val>
                                            <p:strVal val="0"/>
                                          </p:val>
                                        </p:tav>
                                        <p:tav fmla="" tm="100000">
                                          <p:val>
                                            <p:strVal val="#ppt_w"/>
                                          </p:val>
                                        </p:tav>
                                      </p:tavLst>
                                    </p:anim>
                                    <p:anim calcmode="lin" valueType="num">
                                      <p:cBhvr additive="base">
                                        <p:cTn dur="1000"/>
                                        <p:tgtEl>
                                          <p:spTgt spid="35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1000"/>
                                        <p:tgtEl>
                                          <p:spTgt spid="355"/>
                                        </p:tgtEl>
                                        <p:attrNameLst>
                                          <p:attrName>ppt_w</p:attrName>
                                        </p:attrNameLst>
                                      </p:cBhvr>
                                      <p:tavLst>
                                        <p:tav fmla="" tm="0">
                                          <p:val>
                                            <p:strVal val="0"/>
                                          </p:val>
                                        </p:tav>
                                        <p:tav fmla="" tm="100000">
                                          <p:val>
                                            <p:strVal val="#ppt_w"/>
                                          </p:val>
                                        </p:tav>
                                      </p:tavLst>
                                    </p:anim>
                                    <p:anim calcmode="lin" valueType="num">
                                      <p:cBhvr additive="base">
                                        <p:cTn dur="1000"/>
                                        <p:tgtEl>
                                          <p:spTgt spid="35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8"/>
          <p:cNvSpPr txBox="1"/>
          <p:nvPr>
            <p:ph type="title"/>
          </p:nvPr>
        </p:nvSpPr>
        <p:spPr>
          <a:xfrm rot="2288326">
            <a:off x="4517287" y="2146892"/>
            <a:ext cx="4446310" cy="627516"/>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A ORAÇÃO DO PAI NOSSO</a:t>
            </a:r>
            <a:endParaRPr b="1"/>
          </a:p>
        </p:txBody>
      </p:sp>
      <p:pic>
        <p:nvPicPr>
          <p:cNvPr id="361" name="Google Shape;361;p28"/>
          <p:cNvPicPr preferRelativeResize="0"/>
          <p:nvPr/>
        </p:nvPicPr>
        <p:blipFill>
          <a:blip r:embed="rId3">
            <a:alphaModFix amt="20000"/>
          </a:blip>
          <a:stretch>
            <a:fillRect/>
          </a:stretch>
        </p:blipFill>
        <p:spPr>
          <a:xfrm>
            <a:off x="1038575" y="363049"/>
            <a:ext cx="3028025" cy="4417400"/>
          </a:xfrm>
          <a:prstGeom prst="rect">
            <a:avLst/>
          </a:prstGeom>
          <a:noFill/>
          <a:ln>
            <a:noFill/>
          </a:ln>
        </p:spPr>
      </p:pic>
      <p:sp>
        <p:nvSpPr>
          <p:cNvPr id="362" name="Google Shape;362;p28"/>
          <p:cNvSpPr txBox="1"/>
          <p:nvPr/>
        </p:nvSpPr>
        <p:spPr>
          <a:xfrm>
            <a:off x="6234200" y="4212325"/>
            <a:ext cx="101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rgbClr val="83E3D9"/>
                </a:solidFill>
                <a:latin typeface="Lato"/>
                <a:ea typeface="Lato"/>
                <a:cs typeface="Lato"/>
                <a:sym typeface="Lato"/>
              </a:rPr>
              <a:t>Mt 6, 7-13</a:t>
            </a:r>
            <a:endParaRPr u="sng">
              <a:solidFill>
                <a:srgbClr val="83E3D9"/>
              </a:solidFill>
              <a:latin typeface="Lato"/>
              <a:ea typeface="Lato"/>
              <a:cs typeface="Lato"/>
              <a:sym typeface="Lato"/>
            </a:endParaRPr>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360"/>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36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9"/>
          <p:cNvSpPr txBox="1"/>
          <p:nvPr/>
        </p:nvSpPr>
        <p:spPr>
          <a:xfrm>
            <a:off x="1053900" y="2629100"/>
            <a:ext cx="7282500" cy="1403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i="1" lang="pt-BR" sz="2400">
                <a:solidFill>
                  <a:schemeClr val="accent2"/>
                </a:solidFill>
                <a:latin typeface="Lato"/>
                <a:ea typeface="Lato"/>
                <a:cs typeface="Lato"/>
                <a:sym typeface="Lato"/>
              </a:rPr>
              <a:t>Percorrei todas as orações que se encontram nas Escrituras, e eu não creio que possais encontrar nelas algo que não esteja incluído na Oração do Senhor.</a:t>
            </a:r>
            <a:endParaRPr i="1" sz="2400">
              <a:solidFill>
                <a:schemeClr val="accent2"/>
              </a:solidFill>
              <a:latin typeface="Lato"/>
              <a:ea typeface="Lato"/>
              <a:cs typeface="Lato"/>
              <a:sym typeface="Lato"/>
            </a:endParaRPr>
          </a:p>
        </p:txBody>
      </p:sp>
      <p:sp>
        <p:nvSpPr>
          <p:cNvPr id="368" name="Google Shape;368;p29"/>
          <p:cNvSpPr txBox="1"/>
          <p:nvPr>
            <p:ph idx="1" type="body"/>
          </p:nvPr>
        </p:nvSpPr>
        <p:spPr>
          <a:xfrm>
            <a:off x="1297500" y="1567550"/>
            <a:ext cx="7038900" cy="6282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0"/>
              </a:spcBef>
              <a:spcAft>
                <a:spcPts val="1200"/>
              </a:spcAft>
              <a:buNone/>
            </a:pPr>
            <a:r>
              <a:rPr lang="pt-BR" sz="3500"/>
              <a:t>Santo Agostinho:</a:t>
            </a:r>
            <a:endParaRPr sz="3500"/>
          </a:p>
        </p:txBody>
      </p:sp>
      <p:sp>
        <p:nvSpPr>
          <p:cNvPr id="369" name="Google Shape;369;p29"/>
          <p:cNvSpPr txBox="1"/>
          <p:nvPr>
            <p:ph type="title"/>
          </p:nvPr>
        </p:nvSpPr>
        <p:spPr>
          <a:xfrm rot="-464">
            <a:off x="1428237" y="506290"/>
            <a:ext cx="4446300" cy="62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A ORAÇÃO DO PAI NOSSO</a:t>
            </a:r>
            <a:endParaRPr b="1"/>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30"/>
          <p:cNvPicPr preferRelativeResize="0"/>
          <p:nvPr/>
        </p:nvPicPr>
        <p:blipFill>
          <a:blip r:embed="rId3">
            <a:alphaModFix amt="20000"/>
          </a:blip>
          <a:stretch>
            <a:fillRect/>
          </a:stretch>
        </p:blipFill>
        <p:spPr>
          <a:xfrm>
            <a:off x="1038575" y="363050"/>
            <a:ext cx="3028025" cy="4417401"/>
          </a:xfrm>
          <a:prstGeom prst="rect">
            <a:avLst/>
          </a:prstGeom>
          <a:noFill/>
          <a:ln>
            <a:noFill/>
          </a:ln>
        </p:spPr>
      </p:pic>
      <p:sp>
        <p:nvSpPr>
          <p:cNvPr id="375" name="Google Shape;375;p30"/>
          <p:cNvSpPr txBox="1"/>
          <p:nvPr>
            <p:ph idx="1" type="body"/>
          </p:nvPr>
        </p:nvSpPr>
        <p:spPr>
          <a:xfrm>
            <a:off x="4486325" y="1582325"/>
            <a:ext cx="3990900" cy="32583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BR" sz="1500"/>
              <a:t>A primeira palavra da Oração do Senhor é em si uma bênção de adoração, pois reconhecemos o papel de Deus como criador, Senhor do universo. A ele rendemos graças por nos ter concedido crer nele. Quando chamamos a Deus de pai, também estamos nos declarando desejo de conversão, porque devemos nos comportar como filhos de Deus.</a:t>
            </a:r>
            <a:endParaRPr sz="1500"/>
          </a:p>
        </p:txBody>
      </p:sp>
      <p:sp>
        <p:nvSpPr>
          <p:cNvPr id="376" name="Google Shape;376;p30"/>
          <p:cNvSpPr txBox="1"/>
          <p:nvPr>
            <p:ph type="title"/>
          </p:nvPr>
        </p:nvSpPr>
        <p:spPr>
          <a:xfrm rot="-464">
            <a:off x="4258637" y="506290"/>
            <a:ext cx="4446300" cy="62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A ORAÇÃO DO PAI NOSSO</a:t>
            </a:r>
            <a:endParaRPr b="1"/>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31"/>
          <p:cNvPicPr preferRelativeResize="0"/>
          <p:nvPr/>
        </p:nvPicPr>
        <p:blipFill>
          <a:blip r:embed="rId3">
            <a:alphaModFix amt="20000"/>
          </a:blip>
          <a:stretch>
            <a:fillRect/>
          </a:stretch>
        </p:blipFill>
        <p:spPr>
          <a:xfrm>
            <a:off x="1038574" y="363050"/>
            <a:ext cx="3028025" cy="4417407"/>
          </a:xfrm>
          <a:prstGeom prst="rect">
            <a:avLst/>
          </a:prstGeom>
          <a:noFill/>
          <a:ln>
            <a:noFill/>
          </a:ln>
        </p:spPr>
      </p:pic>
      <p:sp>
        <p:nvSpPr>
          <p:cNvPr id="382" name="Google Shape;382;p31"/>
          <p:cNvSpPr txBox="1"/>
          <p:nvPr>
            <p:ph idx="1" type="body"/>
          </p:nvPr>
        </p:nvSpPr>
        <p:spPr>
          <a:xfrm>
            <a:off x="4486325" y="1582325"/>
            <a:ext cx="3990900" cy="32583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BR" sz="1500"/>
              <a:t>“Nosso”, nesse caso, não expressa propriedade, e sim uma relação de que esse Deus é o Deus de todo o seu povo. Quando rezamos ao Pai, rezamos igualmente ao Filho e ao Espírito Santo, pois são um Deus Uno e Trino. O “nosso” também denota que não excluímos ninguém dessa oração. Rezamos juntos e em prol de todos os filhos de Deus, daqueles que O conhecem, daqueles que O desconhecem e até mesmo daqueles que ainda O rejeitam, mas podem se converter. </a:t>
            </a:r>
            <a:endParaRPr sz="1500"/>
          </a:p>
        </p:txBody>
      </p:sp>
      <p:sp>
        <p:nvSpPr>
          <p:cNvPr id="383" name="Google Shape;383;p31"/>
          <p:cNvSpPr txBox="1"/>
          <p:nvPr>
            <p:ph type="title"/>
          </p:nvPr>
        </p:nvSpPr>
        <p:spPr>
          <a:xfrm rot="-464">
            <a:off x="4258637" y="506290"/>
            <a:ext cx="4446300" cy="62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A ORAÇÃO DO PAI NOSSO</a:t>
            </a:r>
            <a:endParaRPr b="1"/>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32"/>
          <p:cNvPicPr preferRelativeResize="0"/>
          <p:nvPr/>
        </p:nvPicPr>
        <p:blipFill>
          <a:blip r:embed="rId3">
            <a:alphaModFix amt="20000"/>
          </a:blip>
          <a:stretch>
            <a:fillRect/>
          </a:stretch>
        </p:blipFill>
        <p:spPr>
          <a:xfrm>
            <a:off x="1038574" y="363050"/>
            <a:ext cx="3028025" cy="4417419"/>
          </a:xfrm>
          <a:prstGeom prst="rect">
            <a:avLst/>
          </a:prstGeom>
          <a:noFill/>
          <a:ln>
            <a:noFill/>
          </a:ln>
        </p:spPr>
      </p:pic>
      <p:sp>
        <p:nvSpPr>
          <p:cNvPr id="389" name="Google Shape;389;p32"/>
          <p:cNvSpPr txBox="1"/>
          <p:nvPr>
            <p:ph idx="1" type="body"/>
          </p:nvPr>
        </p:nvSpPr>
        <p:spPr>
          <a:xfrm>
            <a:off x="4486325" y="1582325"/>
            <a:ext cx="3990900" cy="32583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BR" sz="1500"/>
              <a:t>Céu aqui não representa um lugar físico, mas sim a maneira de ser do Pai. Ele é três vezes Santo, habita o coração dos justos e aqueles que trazem a imagem do mundo celeste. Quando professamos "Pai nosso, que estais nos céus", afirmamos que o destino dos fiéis em Cristo é a presença de Deus, a casa do Pai.</a:t>
            </a:r>
            <a:endParaRPr sz="1500"/>
          </a:p>
        </p:txBody>
      </p:sp>
      <p:sp>
        <p:nvSpPr>
          <p:cNvPr id="390" name="Google Shape;390;p32"/>
          <p:cNvSpPr txBox="1"/>
          <p:nvPr>
            <p:ph type="title"/>
          </p:nvPr>
        </p:nvSpPr>
        <p:spPr>
          <a:xfrm rot="-464">
            <a:off x="4258637" y="506290"/>
            <a:ext cx="4446300" cy="62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A ORAÇÃO DO PAI NOSSO</a:t>
            </a:r>
            <a:endParaRPr b="1"/>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id="395" name="Google Shape;395;p33"/>
          <p:cNvPicPr preferRelativeResize="0"/>
          <p:nvPr/>
        </p:nvPicPr>
        <p:blipFill>
          <a:blip r:embed="rId3">
            <a:alphaModFix amt="20000"/>
          </a:blip>
          <a:stretch>
            <a:fillRect/>
          </a:stretch>
        </p:blipFill>
        <p:spPr>
          <a:xfrm>
            <a:off x="1046250" y="363050"/>
            <a:ext cx="3028025" cy="4417409"/>
          </a:xfrm>
          <a:prstGeom prst="rect">
            <a:avLst/>
          </a:prstGeom>
          <a:noFill/>
          <a:ln>
            <a:noFill/>
          </a:ln>
        </p:spPr>
      </p:pic>
      <p:sp>
        <p:nvSpPr>
          <p:cNvPr id="396" name="Google Shape;396;p33"/>
          <p:cNvSpPr txBox="1"/>
          <p:nvPr>
            <p:ph idx="1" type="body"/>
          </p:nvPr>
        </p:nvSpPr>
        <p:spPr>
          <a:xfrm>
            <a:off x="4486325" y="1582325"/>
            <a:ext cx="3990900" cy="32583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BR" sz="1500"/>
              <a:t>Após nos colocarmos na presença de Deus, o Espírito faz brotar de nossos corações sete pedidos. Os três primeiros nos atraem para a glória do Pai, são pedidos pelas coisas eternas. Os quatro restantes são pedidos pelas coisas transitórias, importantes para que passemos pelo nosso caminho de santificação.</a:t>
            </a:r>
            <a:endParaRPr sz="1500"/>
          </a:p>
        </p:txBody>
      </p:sp>
      <p:sp>
        <p:nvSpPr>
          <p:cNvPr id="397" name="Google Shape;397;p33"/>
          <p:cNvSpPr txBox="1"/>
          <p:nvPr>
            <p:ph type="title"/>
          </p:nvPr>
        </p:nvSpPr>
        <p:spPr>
          <a:xfrm rot="-464">
            <a:off x="4258625" y="506305"/>
            <a:ext cx="44463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A ORAÇÃO DO PAI NOSSO</a:t>
            </a:r>
            <a:endParaRPr b="1"/>
          </a:p>
          <a:p>
            <a:pPr indent="0" lvl="0" marL="0" rtl="0" algn="l">
              <a:spcBef>
                <a:spcPts val="0"/>
              </a:spcBef>
              <a:spcAft>
                <a:spcPts val="0"/>
              </a:spcAft>
              <a:buNone/>
            </a:pPr>
            <a:r>
              <a:rPr b="1" lang="pt-BR" u="sng"/>
              <a:t>OS SETE PEDIDOS</a:t>
            </a:r>
            <a:endParaRPr b="1" u="sng"/>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34"/>
          <p:cNvPicPr preferRelativeResize="0"/>
          <p:nvPr/>
        </p:nvPicPr>
        <p:blipFill>
          <a:blip r:embed="rId3">
            <a:alphaModFix amt="20000"/>
          </a:blip>
          <a:stretch>
            <a:fillRect/>
          </a:stretch>
        </p:blipFill>
        <p:spPr>
          <a:xfrm>
            <a:off x="1046250" y="363050"/>
            <a:ext cx="3028025" cy="4417414"/>
          </a:xfrm>
          <a:prstGeom prst="rect">
            <a:avLst/>
          </a:prstGeom>
          <a:noFill/>
          <a:ln>
            <a:noFill/>
          </a:ln>
        </p:spPr>
      </p:pic>
      <p:sp>
        <p:nvSpPr>
          <p:cNvPr id="403" name="Google Shape;403;p34"/>
          <p:cNvSpPr txBox="1"/>
          <p:nvPr>
            <p:ph idx="1" type="body"/>
          </p:nvPr>
        </p:nvSpPr>
        <p:spPr>
          <a:xfrm>
            <a:off x="4486325" y="1582325"/>
            <a:ext cx="3990900" cy="32583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b="1" i="1" lang="pt-BR" sz="1500"/>
              <a:t>1) </a:t>
            </a:r>
            <a:r>
              <a:rPr b="1" i="1" lang="pt-BR" sz="1500"/>
              <a:t>Santificado seja vosso Nome</a:t>
            </a:r>
            <a:endParaRPr sz="1500"/>
          </a:p>
          <a:p>
            <a:pPr indent="0" lvl="0" marL="0" rtl="0" algn="just">
              <a:spcBef>
                <a:spcPts val="1200"/>
              </a:spcBef>
              <a:spcAft>
                <a:spcPts val="0"/>
              </a:spcAft>
              <a:buNone/>
            </a:pPr>
            <a:r>
              <a:t/>
            </a:r>
            <a:endParaRPr sz="1500"/>
          </a:p>
          <a:p>
            <a:pPr indent="0" lvl="0" marL="0" rtl="0" algn="just">
              <a:spcBef>
                <a:spcPts val="1200"/>
              </a:spcBef>
              <a:spcAft>
                <a:spcPts val="0"/>
              </a:spcAft>
              <a:buNone/>
            </a:pPr>
            <a:r>
              <a:rPr lang="pt-BR" sz="1500"/>
              <a:t>Não estamos santificando Deus aqui, e sim reconhecendo que seu Nome é Santo. Ao fazer esse reconhecimento, como filhos de Deus, pedimos em nós o mesmo espírito de santidade, para que possamos ser testemunhos vivos do Senhor. Rezamos para merecer ter em nossas almas a santidade.</a:t>
            </a:r>
            <a:endParaRPr sz="1500"/>
          </a:p>
          <a:p>
            <a:pPr indent="0" lvl="0" marL="0" rtl="0" algn="just">
              <a:spcBef>
                <a:spcPts val="1200"/>
              </a:spcBef>
              <a:spcAft>
                <a:spcPts val="0"/>
              </a:spcAft>
              <a:buNone/>
            </a:pPr>
            <a:r>
              <a:t/>
            </a:r>
            <a:endParaRPr sz="1500"/>
          </a:p>
          <a:p>
            <a:pPr indent="0" lvl="0" marL="0" rtl="0" algn="just">
              <a:spcBef>
                <a:spcPts val="1200"/>
              </a:spcBef>
              <a:spcAft>
                <a:spcPts val="1200"/>
              </a:spcAft>
              <a:buNone/>
            </a:pPr>
            <a:r>
              <a:t/>
            </a:r>
            <a:endParaRPr sz="1500"/>
          </a:p>
        </p:txBody>
      </p:sp>
      <p:sp>
        <p:nvSpPr>
          <p:cNvPr id="404" name="Google Shape;404;p34"/>
          <p:cNvSpPr txBox="1"/>
          <p:nvPr>
            <p:ph type="title"/>
          </p:nvPr>
        </p:nvSpPr>
        <p:spPr>
          <a:xfrm rot="-464">
            <a:off x="4258625" y="506305"/>
            <a:ext cx="44463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A ORAÇÃO DO PAI NOSSO</a:t>
            </a:r>
            <a:endParaRPr b="1"/>
          </a:p>
          <a:p>
            <a:pPr indent="0" lvl="0" marL="0" rtl="0" algn="l">
              <a:spcBef>
                <a:spcPts val="0"/>
              </a:spcBef>
              <a:spcAft>
                <a:spcPts val="0"/>
              </a:spcAft>
              <a:buNone/>
            </a:pPr>
            <a:r>
              <a:rPr b="1" lang="pt-BR" u="sng"/>
              <a:t>OS SETE PEDIDOS</a:t>
            </a:r>
            <a:endParaRPr b="1" u="sng"/>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35"/>
          <p:cNvPicPr preferRelativeResize="0"/>
          <p:nvPr/>
        </p:nvPicPr>
        <p:blipFill>
          <a:blip r:embed="rId3">
            <a:alphaModFix amt="20000"/>
          </a:blip>
          <a:stretch>
            <a:fillRect/>
          </a:stretch>
        </p:blipFill>
        <p:spPr>
          <a:xfrm>
            <a:off x="1046250" y="363050"/>
            <a:ext cx="3028025" cy="4417426"/>
          </a:xfrm>
          <a:prstGeom prst="rect">
            <a:avLst/>
          </a:prstGeom>
          <a:noFill/>
          <a:ln>
            <a:noFill/>
          </a:ln>
        </p:spPr>
      </p:pic>
      <p:sp>
        <p:nvSpPr>
          <p:cNvPr id="410" name="Google Shape;410;p35"/>
          <p:cNvSpPr txBox="1"/>
          <p:nvPr>
            <p:ph idx="1" type="body"/>
          </p:nvPr>
        </p:nvSpPr>
        <p:spPr>
          <a:xfrm>
            <a:off x="4486325" y="1582325"/>
            <a:ext cx="3990900" cy="3258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i="1" lang="pt-BR" sz="1500"/>
              <a:t>2</a:t>
            </a:r>
            <a:r>
              <a:rPr b="1" i="1" lang="pt-BR" sz="1500"/>
              <a:t>) Venha a nós o vosso Reino</a:t>
            </a:r>
            <a:endParaRPr b="1" i="1" sz="1500"/>
          </a:p>
          <a:p>
            <a:pPr indent="0" lvl="0" marL="0" rtl="0" algn="just">
              <a:spcBef>
                <a:spcPts val="1200"/>
              </a:spcBef>
              <a:spcAft>
                <a:spcPts val="0"/>
              </a:spcAft>
              <a:buNone/>
            </a:pPr>
            <a:r>
              <a:t/>
            </a:r>
            <a:endParaRPr b="1" sz="1500"/>
          </a:p>
          <a:p>
            <a:pPr indent="0" lvl="0" marL="0" rtl="0" algn="just">
              <a:spcBef>
                <a:spcPts val="1200"/>
              </a:spcBef>
              <a:spcAft>
                <a:spcPts val="1200"/>
              </a:spcAft>
              <a:buNone/>
            </a:pPr>
            <a:r>
              <a:rPr b="1" lang="pt-BR" sz="1500"/>
              <a:t>Pedimos a Deus a vinda do Reino de Deus, o que significa pedir que o Espírito Santo nos inspire e nos leve a buscar santificar todas as coisas, levando à plenitude de sua obra. Para conseguir realizar a Obra de Deus, precisamos de um coração puro, o que também vem como um pedido associado.</a:t>
            </a:r>
            <a:endParaRPr b="1" sz="1500"/>
          </a:p>
        </p:txBody>
      </p:sp>
      <p:sp>
        <p:nvSpPr>
          <p:cNvPr id="411" name="Google Shape;411;p35"/>
          <p:cNvSpPr txBox="1"/>
          <p:nvPr>
            <p:ph type="title"/>
          </p:nvPr>
        </p:nvSpPr>
        <p:spPr>
          <a:xfrm rot="-464">
            <a:off x="4258625" y="506305"/>
            <a:ext cx="44463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A ORAÇÃO DO PAI NOSSO</a:t>
            </a:r>
            <a:endParaRPr b="1"/>
          </a:p>
          <a:p>
            <a:pPr indent="0" lvl="0" marL="0" rtl="0" algn="l">
              <a:spcBef>
                <a:spcPts val="0"/>
              </a:spcBef>
              <a:spcAft>
                <a:spcPts val="0"/>
              </a:spcAft>
              <a:buNone/>
            </a:pPr>
            <a:r>
              <a:rPr b="1" lang="pt-BR" u="sng"/>
              <a:t>OS SETE PEDIDOS</a:t>
            </a:r>
            <a:endParaRPr b="1" u="sng"/>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6"/>
          <p:cNvSpPr txBox="1"/>
          <p:nvPr>
            <p:ph idx="1" type="body"/>
          </p:nvPr>
        </p:nvSpPr>
        <p:spPr>
          <a:xfrm>
            <a:off x="4486325" y="1582325"/>
            <a:ext cx="3990900" cy="3258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i="1" lang="pt-BR" sz="1500"/>
              <a:t>3) Seja feita a vossa vontade assim na terra como no céu</a:t>
            </a:r>
            <a:endParaRPr b="1" i="1" sz="1500"/>
          </a:p>
          <a:p>
            <a:pPr indent="0" lvl="0" marL="0" rtl="0" algn="just">
              <a:spcBef>
                <a:spcPts val="1200"/>
              </a:spcBef>
              <a:spcAft>
                <a:spcPts val="0"/>
              </a:spcAft>
              <a:buNone/>
            </a:pPr>
            <a:r>
              <a:t/>
            </a:r>
            <a:endParaRPr b="1" i="1" sz="1500"/>
          </a:p>
          <a:p>
            <a:pPr indent="0" lvl="0" marL="0" rtl="0" algn="just">
              <a:spcBef>
                <a:spcPts val="1200"/>
              </a:spcBef>
              <a:spcAft>
                <a:spcPts val="1200"/>
              </a:spcAft>
              <a:buNone/>
            </a:pPr>
            <a:r>
              <a:rPr b="1" lang="pt-BR" sz="1500"/>
              <a:t>Que possamos amar-nos uns aos outros, como ele nos amou, e que possamos amá-lo sobre todas as coisas, para que possamos levar a todos o conhecimento da Verdade e a vida eterna.</a:t>
            </a:r>
            <a:endParaRPr sz="1500"/>
          </a:p>
        </p:txBody>
      </p:sp>
      <p:pic>
        <p:nvPicPr>
          <p:cNvPr id="417" name="Google Shape;417;p36"/>
          <p:cNvPicPr preferRelativeResize="0"/>
          <p:nvPr/>
        </p:nvPicPr>
        <p:blipFill>
          <a:blip r:embed="rId3">
            <a:alphaModFix amt="20000"/>
          </a:blip>
          <a:stretch>
            <a:fillRect/>
          </a:stretch>
        </p:blipFill>
        <p:spPr>
          <a:xfrm>
            <a:off x="1046250" y="363050"/>
            <a:ext cx="3028025" cy="4417405"/>
          </a:xfrm>
          <a:prstGeom prst="rect">
            <a:avLst/>
          </a:prstGeom>
          <a:noFill/>
          <a:ln>
            <a:noFill/>
          </a:ln>
        </p:spPr>
      </p:pic>
      <p:sp>
        <p:nvSpPr>
          <p:cNvPr id="418" name="Google Shape;418;p36"/>
          <p:cNvSpPr txBox="1"/>
          <p:nvPr>
            <p:ph type="title"/>
          </p:nvPr>
        </p:nvSpPr>
        <p:spPr>
          <a:xfrm rot="-464">
            <a:off x="4258625" y="506305"/>
            <a:ext cx="44463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A ORAÇÃO DO PAI NOSSO</a:t>
            </a:r>
            <a:endParaRPr b="1"/>
          </a:p>
          <a:p>
            <a:pPr indent="0" lvl="0" marL="0" rtl="0" algn="l">
              <a:spcBef>
                <a:spcPts val="0"/>
              </a:spcBef>
              <a:spcAft>
                <a:spcPts val="0"/>
              </a:spcAft>
              <a:buNone/>
            </a:pPr>
            <a:r>
              <a:rPr b="1" lang="pt-BR" u="sng"/>
              <a:t>OS SETE PEDIDOS</a:t>
            </a:r>
            <a:endParaRPr b="1" u="sng"/>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7"/>
          <p:cNvSpPr txBox="1"/>
          <p:nvPr>
            <p:ph idx="1" type="body"/>
          </p:nvPr>
        </p:nvSpPr>
        <p:spPr>
          <a:xfrm>
            <a:off x="4486325" y="1582325"/>
            <a:ext cx="3990900" cy="3258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i="1" lang="pt-BR" sz="1500"/>
              <a:t>4) O pão nosso de cada dia nos dai hoje</a:t>
            </a:r>
            <a:endParaRPr b="1" i="1" sz="1500"/>
          </a:p>
          <a:p>
            <a:pPr indent="0" lvl="0" marL="0" rtl="0" algn="just">
              <a:spcBef>
                <a:spcPts val="1200"/>
              </a:spcBef>
              <a:spcAft>
                <a:spcPts val="0"/>
              </a:spcAft>
              <a:buNone/>
            </a:pPr>
            <a:r>
              <a:t/>
            </a:r>
            <a:endParaRPr b="1" i="1" sz="1500"/>
          </a:p>
          <a:p>
            <a:pPr indent="0" lvl="0" marL="0" rtl="0" algn="just">
              <a:spcBef>
                <a:spcPts val="1200"/>
              </a:spcBef>
              <a:spcAft>
                <a:spcPts val="0"/>
              </a:spcAft>
              <a:buNone/>
            </a:pPr>
            <a:r>
              <a:rPr b="1" lang="pt-BR" sz="1500"/>
              <a:t>Pedimos ao Pai por alimento, não apenas material, mas espiritual. Tudo o que recebemos é por graça de Deus, e devemos pedir apenas o necessário para a vida, sem apego ou ambição ("nos dai hoje"). O que temos em excesso, devemos obrigatoriamente partilhar com os mais necessitados, para que todos tenham o pão. </a:t>
            </a:r>
            <a:endParaRPr b="1" sz="1500"/>
          </a:p>
          <a:p>
            <a:pPr indent="0" lvl="0" marL="0" rtl="0" algn="just">
              <a:spcBef>
                <a:spcPts val="1200"/>
              </a:spcBef>
              <a:spcAft>
                <a:spcPts val="0"/>
              </a:spcAft>
              <a:buNone/>
            </a:pPr>
            <a:r>
              <a:t/>
            </a:r>
            <a:endParaRPr b="1" sz="1500"/>
          </a:p>
          <a:p>
            <a:pPr indent="0" lvl="0" marL="0" rtl="0" algn="just">
              <a:spcBef>
                <a:spcPts val="1200"/>
              </a:spcBef>
              <a:spcAft>
                <a:spcPts val="1200"/>
              </a:spcAft>
              <a:buNone/>
            </a:pPr>
            <a:r>
              <a:t/>
            </a:r>
            <a:endParaRPr b="1" i="1" sz="1500"/>
          </a:p>
        </p:txBody>
      </p:sp>
      <p:pic>
        <p:nvPicPr>
          <p:cNvPr id="424" name="Google Shape;424;p37"/>
          <p:cNvPicPr preferRelativeResize="0"/>
          <p:nvPr/>
        </p:nvPicPr>
        <p:blipFill>
          <a:blip r:embed="rId3">
            <a:alphaModFix amt="20000"/>
          </a:blip>
          <a:stretch>
            <a:fillRect/>
          </a:stretch>
        </p:blipFill>
        <p:spPr>
          <a:xfrm>
            <a:off x="1046250" y="363050"/>
            <a:ext cx="3028025" cy="4417398"/>
          </a:xfrm>
          <a:prstGeom prst="rect">
            <a:avLst/>
          </a:prstGeom>
          <a:noFill/>
          <a:ln>
            <a:noFill/>
          </a:ln>
        </p:spPr>
      </p:pic>
      <p:sp>
        <p:nvSpPr>
          <p:cNvPr id="425" name="Google Shape;425;p37"/>
          <p:cNvSpPr txBox="1"/>
          <p:nvPr>
            <p:ph type="title"/>
          </p:nvPr>
        </p:nvSpPr>
        <p:spPr>
          <a:xfrm rot="-464">
            <a:off x="4258625" y="506305"/>
            <a:ext cx="44463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A ORAÇÃO DO PAI NOSSO</a:t>
            </a:r>
            <a:endParaRPr b="1"/>
          </a:p>
          <a:p>
            <a:pPr indent="0" lvl="0" marL="0" rtl="0" algn="l">
              <a:spcBef>
                <a:spcPts val="0"/>
              </a:spcBef>
              <a:spcAft>
                <a:spcPts val="0"/>
              </a:spcAft>
              <a:buNone/>
            </a:pPr>
            <a:r>
              <a:rPr b="1" lang="pt-BR" u="sng"/>
              <a:t>OS SETE PEDIDOS</a:t>
            </a:r>
            <a:endParaRPr b="1" u="sng"/>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idx="1" type="body"/>
          </p:nvPr>
        </p:nvSpPr>
        <p:spPr>
          <a:xfrm>
            <a:off x="4486325" y="1582325"/>
            <a:ext cx="3990900" cy="3258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i="1" lang="pt-BR" sz="1200"/>
              <a:t>5) 	Perdoai-nos as nossas ofensas, assim como nós perdoamos aos que nos tem ofendido</a:t>
            </a:r>
            <a:endParaRPr b="1" i="1" sz="1200"/>
          </a:p>
          <a:p>
            <a:pPr indent="0" lvl="0" marL="0" rtl="0" algn="just">
              <a:spcBef>
                <a:spcPts val="1200"/>
              </a:spcBef>
              <a:spcAft>
                <a:spcPts val="0"/>
              </a:spcAft>
              <a:buNone/>
            </a:pPr>
            <a:r>
              <a:t/>
            </a:r>
            <a:endParaRPr b="1" sz="1200"/>
          </a:p>
          <a:p>
            <a:pPr indent="0" lvl="0" marL="0" rtl="0" algn="just">
              <a:spcBef>
                <a:spcPts val="1200"/>
              </a:spcBef>
              <a:spcAft>
                <a:spcPts val="0"/>
              </a:spcAft>
              <a:buNone/>
            </a:pPr>
            <a:r>
              <a:rPr b="1" lang="pt-BR" sz="1200"/>
              <a:t>Esse pedido vem acompanhado de uma promessa. Pedimos a remissão dos nossos pecados, e nos comprometemos a perdoar a todos os nossos irmãos. Se somos todos filhos de Deus, não podemos amar a Deus de fato se não amamos a todos. Não podemos pedir a Deus algo que não estamos dispostos a tentar. O coração que se entrega ao Espírito Santo transforma a ferida em compaixão e a ofensa em intercessão. Temos que perdoar, se queremos ser perdoados (Mt 6, 14-15 e Mt 5, 44-45).</a:t>
            </a:r>
            <a:endParaRPr b="1" sz="1200"/>
          </a:p>
          <a:p>
            <a:pPr indent="0" lvl="0" marL="0" rtl="0" algn="just">
              <a:spcBef>
                <a:spcPts val="1200"/>
              </a:spcBef>
              <a:spcAft>
                <a:spcPts val="0"/>
              </a:spcAft>
              <a:buNone/>
            </a:pPr>
            <a:r>
              <a:t/>
            </a:r>
            <a:endParaRPr b="1" sz="1200"/>
          </a:p>
          <a:p>
            <a:pPr indent="0" lvl="0" marL="0" rtl="0" algn="just">
              <a:spcBef>
                <a:spcPts val="1200"/>
              </a:spcBef>
              <a:spcAft>
                <a:spcPts val="1200"/>
              </a:spcAft>
              <a:buNone/>
            </a:pPr>
            <a:r>
              <a:t/>
            </a:r>
            <a:endParaRPr b="1" i="1" sz="1200"/>
          </a:p>
        </p:txBody>
      </p:sp>
      <p:pic>
        <p:nvPicPr>
          <p:cNvPr id="431" name="Google Shape;431;p38"/>
          <p:cNvPicPr preferRelativeResize="0"/>
          <p:nvPr/>
        </p:nvPicPr>
        <p:blipFill>
          <a:blip r:embed="rId3">
            <a:alphaModFix amt="20000"/>
          </a:blip>
          <a:stretch>
            <a:fillRect/>
          </a:stretch>
        </p:blipFill>
        <p:spPr>
          <a:xfrm>
            <a:off x="1046250" y="363050"/>
            <a:ext cx="3028025" cy="4417401"/>
          </a:xfrm>
          <a:prstGeom prst="rect">
            <a:avLst/>
          </a:prstGeom>
          <a:noFill/>
          <a:ln>
            <a:noFill/>
          </a:ln>
        </p:spPr>
      </p:pic>
      <p:sp>
        <p:nvSpPr>
          <p:cNvPr id="432" name="Google Shape;432;p38"/>
          <p:cNvSpPr txBox="1"/>
          <p:nvPr>
            <p:ph type="title"/>
          </p:nvPr>
        </p:nvSpPr>
        <p:spPr>
          <a:xfrm rot="-464">
            <a:off x="4258625" y="506305"/>
            <a:ext cx="44463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A ORAÇÃO DO PAI NOSSO</a:t>
            </a:r>
            <a:endParaRPr b="1"/>
          </a:p>
          <a:p>
            <a:pPr indent="0" lvl="0" marL="0" rtl="0" algn="l">
              <a:spcBef>
                <a:spcPts val="0"/>
              </a:spcBef>
              <a:spcAft>
                <a:spcPts val="0"/>
              </a:spcAft>
              <a:buNone/>
            </a:pPr>
            <a:r>
              <a:rPr b="1" lang="pt-BR" u="sng"/>
              <a:t>OS SETE PEDIDOS</a:t>
            </a:r>
            <a:endParaRPr b="1" u="sng"/>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39"/>
          <p:cNvPicPr preferRelativeResize="0"/>
          <p:nvPr/>
        </p:nvPicPr>
        <p:blipFill>
          <a:blip r:embed="rId3">
            <a:alphaModFix amt="20000"/>
          </a:blip>
          <a:stretch>
            <a:fillRect/>
          </a:stretch>
        </p:blipFill>
        <p:spPr>
          <a:xfrm>
            <a:off x="1046250" y="363050"/>
            <a:ext cx="3028025" cy="4417414"/>
          </a:xfrm>
          <a:prstGeom prst="rect">
            <a:avLst/>
          </a:prstGeom>
          <a:noFill/>
          <a:ln>
            <a:noFill/>
          </a:ln>
        </p:spPr>
      </p:pic>
      <p:sp>
        <p:nvSpPr>
          <p:cNvPr id="438" name="Google Shape;438;p39"/>
          <p:cNvSpPr txBox="1"/>
          <p:nvPr>
            <p:ph type="title"/>
          </p:nvPr>
        </p:nvSpPr>
        <p:spPr>
          <a:xfrm rot="-464">
            <a:off x="4258625" y="506305"/>
            <a:ext cx="44463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A ORAÇÃO DO PAI NOSSO</a:t>
            </a:r>
            <a:endParaRPr b="1"/>
          </a:p>
          <a:p>
            <a:pPr indent="0" lvl="0" marL="0" rtl="0" algn="l">
              <a:spcBef>
                <a:spcPts val="0"/>
              </a:spcBef>
              <a:spcAft>
                <a:spcPts val="0"/>
              </a:spcAft>
              <a:buNone/>
            </a:pPr>
            <a:r>
              <a:rPr b="1" lang="pt-BR" u="sng"/>
              <a:t>OS SETE PEDIDOS</a:t>
            </a:r>
            <a:endParaRPr b="1" u="sng"/>
          </a:p>
        </p:txBody>
      </p:sp>
      <p:sp>
        <p:nvSpPr>
          <p:cNvPr id="439" name="Google Shape;439;p39"/>
          <p:cNvSpPr txBox="1"/>
          <p:nvPr>
            <p:ph idx="1" type="body"/>
          </p:nvPr>
        </p:nvSpPr>
        <p:spPr>
          <a:xfrm>
            <a:off x="4486325" y="1582325"/>
            <a:ext cx="3990900" cy="3258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i="1" lang="pt-BR"/>
              <a:t>6) 	Não nos deixeis cair em tentação</a:t>
            </a:r>
            <a:endParaRPr b="1" i="1"/>
          </a:p>
          <a:p>
            <a:pPr indent="0" lvl="0" marL="0" rtl="0" algn="just">
              <a:spcBef>
                <a:spcPts val="1200"/>
              </a:spcBef>
              <a:spcAft>
                <a:spcPts val="0"/>
              </a:spcAft>
              <a:buNone/>
            </a:pPr>
            <a:r>
              <a:t/>
            </a:r>
            <a:endParaRPr b="1"/>
          </a:p>
          <a:p>
            <a:pPr indent="0" lvl="0" marL="0" rtl="0" algn="just">
              <a:spcBef>
                <a:spcPts val="1200"/>
              </a:spcBef>
              <a:spcAft>
                <a:spcPts val="0"/>
              </a:spcAft>
              <a:buNone/>
            </a:pPr>
            <a:r>
              <a:rPr b="1" lang="pt-BR"/>
              <a:t>Pedimos a proteção de Deus, a inspiração do Espírito Santo e o discernimento divino para combater o pecado. A tentação é fonte de fortalecimento espiritual. Não pedimos para não ser tentados, e sim para que não cedamos à tentação.</a:t>
            </a:r>
            <a:endParaRPr b="1"/>
          </a:p>
          <a:p>
            <a:pPr indent="0" lvl="0" marL="0" rtl="0" algn="just">
              <a:spcBef>
                <a:spcPts val="1200"/>
              </a:spcBef>
              <a:spcAft>
                <a:spcPts val="1200"/>
              </a:spcAft>
              <a:buNone/>
            </a:pPr>
            <a:r>
              <a:rPr b="1" lang="pt-BR"/>
              <a:t>Trata-se de pedir que Ele nos livre da tentação que seja demasiadamente forte para nossas forças, pedindo Sua fortaleza para vencermos qualquer tentação.</a:t>
            </a:r>
            <a:endParaRPr b="1"/>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40"/>
          <p:cNvPicPr preferRelativeResize="0"/>
          <p:nvPr/>
        </p:nvPicPr>
        <p:blipFill>
          <a:blip r:embed="rId3">
            <a:alphaModFix amt="20000"/>
          </a:blip>
          <a:stretch>
            <a:fillRect/>
          </a:stretch>
        </p:blipFill>
        <p:spPr>
          <a:xfrm>
            <a:off x="1046250" y="363050"/>
            <a:ext cx="3028025" cy="4417400"/>
          </a:xfrm>
          <a:prstGeom prst="rect">
            <a:avLst/>
          </a:prstGeom>
          <a:noFill/>
          <a:ln>
            <a:noFill/>
          </a:ln>
        </p:spPr>
      </p:pic>
      <p:sp>
        <p:nvSpPr>
          <p:cNvPr id="445" name="Google Shape;445;p40"/>
          <p:cNvSpPr txBox="1"/>
          <p:nvPr>
            <p:ph idx="1" type="body"/>
          </p:nvPr>
        </p:nvSpPr>
        <p:spPr>
          <a:xfrm>
            <a:off x="4486325" y="1582325"/>
            <a:ext cx="3990900" cy="3258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pt-BR" sz="1500"/>
              <a:t>07) </a:t>
            </a:r>
            <a:r>
              <a:rPr b="1" i="1" lang="pt-BR" sz="1500"/>
              <a:t>Livrai-nos do mal</a:t>
            </a:r>
            <a:endParaRPr b="1" i="1" sz="1500"/>
          </a:p>
          <a:p>
            <a:pPr indent="0" lvl="0" marL="0" rtl="0" algn="just">
              <a:spcBef>
                <a:spcPts val="1200"/>
              </a:spcBef>
              <a:spcAft>
                <a:spcPts val="0"/>
              </a:spcAft>
              <a:buNone/>
            </a:pPr>
            <a:r>
              <a:t/>
            </a:r>
            <a:endParaRPr b="1" sz="1500"/>
          </a:p>
          <a:p>
            <a:pPr indent="0" lvl="0" marL="0" rtl="0" algn="just">
              <a:spcBef>
                <a:spcPts val="1200"/>
              </a:spcBef>
              <a:spcAft>
                <a:spcPts val="0"/>
              </a:spcAft>
              <a:buNone/>
            </a:pPr>
            <a:r>
              <a:rPr b="1" lang="pt-BR" sz="1500"/>
              <a:t>Pedimos a nós e a todos os nossos irmãos a libertação dos males e proclamamos a vitória de Cristo sobre Satanás. </a:t>
            </a:r>
            <a:endParaRPr b="1" sz="1500"/>
          </a:p>
          <a:p>
            <a:pPr indent="0" lvl="0" marL="0" rtl="0" algn="just">
              <a:spcBef>
                <a:spcPts val="1200"/>
              </a:spcBef>
              <a:spcAft>
                <a:spcPts val="0"/>
              </a:spcAft>
              <a:buNone/>
            </a:pPr>
            <a:r>
              <a:rPr b="1" lang="pt-BR" sz="1500"/>
              <a:t>Pedimos a proteção do mal físico, na medida em que for Sua vontade, mas especialmente do mal espiritual.</a:t>
            </a:r>
            <a:endParaRPr b="1" sz="1500"/>
          </a:p>
          <a:p>
            <a:pPr indent="0" lvl="0" marL="0" rtl="0" algn="just">
              <a:spcBef>
                <a:spcPts val="1200"/>
              </a:spcBef>
              <a:spcAft>
                <a:spcPts val="1200"/>
              </a:spcAft>
              <a:buNone/>
            </a:pPr>
            <a:r>
              <a:t/>
            </a:r>
            <a:endParaRPr b="1" sz="1500"/>
          </a:p>
        </p:txBody>
      </p:sp>
      <p:sp>
        <p:nvSpPr>
          <p:cNvPr id="446" name="Google Shape;446;p40"/>
          <p:cNvSpPr txBox="1"/>
          <p:nvPr>
            <p:ph type="title"/>
          </p:nvPr>
        </p:nvSpPr>
        <p:spPr>
          <a:xfrm rot="-464">
            <a:off x="4258625" y="506305"/>
            <a:ext cx="44463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A ORAÇÃO DO PAI NOSSO</a:t>
            </a:r>
            <a:endParaRPr b="1"/>
          </a:p>
          <a:p>
            <a:pPr indent="0" lvl="0" marL="0" rtl="0" algn="l">
              <a:spcBef>
                <a:spcPts val="0"/>
              </a:spcBef>
              <a:spcAft>
                <a:spcPts val="0"/>
              </a:spcAft>
              <a:buNone/>
            </a:pPr>
            <a:r>
              <a:rPr b="1" lang="pt-BR" u="sng"/>
              <a:t>OS SETE PEDIDOS</a:t>
            </a:r>
            <a:endParaRPr b="1" u="sng"/>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1"/>
          <p:cNvSpPr txBox="1"/>
          <p:nvPr>
            <p:ph type="title"/>
          </p:nvPr>
        </p:nvSpPr>
        <p:spPr>
          <a:xfrm>
            <a:off x="625750" y="1887675"/>
            <a:ext cx="2973300" cy="202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t>Tiago 5, 17-18</a:t>
            </a:r>
            <a:endParaRPr b="1"/>
          </a:p>
          <a:p>
            <a:pPr indent="0" lvl="0" marL="0" rtl="0" algn="l">
              <a:spcBef>
                <a:spcPts val="0"/>
              </a:spcBef>
              <a:spcAft>
                <a:spcPts val="0"/>
              </a:spcAft>
              <a:buNone/>
            </a:pPr>
            <a:r>
              <a:rPr b="1" lang="pt-BR"/>
              <a:t>João 14, 13-14</a:t>
            </a:r>
            <a:endParaRPr b="1"/>
          </a:p>
          <a:p>
            <a:pPr indent="0" lvl="0" marL="0" rtl="0" algn="l">
              <a:spcBef>
                <a:spcPts val="0"/>
              </a:spcBef>
              <a:spcAft>
                <a:spcPts val="0"/>
              </a:spcAft>
              <a:buNone/>
            </a:pPr>
            <a:r>
              <a:rPr b="1" lang="pt-BR"/>
              <a:t>Tiago 5, 16</a:t>
            </a:r>
            <a:endParaRPr b="1"/>
          </a:p>
          <a:p>
            <a:pPr indent="0" lvl="0" marL="0" rtl="0" algn="l">
              <a:spcBef>
                <a:spcPts val="0"/>
              </a:spcBef>
              <a:spcAft>
                <a:spcPts val="0"/>
              </a:spcAft>
              <a:buNone/>
            </a:pPr>
            <a:r>
              <a:rPr b="1" lang="pt-BR"/>
              <a:t>Mateus 21, 21-22</a:t>
            </a:r>
            <a:endParaRPr b="1"/>
          </a:p>
          <a:p>
            <a:pPr indent="0" lvl="0" marL="0" rtl="0" algn="l">
              <a:spcBef>
                <a:spcPts val="0"/>
              </a:spcBef>
              <a:spcAft>
                <a:spcPts val="0"/>
              </a:spcAft>
              <a:buNone/>
            </a:pPr>
            <a:r>
              <a:rPr b="1" lang="pt-BR"/>
              <a:t>Mateus 7, 7</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p:txBody>
      </p:sp>
      <p:sp>
        <p:nvSpPr>
          <p:cNvPr id="452" name="Google Shape;452;p41"/>
          <p:cNvSpPr txBox="1"/>
          <p:nvPr>
            <p:ph type="title"/>
          </p:nvPr>
        </p:nvSpPr>
        <p:spPr>
          <a:xfrm rot="-464">
            <a:off x="1428237" y="506290"/>
            <a:ext cx="4446300" cy="62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LEITURAS DE RELEVÂNCIA</a:t>
            </a:r>
            <a:endParaRPr b="1"/>
          </a:p>
        </p:txBody>
      </p:sp>
      <p:sp>
        <p:nvSpPr>
          <p:cNvPr id="453" name="Google Shape;453;p41"/>
          <p:cNvSpPr txBox="1"/>
          <p:nvPr/>
        </p:nvSpPr>
        <p:spPr>
          <a:xfrm>
            <a:off x="7648750" y="4153225"/>
            <a:ext cx="9312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900">
                <a:solidFill>
                  <a:schemeClr val="lt1"/>
                </a:solidFill>
                <a:latin typeface="Lato"/>
                <a:ea typeface="Lato"/>
                <a:cs typeface="Lato"/>
                <a:sym typeface="Lato"/>
              </a:rPr>
              <a:t>FIM</a:t>
            </a:r>
            <a:endParaRPr b="1" sz="2900">
              <a:solidFill>
                <a:schemeClr val="lt1"/>
              </a:solidFill>
              <a:latin typeface="Lato"/>
              <a:ea typeface="Lato"/>
              <a:cs typeface="Lato"/>
              <a:sym typeface="Lato"/>
            </a:endParaRPr>
          </a:p>
        </p:txBody>
      </p:sp>
    </p:spTree>
  </p:cSld>
  <p:clrMapOvr>
    <a:masterClrMapping/>
  </p:clrMapOvr>
  <mc:AlternateContent>
    <mc:Choice Requires="p14">
      <p:transition spd="slow" p14:dur="1000">
        <p14:gallery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